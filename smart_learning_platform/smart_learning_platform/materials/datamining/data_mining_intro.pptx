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4844" y="255270"/>
            <a:ext cx="582358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1143000"/>
            <a:ext cx="8382000" cy="76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733" y="58927"/>
            <a:ext cx="8536533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435" y="1416557"/>
            <a:ext cx="4878705" cy="3034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820277" y="6585828"/>
            <a:ext cx="284606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samia.mohammed@deltauni.edu.eg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48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png"/><Relationship Id="rId7" Type="http://schemas.openxmlformats.org/officeDocument/2006/relationships/image" Target="../media/image56.jpg"/><Relationship Id="rId8" Type="http://schemas.openxmlformats.org/officeDocument/2006/relationships/image" Target="../media/image57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2188" y="3057601"/>
            <a:ext cx="628523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48055" marR="5080" indent="-93599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333399"/>
                </a:solidFill>
                <a:latin typeface="Tahoma"/>
                <a:cs typeface="Tahoma"/>
              </a:rPr>
              <a:t>Data</a:t>
            </a:r>
            <a:r>
              <a:rPr dirty="0" sz="6000" spc="-85" b="1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dirty="0" sz="6000" b="1">
                <a:solidFill>
                  <a:srgbClr val="333399"/>
                </a:solidFill>
                <a:latin typeface="Tahoma"/>
                <a:cs typeface="Tahoma"/>
              </a:rPr>
              <a:t>Mining</a:t>
            </a:r>
            <a:r>
              <a:rPr dirty="0" sz="6000" spc="-95" b="1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dirty="0" sz="6000" spc="-25" b="1">
                <a:solidFill>
                  <a:srgbClr val="333399"/>
                </a:solidFill>
                <a:latin typeface="Tahoma"/>
                <a:cs typeface="Tahoma"/>
              </a:rPr>
              <a:t>and </a:t>
            </a:r>
            <a:r>
              <a:rPr dirty="0" sz="6000" spc="-10" b="1">
                <a:solidFill>
                  <a:srgbClr val="333399"/>
                </a:solidFill>
                <a:latin typeface="Tahoma"/>
                <a:cs typeface="Tahoma"/>
              </a:rPr>
              <a:t>Exploration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2958" y="6584304"/>
            <a:ext cx="119380" cy="2419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baseline="1984" sz="2100" spc="-1064">
                <a:latin typeface="Tahoma"/>
                <a:cs typeface="Tahoma"/>
              </a:rPr>
              <a:t>1</a:t>
            </a:r>
            <a:r>
              <a:rPr dirty="0" sz="1200" spc="-25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1977" y="5207253"/>
            <a:ext cx="34499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ahoma"/>
                <a:cs typeface="Tahoma"/>
              </a:rPr>
              <a:t>Samia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M.</a:t>
            </a:r>
            <a:r>
              <a:rPr dirty="0" sz="2400" spc="-80" b="1">
                <a:latin typeface="Tahoma"/>
                <a:cs typeface="Tahoma"/>
              </a:rPr>
              <a:t> </a:t>
            </a:r>
            <a:r>
              <a:rPr dirty="0" sz="2400" spc="-30" b="1">
                <a:latin typeface="Tahoma"/>
                <a:cs typeface="Tahoma"/>
              </a:rPr>
              <a:t>Abd-</a:t>
            </a:r>
            <a:r>
              <a:rPr dirty="0" sz="2400" spc="-10" b="1">
                <a:latin typeface="Tahoma"/>
                <a:cs typeface="Tahoma"/>
              </a:rPr>
              <a:t>Alhalem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339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95"/>
              </a:spcBef>
            </a:pPr>
            <a:r>
              <a:rPr dirty="0" u="sng" sz="4000" spc="-29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Course’s</a:t>
            </a:r>
            <a:r>
              <a:rPr dirty="0" u="sng" sz="4000" spc="-39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000" spc="-204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Information: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130" y="1454683"/>
            <a:ext cx="8861425" cy="396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950" marR="1562735" indent="-222885">
              <a:lnSpc>
                <a:spcPct val="150100"/>
              </a:lnSpc>
              <a:spcBef>
                <a:spcPts val="100"/>
              </a:spcBef>
            </a:pPr>
            <a:r>
              <a:rPr dirty="0" sz="2800">
                <a:latin typeface="Tahoma"/>
                <a:cs typeface="Tahoma"/>
              </a:rPr>
              <a:t>Course: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Mining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Exploration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(CSC213) </a:t>
            </a:r>
            <a:r>
              <a:rPr dirty="0" sz="2800">
                <a:latin typeface="Tahoma"/>
                <a:cs typeface="Tahoma"/>
              </a:rPr>
              <a:t>Credits: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3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Hrs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2800">
                <a:latin typeface="Tahoma"/>
                <a:cs typeface="Tahoma"/>
              </a:rPr>
              <a:t>Pre-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Requisites:</a:t>
            </a:r>
            <a:r>
              <a:rPr dirty="0" sz="2400" spc="-25" b="1">
                <a:latin typeface="Tahoma"/>
                <a:cs typeface="Tahoma"/>
              </a:rPr>
              <a:t>Database</a:t>
            </a:r>
            <a:r>
              <a:rPr dirty="0" sz="2400" spc="-7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Management</a:t>
            </a:r>
            <a:r>
              <a:rPr dirty="0" sz="2400" spc="-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Systems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(CSC125)</a:t>
            </a:r>
            <a:endParaRPr sz="2400">
              <a:latin typeface="Tahoma"/>
              <a:cs typeface="Tahoma"/>
            </a:endParaRPr>
          </a:p>
          <a:p>
            <a:pPr marL="234950">
              <a:lnSpc>
                <a:spcPct val="100000"/>
              </a:lnSpc>
              <a:spcBef>
                <a:spcPts val="1695"/>
              </a:spcBef>
            </a:pPr>
            <a:r>
              <a:rPr dirty="0" sz="2800">
                <a:latin typeface="Tahoma"/>
                <a:cs typeface="Tahoma"/>
              </a:rPr>
              <a:t>Department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: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General</a:t>
            </a:r>
            <a:endParaRPr sz="2800">
              <a:latin typeface="Tahoma"/>
              <a:cs typeface="Tahoma"/>
            </a:endParaRPr>
          </a:p>
          <a:p>
            <a:pPr marL="123825">
              <a:lnSpc>
                <a:spcPct val="100000"/>
              </a:lnSpc>
              <a:spcBef>
                <a:spcPts val="1705"/>
              </a:spcBef>
            </a:pPr>
            <a:r>
              <a:rPr dirty="0" sz="2800">
                <a:latin typeface="Tahoma"/>
                <a:cs typeface="Tahoma"/>
              </a:rPr>
              <a:t>Instructor:</a:t>
            </a:r>
            <a:r>
              <a:rPr dirty="0" sz="2800" spc="-165">
                <a:latin typeface="Tahoma"/>
                <a:cs typeface="Tahoma"/>
              </a:rPr>
              <a:t> </a:t>
            </a:r>
            <a:r>
              <a:rPr dirty="0" sz="2800" spc="-85">
                <a:latin typeface="Tahoma"/>
                <a:cs typeface="Tahoma"/>
              </a:rPr>
              <a:t>Dr.</a:t>
            </a:r>
            <a:r>
              <a:rPr dirty="0" sz="2800" spc="-1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Samia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M.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40">
                <a:latin typeface="Tahoma"/>
                <a:cs typeface="Tahoma"/>
              </a:rPr>
              <a:t>Abd-</a:t>
            </a:r>
            <a:r>
              <a:rPr dirty="0" sz="2800" spc="-10">
                <a:latin typeface="Tahoma"/>
                <a:cs typeface="Tahoma"/>
              </a:rPr>
              <a:t>Alhalem</a:t>
            </a:r>
            <a:endParaRPr sz="2800">
              <a:latin typeface="Tahoma"/>
              <a:cs typeface="Tahoma"/>
            </a:endParaRPr>
          </a:p>
          <a:p>
            <a:pPr algn="ctr" marR="114935">
              <a:lnSpc>
                <a:spcPct val="100000"/>
              </a:lnSpc>
              <a:spcBef>
                <a:spcPts val="1705"/>
              </a:spcBef>
            </a:pPr>
            <a:r>
              <a:rPr dirty="0" sz="2800">
                <a:latin typeface="Tahoma"/>
                <a:cs typeface="Tahoma"/>
              </a:rPr>
              <a:t>email: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  <a:hlinkClick r:id="rId2"/>
              </a:rPr>
              <a:t>samia.mohammed@deltauni.edu.eg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401305"/>
            <a:ext cx="5181600" cy="4752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235" y="229870"/>
            <a:ext cx="503999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4400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Course’s</a:t>
            </a:r>
            <a:r>
              <a:rPr dirty="0" u="sng" sz="4400" spc="-220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4400" spc="-10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Description:</a:t>
            </a:r>
            <a:endParaRPr sz="4400">
              <a:latin typeface="Franklin Gothic Medium"/>
              <a:cs typeface="Franklin Gothic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30" y="1159256"/>
            <a:ext cx="585343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dirty="0" sz="3200">
                <a:latin typeface="Times New Roman"/>
                <a:cs typeface="Times New Roman"/>
              </a:rPr>
              <a:t>-	This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course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has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been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designed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to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8567" y="1228597"/>
            <a:ext cx="285623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390"/>
              </a:lnSpc>
            </a:pPr>
            <a:r>
              <a:rPr dirty="0" sz="3200">
                <a:latin typeface="Times New Roman"/>
                <a:cs typeface="Times New Roman"/>
              </a:rPr>
              <a:t>give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students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640" y="1716277"/>
            <a:ext cx="5811520" cy="451484"/>
          </a:xfrm>
          <a:custGeom>
            <a:avLst/>
            <a:gdLst/>
            <a:ahLst/>
            <a:cxnLst/>
            <a:rect l="l" t="t" r="r" b="b"/>
            <a:pathLst>
              <a:path w="5811520" h="451485">
                <a:moveTo>
                  <a:pt x="5811520" y="0"/>
                </a:moveTo>
                <a:lnTo>
                  <a:pt x="0" y="0"/>
                </a:lnTo>
                <a:lnTo>
                  <a:pt x="0" y="451485"/>
                </a:lnTo>
                <a:lnTo>
                  <a:pt x="5811520" y="451485"/>
                </a:lnTo>
                <a:lnTo>
                  <a:pt x="581152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48640" y="1646885"/>
            <a:ext cx="66573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640080" algn="l"/>
                <a:tab pos="2887980" algn="l"/>
                <a:tab pos="3461385" algn="l"/>
                <a:tab pos="4395470" algn="l"/>
                <a:tab pos="5811520" algn="l"/>
              </a:tabLst>
            </a:pPr>
            <a:r>
              <a:rPr dirty="0" sz="3200" spc="-25">
                <a:latin typeface="Times New Roman"/>
                <a:cs typeface="Times New Roman"/>
              </a:rPr>
              <a:t>an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introduction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to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data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mining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5471" y="1716277"/>
            <a:ext cx="171958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2540">
              <a:lnSpc>
                <a:spcPts val="3390"/>
              </a:lnSpc>
              <a:tabLst>
                <a:tab pos="1209675" algn="l"/>
              </a:tabLst>
            </a:pPr>
            <a:r>
              <a:rPr dirty="0" sz="3200" spc="-10">
                <a:latin typeface="Times New Roman"/>
                <a:cs typeface="Times New Roman"/>
              </a:rPr>
              <a:t>hands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640" y="2203957"/>
            <a:ext cx="459232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390"/>
              </a:lnSpc>
            </a:pPr>
            <a:r>
              <a:rPr dirty="0" sz="3200">
                <a:latin typeface="Times New Roman"/>
                <a:cs typeface="Times New Roman"/>
              </a:rPr>
              <a:t>experience</a:t>
            </a:r>
            <a:r>
              <a:rPr dirty="0" sz="3200" spc="7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with</a:t>
            </a:r>
            <a:r>
              <a:rPr dirty="0" sz="3200" spc="7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all</a:t>
            </a:r>
            <a:r>
              <a:rPr dirty="0" sz="3200" spc="7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phases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31358" y="2134946"/>
            <a:ext cx="32969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7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7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data  </a:t>
            </a:r>
            <a:r>
              <a:rPr dirty="0" sz="3200" spc="-10">
                <a:latin typeface="Times New Roman"/>
                <a:cs typeface="Times New Roman"/>
              </a:rPr>
              <a:t>mining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0548" y="2691638"/>
            <a:ext cx="1495425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395"/>
              </a:lnSpc>
            </a:pPr>
            <a:r>
              <a:rPr dirty="0" sz="3200">
                <a:latin typeface="Times New Roman"/>
                <a:cs typeface="Times New Roman"/>
              </a:rPr>
              <a:t>real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data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635" y="2622931"/>
            <a:ext cx="67525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20795" algn="l"/>
              </a:tabLst>
            </a:pPr>
            <a:r>
              <a:rPr dirty="0" sz="3200">
                <a:latin typeface="Times New Roman"/>
                <a:cs typeface="Times New Roman"/>
              </a:rPr>
              <a:t>process</a:t>
            </a:r>
            <a:r>
              <a:rPr dirty="0" sz="3200" spc="-10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using</a:t>
            </a:r>
            <a:r>
              <a:rPr dirty="0" sz="3200">
                <a:latin typeface="Times New Roman"/>
                <a:cs typeface="Times New Roman"/>
              </a:rPr>
              <a:t>	and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modern</a:t>
            </a:r>
            <a:r>
              <a:rPr dirty="0" sz="3200" spc="-10">
                <a:latin typeface="Times New Roman"/>
                <a:cs typeface="Times New Roman"/>
              </a:rPr>
              <a:t> tools.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61303" y="3666997"/>
            <a:ext cx="2371725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3395"/>
              </a:lnSpc>
            </a:pPr>
            <a:r>
              <a:rPr dirty="0" sz="3200">
                <a:latin typeface="Times New Roman"/>
                <a:cs typeface="Times New Roman"/>
              </a:rPr>
              <a:t>data</a:t>
            </a:r>
            <a:r>
              <a:rPr dirty="0" sz="3200" spc="53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formats,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30" y="3597986"/>
            <a:ext cx="87503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  <a:tab pos="8156575" algn="l"/>
              </a:tabLst>
            </a:pPr>
            <a:r>
              <a:rPr dirty="0" sz="3200">
                <a:latin typeface="Times New Roman"/>
                <a:cs typeface="Times New Roman"/>
              </a:rPr>
              <a:t>-	It</a:t>
            </a:r>
            <a:r>
              <a:rPr dirty="0" sz="3200" spc="4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covers</a:t>
            </a:r>
            <a:r>
              <a:rPr dirty="0" sz="3200" spc="5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many</a:t>
            </a:r>
            <a:r>
              <a:rPr dirty="0" sz="3200" spc="5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topics</a:t>
            </a:r>
            <a:r>
              <a:rPr dirty="0" sz="3200" spc="5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such</a:t>
            </a:r>
            <a:r>
              <a:rPr dirty="0" sz="3200" spc="53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as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640" y="4154678"/>
            <a:ext cx="1382395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395"/>
              </a:lnSpc>
            </a:pPr>
            <a:r>
              <a:rPr dirty="0" sz="3200" spc="-10">
                <a:latin typeface="Times New Roman"/>
                <a:cs typeface="Times New Roman"/>
              </a:rPr>
              <a:t>cleaning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1035" y="4085971"/>
            <a:ext cx="28067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latin typeface="Times New Roman"/>
                <a:cs typeface="Times New Roman"/>
              </a:rPr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11323" y="4154678"/>
            <a:ext cx="671322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395"/>
              </a:lnSpc>
            </a:pPr>
            <a:r>
              <a:rPr dirty="0" sz="3200">
                <a:latin typeface="Times New Roman"/>
                <a:cs typeface="Times New Roman"/>
              </a:rPr>
              <a:t>make</a:t>
            </a:r>
            <a:r>
              <a:rPr dirty="0" sz="3200" spc="484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predication</a:t>
            </a:r>
            <a:r>
              <a:rPr dirty="0" sz="3200" spc="5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using</a:t>
            </a:r>
            <a:r>
              <a:rPr dirty="0" sz="3200" spc="4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supervised</a:t>
            </a:r>
            <a:r>
              <a:rPr dirty="0" sz="3200" spc="509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8640" y="4642358"/>
            <a:ext cx="3756660" cy="451484"/>
          </a:xfrm>
          <a:custGeom>
            <a:avLst/>
            <a:gdLst/>
            <a:ahLst/>
            <a:cxnLst/>
            <a:rect l="l" t="t" r="r" b="b"/>
            <a:pathLst>
              <a:path w="3756660" h="451485">
                <a:moveTo>
                  <a:pt x="3756660" y="0"/>
                </a:moveTo>
                <a:lnTo>
                  <a:pt x="0" y="0"/>
                </a:lnTo>
                <a:lnTo>
                  <a:pt x="0" y="451484"/>
                </a:lnTo>
                <a:lnTo>
                  <a:pt x="3756660" y="451484"/>
                </a:lnTo>
                <a:lnTo>
                  <a:pt x="375666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48640" y="4573651"/>
            <a:ext cx="827913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416810" algn="l"/>
                <a:tab pos="4025265" algn="l"/>
                <a:tab pos="5175885" algn="l"/>
                <a:tab pos="6576695" algn="l"/>
                <a:tab pos="7433309" algn="l"/>
              </a:tabLst>
            </a:pPr>
            <a:r>
              <a:rPr dirty="0" sz="3200" spc="-10">
                <a:latin typeface="Times New Roman"/>
                <a:cs typeface="Times New Roman"/>
              </a:rPr>
              <a:t>unsupervised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learning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using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python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5">
                <a:latin typeface="Times New Roman"/>
                <a:cs typeface="Times New Roman"/>
              </a:rPr>
              <a:t>and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other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535635" y="5061966"/>
            <a:ext cx="714057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Times New Roman"/>
                <a:cs typeface="Times New Roman"/>
              </a:rPr>
              <a:t>tools,</a:t>
            </a:r>
            <a:r>
              <a:rPr dirty="0" sz="3200" spc="5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sound</a:t>
            </a:r>
            <a:r>
              <a:rPr dirty="0" sz="3200" spc="5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evaluation</a:t>
            </a:r>
            <a:r>
              <a:rPr dirty="0" sz="3200" spc="60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methods;</a:t>
            </a:r>
            <a:r>
              <a:rPr dirty="0" sz="3200" spc="56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3171" y="5130038"/>
            <a:ext cx="107188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L="2540">
              <a:lnSpc>
                <a:spcPts val="3395"/>
              </a:lnSpc>
            </a:pPr>
            <a:r>
              <a:rPr dirty="0" sz="3200">
                <a:latin typeface="Times New Roman"/>
                <a:cs typeface="Times New Roman"/>
              </a:rPr>
              <a:t>data</a:t>
            </a:r>
            <a:r>
              <a:rPr dirty="0" sz="3200" spc="555">
                <a:latin typeface="Times New Roman"/>
                <a:cs typeface="Times New Roman"/>
              </a:rPr>
              <a:t> </a:t>
            </a:r>
            <a:r>
              <a:rPr dirty="0" sz="3200" spc="-50">
                <a:latin typeface="Times New Roman"/>
                <a:cs typeface="Times New Roman"/>
              </a:rPr>
              <a:t>/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640" y="5617730"/>
            <a:ext cx="4180840" cy="451484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400"/>
              </a:lnSpc>
            </a:pPr>
            <a:r>
              <a:rPr dirty="0" sz="3200">
                <a:latin typeface="Times New Roman"/>
                <a:cs typeface="Times New Roman"/>
              </a:rPr>
              <a:t>knowledge</a:t>
            </a:r>
            <a:r>
              <a:rPr dirty="0" sz="3200" spc="-10">
                <a:latin typeface="Times New Roman"/>
                <a:cs typeface="Times New Roman"/>
              </a:rPr>
              <a:t> visualization.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56293" y="6598528"/>
            <a:ext cx="97790" cy="21526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00" spc="-50"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7388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105"/>
              </a:spcBef>
            </a:pPr>
            <a:r>
              <a:rPr dirty="0" u="sng" sz="4400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Course’s</a:t>
            </a:r>
            <a:r>
              <a:rPr dirty="0" u="sng" sz="4400" spc="-55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4400" spc="-20" b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Franklin Gothic Medium"/>
                <a:cs typeface="Franklin Gothic Medium"/>
              </a:rPr>
              <a:t>Objectives</a:t>
            </a:r>
            <a:endParaRPr sz="4400">
              <a:latin typeface="Franklin Gothic Medium"/>
              <a:cs typeface="Franklin Gothic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371596"/>
            <a:ext cx="8991600" cy="5486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64739" y="3460444"/>
            <a:ext cx="13125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Tahoma"/>
                <a:cs typeface="Tahoma"/>
              </a:rPr>
              <a:t>Regression.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5112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05"/>
              </a:spcBef>
            </a:pPr>
            <a:r>
              <a:rPr dirty="0" u="sng" sz="4400" spc="-30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Course’s</a:t>
            </a:r>
            <a:r>
              <a:rPr dirty="0" u="sng" sz="4400" spc="-52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400" spc="-3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Outcome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47797"/>
            <a:ext cx="91440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 b="0">
                <a:solidFill>
                  <a:srgbClr val="000000"/>
                </a:solidFill>
                <a:latin typeface="Tahoma"/>
                <a:cs typeface="Tahoma"/>
              </a:rPr>
              <a:t>Textbook</a:t>
            </a:r>
            <a:r>
              <a:rPr dirty="0" sz="3600" spc="-24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600" b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dirty="0" sz="3600" spc="-18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600" b="0">
                <a:solidFill>
                  <a:srgbClr val="000000"/>
                </a:solidFill>
                <a:latin typeface="Tahoma"/>
                <a:cs typeface="Tahoma"/>
              </a:rPr>
              <a:t>Course</a:t>
            </a:r>
            <a:r>
              <a:rPr dirty="0" sz="3600" spc="-15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3600" spc="-10" b="0">
                <a:solidFill>
                  <a:srgbClr val="000000"/>
                </a:solidFill>
                <a:latin typeface="Tahoma"/>
                <a:cs typeface="Tahoma"/>
              </a:rPr>
              <a:t>Coverage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035" y="1752346"/>
            <a:ext cx="85559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Text</a:t>
            </a:r>
            <a:r>
              <a:rPr dirty="0" sz="2400" spc="-8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book:</a:t>
            </a:r>
            <a:r>
              <a:rPr dirty="0" sz="2400" spc="-3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“</a:t>
            </a:r>
            <a:r>
              <a:rPr dirty="0" sz="2400" b="1">
                <a:solidFill>
                  <a:srgbClr val="000099"/>
                </a:solidFill>
                <a:latin typeface="Tahoma"/>
                <a:cs typeface="Tahoma"/>
              </a:rPr>
              <a:t>Data</a:t>
            </a:r>
            <a:r>
              <a:rPr dirty="0" sz="2400" spc="-70" b="1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ahoma"/>
                <a:cs typeface="Tahoma"/>
              </a:rPr>
              <a:t>Mining:</a:t>
            </a:r>
            <a:r>
              <a:rPr dirty="0" sz="2400" spc="-60" b="1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ahoma"/>
                <a:cs typeface="Tahoma"/>
              </a:rPr>
              <a:t>Concepts</a:t>
            </a:r>
            <a:r>
              <a:rPr dirty="0" sz="2400" spc="-50" b="1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ahoma"/>
                <a:cs typeface="Tahoma"/>
              </a:rPr>
              <a:t>and</a:t>
            </a:r>
            <a:r>
              <a:rPr dirty="0" sz="2400" spc="-65" b="1">
                <a:solidFill>
                  <a:srgbClr val="000099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99"/>
                </a:solidFill>
                <a:latin typeface="Tahoma"/>
                <a:cs typeface="Tahoma"/>
              </a:rPr>
              <a:t>Techniques</a:t>
            </a:r>
            <a:r>
              <a:rPr dirty="0" sz="2400" b="1">
                <a:latin typeface="Tahoma"/>
                <a:cs typeface="Tahoma"/>
              </a:rPr>
              <a:t>,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3rd </a:t>
            </a:r>
            <a:r>
              <a:rPr dirty="0" sz="2400" b="1">
                <a:latin typeface="Tahoma"/>
                <a:cs typeface="Tahoma"/>
              </a:rPr>
              <a:t>Edition”</a:t>
            </a:r>
            <a:r>
              <a:rPr dirty="0" sz="2400" spc="-3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by</a:t>
            </a:r>
            <a:r>
              <a:rPr dirty="0" sz="2400" spc="-6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J.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Han,</a:t>
            </a:r>
            <a:r>
              <a:rPr dirty="0" sz="2400" spc="-4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M.</a:t>
            </a:r>
            <a:r>
              <a:rPr dirty="0" sz="2400" spc="-6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Kamber,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J.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Pei</a:t>
            </a:r>
            <a:r>
              <a:rPr dirty="0" sz="2400" spc="-5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–</a:t>
            </a:r>
            <a:r>
              <a:rPr dirty="0" sz="2400" spc="-6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2012.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56204"/>
            <a:ext cx="8991600" cy="13837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79" y="1179424"/>
            <a:ext cx="8891905" cy="5415915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389890" algn="l"/>
              </a:tabLst>
            </a:pPr>
            <a:r>
              <a:rPr dirty="0" sz="2400" spc="-10" b="1">
                <a:latin typeface="Tahoma"/>
                <a:cs typeface="Tahoma"/>
              </a:rPr>
              <a:t>Introduction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14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Getting</a:t>
            </a:r>
            <a:r>
              <a:rPr dirty="0" sz="2400" spc="-7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to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Know</a:t>
            </a:r>
            <a:r>
              <a:rPr dirty="0" sz="2400" spc="-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Your</a:t>
            </a:r>
            <a:r>
              <a:rPr dirty="0" sz="2400" spc="-6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Data</a:t>
            </a:r>
            <a:r>
              <a:rPr dirty="0" sz="2400" spc="-6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2)</a:t>
            </a:r>
            <a:endParaRPr sz="24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139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Data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Preprocessing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9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3)</a:t>
            </a:r>
            <a:endParaRPr sz="2400">
              <a:latin typeface="Tahoma"/>
              <a:cs typeface="Tahoma"/>
            </a:endParaRPr>
          </a:p>
          <a:p>
            <a:pPr marL="12700" marR="5080" indent="377190">
              <a:lnSpc>
                <a:spcPts val="4310"/>
              </a:lnSpc>
              <a:spcBef>
                <a:spcPts val="19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Mining</a:t>
            </a:r>
            <a:r>
              <a:rPr dirty="0" sz="2400" spc="-15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Frequent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Patterns</a:t>
            </a:r>
            <a:r>
              <a:rPr dirty="0" sz="2400" spc="-1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&amp;</a:t>
            </a:r>
            <a:r>
              <a:rPr dirty="0" sz="2400" spc="-16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Association: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Basic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Concepts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2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6)</a:t>
            </a:r>
            <a:endParaRPr sz="2400">
              <a:latin typeface="Tahoma"/>
              <a:cs typeface="Tahoma"/>
            </a:endParaRPr>
          </a:p>
          <a:p>
            <a:pPr marL="389255" indent="-376555">
              <a:lnSpc>
                <a:spcPct val="100000"/>
              </a:lnSpc>
              <a:spcBef>
                <a:spcPts val="1295"/>
              </a:spcBef>
              <a:buAutoNum type="arabicPeriod"/>
              <a:tabLst>
                <a:tab pos="389255" algn="l"/>
              </a:tabLst>
            </a:pPr>
            <a:r>
              <a:rPr dirty="0" sz="2400" spc="-20" b="1">
                <a:latin typeface="Tahoma"/>
                <a:cs typeface="Tahoma"/>
              </a:rPr>
              <a:t>Classification:</a:t>
            </a:r>
            <a:r>
              <a:rPr dirty="0" sz="2400" spc="-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Basic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Concepts</a:t>
            </a:r>
            <a:r>
              <a:rPr dirty="0" sz="2400" spc="-10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8)</a:t>
            </a:r>
            <a:endParaRPr sz="24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141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Cluster</a:t>
            </a:r>
            <a:r>
              <a:rPr dirty="0" sz="2400" spc="-14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Analysis:</a:t>
            </a:r>
            <a:r>
              <a:rPr dirty="0" sz="2400" spc="-13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Basic</a:t>
            </a:r>
            <a:r>
              <a:rPr dirty="0" sz="2400" spc="-13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Concepts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15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Methods</a:t>
            </a:r>
            <a:r>
              <a:rPr dirty="0" sz="2000" spc="-10" b="1">
                <a:latin typeface="Tahoma"/>
                <a:cs typeface="Tahoma"/>
              </a:rPr>
              <a:t>(Chapter10)</a:t>
            </a:r>
            <a:endParaRPr sz="20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139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Outlier</a:t>
            </a:r>
            <a:r>
              <a:rPr dirty="0" sz="2400" spc="-13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Analysis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(Chapter</a:t>
            </a:r>
            <a:r>
              <a:rPr dirty="0" sz="2400" spc="-150" b="1">
                <a:latin typeface="Tahoma"/>
                <a:cs typeface="Tahoma"/>
              </a:rPr>
              <a:t> </a:t>
            </a:r>
            <a:r>
              <a:rPr dirty="0" sz="2400" spc="-25" b="1">
                <a:latin typeface="Tahoma"/>
                <a:cs typeface="Tahoma"/>
              </a:rPr>
              <a:t>12)</a:t>
            </a:r>
            <a:endParaRPr sz="2400">
              <a:latin typeface="Tahoma"/>
              <a:cs typeface="Tahoma"/>
            </a:endParaRPr>
          </a:p>
          <a:p>
            <a:pPr marL="389890" indent="-37719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89890" algn="l"/>
              </a:tabLst>
            </a:pPr>
            <a:r>
              <a:rPr dirty="0" sz="2400" b="1">
                <a:latin typeface="Tahoma"/>
                <a:cs typeface="Tahoma"/>
              </a:rPr>
              <a:t>Data</a:t>
            </a:r>
            <a:r>
              <a:rPr dirty="0" sz="2400" spc="-110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Mining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Trends</a:t>
            </a:r>
            <a:r>
              <a:rPr dirty="0" sz="2400" spc="-8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and</a:t>
            </a:r>
            <a:r>
              <a:rPr dirty="0" sz="2400" spc="-9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Research</a:t>
            </a:r>
            <a:r>
              <a:rPr dirty="0" sz="2400" spc="-10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Frontiers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(Chapter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400" spc="-25" b="1">
                <a:latin typeface="Tahoma"/>
                <a:cs typeface="Tahoma"/>
              </a:rPr>
              <a:t>13)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435" y="371982"/>
            <a:ext cx="3903979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4400" spc="-310">
                <a:solidFill>
                  <a:srgbClr val="171B0D"/>
                </a:solidFill>
                <a:uFill>
                  <a:solidFill>
                    <a:srgbClr val="171B0D"/>
                  </a:solidFill>
                </a:uFill>
                <a:latin typeface="Arial"/>
                <a:cs typeface="Arial"/>
              </a:rPr>
              <a:t>Course’s</a:t>
            </a:r>
            <a:r>
              <a:rPr dirty="0" u="sng" sz="4400" spc="-515">
                <a:solidFill>
                  <a:srgbClr val="171B0D"/>
                </a:solidFill>
                <a:uFill>
                  <a:solidFill>
                    <a:srgbClr val="171B0D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400" spc="-280">
                <a:solidFill>
                  <a:srgbClr val="171B0D"/>
                </a:solidFill>
                <a:uFill>
                  <a:solidFill>
                    <a:srgbClr val="171B0D"/>
                  </a:solidFill>
                </a:uFill>
                <a:latin typeface="Arial"/>
                <a:cs typeface="Arial"/>
              </a:rPr>
              <a:t>Outline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435" y="384505"/>
            <a:ext cx="5134610" cy="4916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4400" spc="-3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Teaching</a:t>
            </a:r>
            <a:r>
              <a:rPr dirty="0" u="sng" sz="4400" spc="-50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400" spc="-28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Methods:</a:t>
            </a:r>
            <a:endParaRPr sz="4400">
              <a:latin typeface="Arial"/>
              <a:cs typeface="Arial"/>
            </a:endParaRPr>
          </a:p>
          <a:p>
            <a:pPr marL="433705" indent="-421005">
              <a:lnSpc>
                <a:spcPct val="100000"/>
              </a:lnSpc>
              <a:spcBef>
                <a:spcPts val="4295"/>
              </a:spcBef>
              <a:buFont typeface="Arial MT"/>
              <a:buChar char="-"/>
              <a:tabLst>
                <a:tab pos="433705" algn="l"/>
              </a:tabLst>
            </a:pPr>
            <a:r>
              <a:rPr dirty="0" sz="4400" spc="-275" b="1">
                <a:solidFill>
                  <a:srgbClr val="171B0D"/>
                </a:solidFill>
                <a:latin typeface="Arial"/>
                <a:cs typeface="Arial"/>
              </a:rPr>
              <a:t>Lectures,</a:t>
            </a:r>
            <a:r>
              <a:rPr dirty="0" sz="4400" spc="-405" b="1">
                <a:solidFill>
                  <a:srgbClr val="171B0D"/>
                </a:solidFill>
                <a:latin typeface="Arial"/>
                <a:cs typeface="Arial"/>
              </a:rPr>
              <a:t> </a:t>
            </a:r>
            <a:r>
              <a:rPr dirty="0" sz="4400" spc="-290" b="1">
                <a:solidFill>
                  <a:srgbClr val="171B0D"/>
                </a:solidFill>
                <a:latin typeface="Arial"/>
                <a:cs typeface="Arial"/>
              </a:rPr>
              <a:t>Sections,</a:t>
            </a:r>
            <a:endParaRPr sz="4400">
              <a:latin typeface="Arial"/>
              <a:cs typeface="Arial"/>
            </a:endParaRPr>
          </a:p>
          <a:p>
            <a:pPr marL="291465" indent="-278765">
              <a:lnSpc>
                <a:spcPct val="100000"/>
              </a:lnSpc>
              <a:spcBef>
                <a:spcPts val="2605"/>
              </a:spcBef>
              <a:buFont typeface="Arial MT"/>
              <a:buChar char="-"/>
              <a:tabLst>
                <a:tab pos="291465" algn="l"/>
              </a:tabLst>
            </a:pPr>
            <a:r>
              <a:rPr dirty="0" sz="4400" spc="-335" b="1">
                <a:solidFill>
                  <a:srgbClr val="171B0D"/>
                </a:solidFill>
                <a:latin typeface="Arial"/>
                <a:cs typeface="Arial"/>
              </a:rPr>
              <a:t>Discussion</a:t>
            </a:r>
            <a:r>
              <a:rPr dirty="0" sz="4400" spc="-390" b="1">
                <a:solidFill>
                  <a:srgbClr val="171B0D"/>
                </a:solidFill>
                <a:latin typeface="Arial"/>
                <a:cs typeface="Arial"/>
              </a:rPr>
              <a:t> </a:t>
            </a:r>
            <a:r>
              <a:rPr dirty="0" sz="4400" spc="-335" b="1">
                <a:solidFill>
                  <a:srgbClr val="171B0D"/>
                </a:solidFill>
                <a:latin typeface="Arial"/>
                <a:cs typeface="Arial"/>
              </a:rPr>
              <a:t>Groups,</a:t>
            </a:r>
            <a:endParaRPr sz="4400">
              <a:latin typeface="Arial"/>
              <a:cs typeface="Arial"/>
            </a:endParaRPr>
          </a:p>
          <a:p>
            <a:pPr marL="291465" indent="-278765">
              <a:lnSpc>
                <a:spcPct val="100000"/>
              </a:lnSpc>
              <a:spcBef>
                <a:spcPts val="2595"/>
              </a:spcBef>
              <a:buFont typeface="Arial MT"/>
              <a:buChar char="-"/>
              <a:tabLst>
                <a:tab pos="291465" algn="l"/>
              </a:tabLst>
            </a:pPr>
            <a:r>
              <a:rPr dirty="0" sz="4400" spc="-295" b="1">
                <a:solidFill>
                  <a:srgbClr val="171B0D"/>
                </a:solidFill>
                <a:latin typeface="Arial"/>
                <a:cs typeface="Arial"/>
              </a:rPr>
              <a:t>Team</a:t>
            </a:r>
            <a:r>
              <a:rPr dirty="0" sz="4400" spc="-500" b="1">
                <a:solidFill>
                  <a:srgbClr val="171B0D"/>
                </a:solidFill>
                <a:latin typeface="Arial"/>
                <a:cs typeface="Arial"/>
              </a:rPr>
              <a:t> </a:t>
            </a:r>
            <a:r>
              <a:rPr dirty="0" sz="4400" spc="-345" b="1">
                <a:solidFill>
                  <a:srgbClr val="171B0D"/>
                </a:solidFill>
                <a:latin typeface="Arial"/>
                <a:cs typeface="Arial"/>
              </a:rPr>
              <a:t>Work</a:t>
            </a:r>
            <a:endParaRPr sz="4400">
              <a:latin typeface="Arial"/>
              <a:cs typeface="Arial"/>
            </a:endParaRPr>
          </a:p>
          <a:p>
            <a:pPr marL="291465" indent="-278765">
              <a:lnSpc>
                <a:spcPct val="100000"/>
              </a:lnSpc>
              <a:spcBef>
                <a:spcPts val="2605"/>
              </a:spcBef>
              <a:buFont typeface="Arial MT"/>
              <a:buChar char="-"/>
              <a:tabLst>
                <a:tab pos="291465" algn="l"/>
              </a:tabLst>
            </a:pPr>
            <a:r>
              <a:rPr dirty="0" sz="4400" spc="-340" b="1">
                <a:solidFill>
                  <a:srgbClr val="171B0D"/>
                </a:solidFill>
                <a:latin typeface="Arial"/>
                <a:cs typeface="Arial"/>
              </a:rPr>
              <a:t>Using</a:t>
            </a:r>
            <a:r>
              <a:rPr dirty="0" sz="4400" spc="-520" b="1">
                <a:solidFill>
                  <a:srgbClr val="171B0D"/>
                </a:solidFill>
                <a:latin typeface="Arial"/>
                <a:cs typeface="Arial"/>
              </a:rPr>
              <a:t> </a:t>
            </a:r>
            <a:r>
              <a:rPr dirty="0" sz="4400" spc="-280" b="1">
                <a:solidFill>
                  <a:srgbClr val="171B0D"/>
                </a:solidFill>
                <a:latin typeface="Arial"/>
                <a:cs typeface="Arial"/>
              </a:rPr>
              <a:t>Presentations.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18585" y="6628410"/>
            <a:ext cx="2597150" cy="184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200">
                <a:latin typeface="Tahoma"/>
                <a:cs typeface="Tahoma"/>
              </a:rPr>
              <a:t>Data</a:t>
            </a:r>
            <a:r>
              <a:rPr dirty="0" sz="1200" spc="-9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Mining:</a:t>
            </a:r>
            <a:r>
              <a:rPr dirty="0" sz="1200" spc="-45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Concepts</a:t>
            </a:r>
            <a:r>
              <a:rPr dirty="0" sz="1200" spc="-40">
                <a:latin typeface="Tahoma"/>
                <a:cs typeface="Tahoma"/>
              </a:rPr>
              <a:t> </a:t>
            </a:r>
            <a:r>
              <a:rPr dirty="0" sz="1200">
                <a:latin typeface="Tahoma"/>
                <a:cs typeface="Tahoma"/>
              </a:rPr>
              <a:t>and</a:t>
            </a:r>
            <a:r>
              <a:rPr dirty="0" sz="1200" spc="-60">
                <a:latin typeface="Tahoma"/>
                <a:cs typeface="Tahoma"/>
              </a:rPr>
              <a:t> </a:t>
            </a:r>
            <a:r>
              <a:rPr dirty="0" sz="1200" spc="-10">
                <a:latin typeface="Tahoma"/>
                <a:cs typeface="Tahoma"/>
              </a:rPr>
              <a:t>Techniques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22" y="1409696"/>
            <a:ext cx="8963377" cy="54483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3642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dirty="0" sz="4400" spc="-20" b="0">
                <a:solidFill>
                  <a:srgbClr val="171B0D"/>
                </a:solidFill>
                <a:latin typeface="Franklin Gothic Medium"/>
                <a:cs typeface="Franklin Gothic Medium"/>
              </a:rPr>
              <a:t>Evaluation</a:t>
            </a:r>
            <a:r>
              <a:rPr dirty="0" sz="4400" spc="-200" b="0">
                <a:solidFill>
                  <a:srgbClr val="171B0D"/>
                </a:solidFill>
                <a:latin typeface="Franklin Gothic Medium"/>
                <a:cs typeface="Franklin Gothic Medium"/>
              </a:rPr>
              <a:t> </a:t>
            </a:r>
            <a:r>
              <a:rPr dirty="0" sz="4400" spc="-45" b="0">
                <a:solidFill>
                  <a:srgbClr val="171B0D"/>
                </a:solidFill>
                <a:latin typeface="Franklin Gothic Medium"/>
                <a:cs typeface="Franklin Gothic Medium"/>
              </a:rPr>
              <a:t>Criterion</a:t>
            </a:r>
            <a:r>
              <a:rPr dirty="0" sz="4400" spc="-190" b="0">
                <a:solidFill>
                  <a:srgbClr val="171B0D"/>
                </a:solidFill>
                <a:latin typeface="Franklin Gothic Medium"/>
                <a:cs typeface="Franklin Gothic Medium"/>
              </a:rPr>
              <a:t> </a:t>
            </a:r>
            <a:r>
              <a:rPr dirty="0" sz="4400" spc="-10" b="0">
                <a:solidFill>
                  <a:srgbClr val="171B0D"/>
                </a:solidFill>
                <a:latin typeface="Franklin Gothic Medium"/>
                <a:cs typeface="Franklin Gothic Medium"/>
              </a:rPr>
              <a:t>“Grades”:</a:t>
            </a:r>
            <a:endParaRPr sz="4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5166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dirty="0" u="sng" sz="4400" spc="-31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Course</a:t>
            </a:r>
            <a:r>
              <a:rPr dirty="0" u="sng" sz="4400" spc="-52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4400" spc="-305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Requirements: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394457"/>
            <a:ext cx="9067800" cy="54635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0054" rIns="0" bIns="0" rtlCol="0" vert="horz">
            <a:spAutoFit/>
          </a:bodyPr>
          <a:lstStyle/>
          <a:p>
            <a:pPr marL="39751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Agenda</a:t>
            </a:r>
            <a:r>
              <a:rPr dirty="0" sz="2800" spc="-185">
                <a:solidFill>
                  <a:srgbClr val="000000"/>
                </a:solidFill>
              </a:rPr>
              <a:t> </a:t>
            </a:r>
            <a:r>
              <a:rPr dirty="0" sz="2800">
                <a:solidFill>
                  <a:srgbClr val="000000"/>
                </a:solidFill>
              </a:rPr>
              <a:t>(Lec.</a:t>
            </a:r>
            <a:r>
              <a:rPr dirty="0" sz="2800" spc="-150">
                <a:solidFill>
                  <a:srgbClr val="000000"/>
                </a:solidFill>
              </a:rPr>
              <a:t> </a:t>
            </a:r>
            <a:r>
              <a:rPr dirty="0" sz="2800" spc="-25">
                <a:solidFill>
                  <a:srgbClr val="000000"/>
                </a:solidFill>
              </a:rPr>
              <a:t>1)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04571" y="1453895"/>
            <a:ext cx="6494780" cy="3832225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algn="r" marL="456565" marR="2743835" indent="-456565">
              <a:lnSpc>
                <a:spcPct val="100000"/>
              </a:lnSpc>
              <a:spcBef>
                <a:spcPts val="1505"/>
              </a:spcBef>
              <a:buFont typeface="Wingdings"/>
              <a:buChar char=""/>
              <a:tabLst>
                <a:tab pos="456565" algn="l"/>
              </a:tabLst>
            </a:pPr>
            <a:r>
              <a:rPr dirty="0" sz="2400">
                <a:latin typeface="Tahoma"/>
                <a:cs typeface="Tahoma"/>
              </a:rPr>
              <a:t>Introduction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(Chapter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algn="r" lvl="1" marL="454659" marR="2672080" indent="-454659">
              <a:lnSpc>
                <a:spcPct val="100000"/>
              </a:lnSpc>
              <a:spcBef>
                <a:spcPts val="1410"/>
              </a:spcBef>
              <a:buFont typeface="Courier New"/>
              <a:buChar char="o"/>
              <a:tabLst>
                <a:tab pos="454659" algn="l"/>
              </a:tabLst>
            </a:pPr>
            <a:r>
              <a:rPr dirty="0" sz="2400">
                <a:latin typeface="Tahoma"/>
                <a:cs typeface="Tahoma"/>
              </a:rPr>
              <a:t>Why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Mining?</a:t>
            </a:r>
            <a:endParaRPr sz="2400">
              <a:latin typeface="Tahoma"/>
              <a:cs typeface="Tahoma"/>
            </a:endParaRPr>
          </a:p>
          <a:p>
            <a:pPr lvl="1" marL="1361440" indent="-455930">
              <a:lnSpc>
                <a:spcPct val="100000"/>
              </a:lnSpc>
              <a:spcBef>
                <a:spcPts val="1390"/>
              </a:spcBef>
              <a:buFont typeface="Courier New"/>
              <a:buChar char="o"/>
              <a:tabLst>
                <a:tab pos="1361440" algn="l"/>
              </a:tabLst>
            </a:pPr>
            <a:r>
              <a:rPr dirty="0" sz="2400">
                <a:latin typeface="Tahoma"/>
                <a:cs typeface="Tahoma"/>
              </a:rPr>
              <a:t>What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Mining?</a:t>
            </a:r>
            <a:endParaRPr sz="2400">
              <a:latin typeface="Tahoma"/>
              <a:cs typeface="Tahoma"/>
            </a:endParaRPr>
          </a:p>
          <a:p>
            <a:pPr lvl="1" marL="1361440" indent="-455930">
              <a:lnSpc>
                <a:spcPct val="100000"/>
              </a:lnSpc>
              <a:spcBef>
                <a:spcPts val="1405"/>
              </a:spcBef>
              <a:buFont typeface="Courier New"/>
              <a:buChar char="o"/>
              <a:tabLst>
                <a:tab pos="1361440" algn="l"/>
              </a:tabLst>
            </a:pPr>
            <a:r>
              <a:rPr dirty="0" sz="2400" spc="-10">
                <a:latin typeface="Tahoma"/>
                <a:cs typeface="Tahoma"/>
              </a:rPr>
              <a:t>Knowledge</a:t>
            </a:r>
            <a:r>
              <a:rPr dirty="0" sz="2400" spc="-1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Discovery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Process</a:t>
            </a:r>
            <a:endParaRPr sz="2400">
              <a:latin typeface="Tahoma"/>
              <a:cs typeface="Tahoma"/>
            </a:endParaRPr>
          </a:p>
          <a:p>
            <a:pPr lvl="1" marL="1361440" indent="-455930">
              <a:lnSpc>
                <a:spcPct val="100000"/>
              </a:lnSpc>
              <a:spcBef>
                <a:spcPts val="1405"/>
              </a:spcBef>
              <a:buFont typeface="Courier New"/>
              <a:buChar char="o"/>
              <a:tabLst>
                <a:tab pos="1361440" algn="l"/>
              </a:tabLst>
            </a:pP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Mining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Tasks</a:t>
            </a:r>
            <a:endParaRPr sz="2400">
              <a:latin typeface="Tahoma"/>
              <a:cs typeface="Tahoma"/>
            </a:endParaRPr>
          </a:p>
          <a:p>
            <a:pPr lvl="1" marL="1361440" indent="-455930">
              <a:lnSpc>
                <a:spcPct val="100000"/>
              </a:lnSpc>
              <a:spcBef>
                <a:spcPts val="1390"/>
              </a:spcBef>
              <a:buFont typeface="Courier New"/>
              <a:buChar char="o"/>
              <a:tabLst>
                <a:tab pos="1361440" algn="l"/>
              </a:tabLst>
            </a:pPr>
            <a:r>
              <a:rPr dirty="0" sz="2400">
                <a:latin typeface="Tahoma"/>
                <a:cs typeface="Tahoma"/>
              </a:rPr>
              <a:t>What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Kinds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Technologies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Used?</a:t>
            </a:r>
            <a:endParaRPr sz="2400">
              <a:latin typeface="Tahoma"/>
              <a:cs typeface="Tahoma"/>
            </a:endParaRPr>
          </a:p>
          <a:p>
            <a:pPr lvl="1" marL="1361440" indent="-455930">
              <a:lnSpc>
                <a:spcPct val="100000"/>
              </a:lnSpc>
              <a:spcBef>
                <a:spcPts val="1405"/>
              </a:spcBef>
              <a:buFont typeface="Courier New"/>
              <a:buChar char="o"/>
              <a:tabLst>
                <a:tab pos="1361440" algn="l"/>
              </a:tabLst>
            </a:pPr>
            <a:r>
              <a:rPr dirty="0" sz="2400" spc="-10">
                <a:latin typeface="Tahoma"/>
                <a:cs typeface="Tahoma"/>
              </a:rPr>
              <a:t>Summary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990" rIns="0" bIns="0" rtlCol="0" vert="horz">
            <a:spAutoFit/>
          </a:bodyPr>
          <a:lstStyle/>
          <a:p>
            <a:pPr marL="63373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20"/>
              <a:t> </a:t>
            </a:r>
            <a:r>
              <a:rPr dirty="0"/>
              <a:t>Mining</a:t>
            </a:r>
            <a:r>
              <a:rPr dirty="0" spc="-45"/>
              <a:t> </a:t>
            </a:r>
            <a:r>
              <a:rPr dirty="0"/>
              <a:t>Function:</a:t>
            </a:r>
            <a:r>
              <a:rPr dirty="0" spc="-95"/>
              <a:t> </a:t>
            </a:r>
            <a:r>
              <a:rPr dirty="0" spc="-10"/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42958" y="6585828"/>
            <a:ext cx="12318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44" y="1313691"/>
            <a:ext cx="8003540" cy="489394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Classification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label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prediction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70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Construct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models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(functions)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based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some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training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examples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695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Describe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distinguish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classes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concepts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for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future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prediction</a:t>
            </a:r>
            <a:endParaRPr sz="2000">
              <a:latin typeface="Tahoma"/>
              <a:cs typeface="Tahoma"/>
            </a:endParaRPr>
          </a:p>
          <a:p>
            <a:pPr lvl="2" marL="1155065" marR="426720" indent="-228600">
              <a:lnSpc>
                <a:spcPct val="110000"/>
              </a:lnSpc>
              <a:spcBef>
                <a:spcPts val="254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E.g.,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classify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countries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based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(climate),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classify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cars </a:t>
            </a:r>
            <a:r>
              <a:rPr dirty="0" sz="2000">
                <a:latin typeface="Tahoma"/>
                <a:cs typeface="Tahoma"/>
              </a:rPr>
              <a:t>based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(gas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mileage)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95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Predict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some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unknown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labels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Typical</a:t>
            </a:r>
            <a:r>
              <a:rPr dirty="0" sz="2000" spc="-10">
                <a:latin typeface="Tahoma"/>
                <a:cs typeface="Tahoma"/>
              </a:rPr>
              <a:t> methods</a:t>
            </a:r>
            <a:endParaRPr sz="2000">
              <a:latin typeface="Tahoma"/>
              <a:cs typeface="Tahoma"/>
            </a:endParaRPr>
          </a:p>
          <a:p>
            <a:pPr lvl="1" marL="756285" marR="391160" indent="-287020">
              <a:lnSpc>
                <a:spcPct val="110100"/>
              </a:lnSpc>
              <a:spcBef>
                <a:spcPts val="25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Decision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trees,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naïve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Bayesian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support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vector </a:t>
            </a:r>
            <a:r>
              <a:rPr dirty="0" sz="2000">
                <a:latin typeface="Tahoma"/>
                <a:cs typeface="Tahoma"/>
              </a:rPr>
              <a:t>machines,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neural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networks,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rule-</a:t>
            </a:r>
            <a:r>
              <a:rPr dirty="0" sz="2000">
                <a:latin typeface="Tahoma"/>
                <a:cs typeface="Tahoma"/>
              </a:rPr>
              <a:t>based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pattern-</a:t>
            </a:r>
            <a:r>
              <a:rPr dirty="0" sz="2000">
                <a:latin typeface="Tahoma"/>
                <a:cs typeface="Tahoma"/>
              </a:rPr>
              <a:t>based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logistic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regression,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…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5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Typical</a:t>
            </a:r>
            <a:r>
              <a:rPr dirty="0" sz="2000" spc="-10">
                <a:latin typeface="Tahoma"/>
                <a:cs typeface="Tahoma"/>
              </a:rPr>
              <a:t> applications:</a:t>
            </a:r>
            <a:endParaRPr sz="2000">
              <a:latin typeface="Tahoma"/>
              <a:cs typeface="Tahoma"/>
            </a:endParaRPr>
          </a:p>
          <a:p>
            <a:pPr lvl="1" marL="756285" marR="290195" indent="-287020">
              <a:lnSpc>
                <a:spcPct val="110000"/>
              </a:lnSpc>
              <a:spcBef>
                <a:spcPts val="25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Credit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card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fraud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detection,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direct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marketing,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classifying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stars, </a:t>
            </a:r>
            <a:r>
              <a:rPr dirty="0" sz="2000">
                <a:latin typeface="Tahoma"/>
                <a:cs typeface="Tahoma"/>
              </a:rPr>
              <a:t>diseases,</a:t>
            </a:r>
            <a:r>
              <a:rPr dirty="0" sz="2000" spc="-20">
                <a:latin typeface="Tahoma"/>
                <a:cs typeface="Tahoma"/>
              </a:rPr>
              <a:t>  </a:t>
            </a:r>
            <a:r>
              <a:rPr dirty="0" sz="2000" spc="-10">
                <a:latin typeface="Tahoma"/>
                <a:cs typeface="Tahoma"/>
              </a:rPr>
              <a:t>web-</a:t>
            </a:r>
            <a:r>
              <a:rPr dirty="0" sz="2000">
                <a:latin typeface="Tahoma"/>
                <a:cs typeface="Tahoma"/>
              </a:rPr>
              <a:t>pages,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…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5250" rIns="0" bIns="0" rtlCol="0" vert="horz">
            <a:spAutoFit/>
          </a:bodyPr>
          <a:lstStyle/>
          <a:p>
            <a:pPr marL="2262505" marR="5080" indent="-187515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110"/>
              <a:t> </a:t>
            </a:r>
            <a:r>
              <a:rPr dirty="0"/>
              <a:t>Mining</a:t>
            </a:r>
            <a:r>
              <a:rPr dirty="0" spc="-75"/>
              <a:t> </a:t>
            </a:r>
            <a:r>
              <a:rPr dirty="0"/>
              <a:t>Function:</a:t>
            </a:r>
            <a:r>
              <a:rPr dirty="0" spc="-110"/>
              <a:t> </a:t>
            </a:r>
            <a:r>
              <a:rPr dirty="0"/>
              <a:t>Association</a:t>
            </a:r>
            <a:r>
              <a:rPr dirty="0" spc="-110"/>
              <a:t> </a:t>
            </a:r>
            <a:r>
              <a:rPr dirty="0" spc="-25"/>
              <a:t>and </a:t>
            </a:r>
            <a:r>
              <a:rPr dirty="0"/>
              <a:t>Correlation</a:t>
            </a:r>
            <a:r>
              <a:rPr dirty="0" spc="-114"/>
              <a:t> </a:t>
            </a:r>
            <a:r>
              <a:rPr dirty="0" spc="-1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43593" y="6585828"/>
            <a:ext cx="12318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44" y="1210437"/>
            <a:ext cx="8100059" cy="503428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Frequent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(or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frequent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itemsets)</a:t>
            </a:r>
            <a:endParaRPr sz="2400">
              <a:latin typeface="Tahoma"/>
              <a:cs typeface="Tahoma"/>
            </a:endParaRPr>
          </a:p>
          <a:p>
            <a:pPr lvl="1" marL="756285" marR="128905" indent="-287020">
              <a:lnSpc>
                <a:spcPct val="110400"/>
              </a:lnSpc>
              <a:spcBef>
                <a:spcPts val="60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dirty="0" sz="2400">
                <a:latin typeface="Tahoma"/>
                <a:cs typeface="Tahoma"/>
              </a:rPr>
              <a:t>What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items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frequently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purchased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together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your </a:t>
            </a:r>
            <a:r>
              <a:rPr dirty="0" sz="2400" spc="-10">
                <a:latin typeface="Tahoma"/>
                <a:cs typeface="Tahoma"/>
              </a:rPr>
              <a:t>Walmart?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Association,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correlation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vs.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causality</a:t>
            </a:r>
            <a:endParaRPr sz="24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90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typical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association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rule</a:t>
            </a:r>
            <a:endParaRPr sz="2400">
              <a:latin typeface="Tahoma"/>
              <a:cs typeface="Tahoma"/>
            </a:endParaRPr>
          </a:p>
          <a:p>
            <a:pPr algn="r" lvl="2" marL="227965" marR="5080" indent="-227965">
              <a:lnSpc>
                <a:spcPct val="100000"/>
              </a:lnSpc>
              <a:spcBef>
                <a:spcPts val="84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227965" algn="l"/>
              </a:tabLst>
            </a:pPr>
            <a:r>
              <a:rPr dirty="0" sz="2400">
                <a:latin typeface="Tahoma"/>
                <a:cs typeface="Tahoma"/>
              </a:rPr>
              <a:t>Diaper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Wingdings"/>
                <a:cs typeface="Wingdings"/>
              </a:rPr>
              <a:t>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ahoma"/>
                <a:cs typeface="Tahoma"/>
              </a:rPr>
              <a:t>Beer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[0.5%,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75%]</a:t>
            </a:r>
            <a:r>
              <a:rPr dirty="0" sz="2400" spc="4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(support,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confidence)</a:t>
            </a:r>
            <a:endParaRPr sz="2400">
              <a:latin typeface="Tahoma"/>
              <a:cs typeface="Tahoma"/>
            </a:endParaRPr>
          </a:p>
          <a:p>
            <a:pPr algn="r" marL="286385" marR="7620" indent="-286385">
              <a:lnSpc>
                <a:spcPct val="100000"/>
              </a:lnSpc>
              <a:spcBef>
                <a:spcPts val="96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286385" algn="l"/>
              </a:tabLst>
            </a:pP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strongly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associated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items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also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strongly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correlated?</a:t>
            </a:r>
            <a:endParaRPr sz="2400">
              <a:latin typeface="Tahoma"/>
              <a:cs typeface="Tahoma"/>
            </a:endParaRPr>
          </a:p>
          <a:p>
            <a:pPr marL="355600" marR="341630" indent="-342900">
              <a:lnSpc>
                <a:spcPct val="110000"/>
              </a:lnSpc>
              <a:spcBef>
                <a:spcPts val="3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How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rules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efficiently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large datasets?</a:t>
            </a:r>
            <a:endParaRPr sz="2400">
              <a:latin typeface="Tahoma"/>
              <a:cs typeface="Tahoma"/>
            </a:endParaRPr>
          </a:p>
          <a:p>
            <a:pPr marL="355600" marR="523875" indent="-342900">
              <a:lnSpc>
                <a:spcPct val="110100"/>
              </a:lnSpc>
              <a:spcBef>
                <a:spcPts val="59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How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classification,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clustering,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applications?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782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dirty="0" spc="-65"/>
              <a:t> </a:t>
            </a:r>
            <a:r>
              <a:rPr dirty="0"/>
              <a:t>Mining</a:t>
            </a:r>
            <a:r>
              <a:rPr dirty="0" spc="-45"/>
              <a:t> </a:t>
            </a:r>
            <a:r>
              <a:rPr dirty="0"/>
              <a:t>Function:</a:t>
            </a:r>
            <a:r>
              <a:rPr dirty="0" spc="-60"/>
              <a:t> </a:t>
            </a:r>
            <a:r>
              <a:rPr dirty="0"/>
              <a:t>Cluster</a:t>
            </a:r>
            <a:r>
              <a:rPr dirty="0" spc="-60"/>
              <a:t> </a:t>
            </a:r>
            <a:r>
              <a:rPr dirty="0" spc="-1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43593" y="6585828"/>
            <a:ext cx="123189" cy="240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844" y="1210437"/>
            <a:ext cx="7801609" cy="275082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Unsupervised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learning</a:t>
            </a:r>
            <a:r>
              <a:rPr dirty="0" sz="2400" spc="-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(i.e.,</a:t>
            </a:r>
            <a:r>
              <a:rPr dirty="0" sz="2400" spc="-1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label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unknown)</a:t>
            </a:r>
            <a:endParaRPr sz="2400">
              <a:latin typeface="Tahoma"/>
              <a:cs typeface="Tahoma"/>
            </a:endParaRPr>
          </a:p>
          <a:p>
            <a:pPr marL="354965" marR="5080" indent="-342900">
              <a:lnSpc>
                <a:spcPct val="110400"/>
              </a:lnSpc>
              <a:spcBef>
                <a:spcPts val="6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Group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form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categories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(i.e.,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clusters),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e.g., </a:t>
            </a:r>
            <a:r>
              <a:rPr dirty="0" sz="2400">
                <a:latin typeface="Tahoma"/>
                <a:cs typeface="Tahoma"/>
              </a:rPr>
              <a:t>cluster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houses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find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distribution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patterns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Principle: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Maximizing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spc="-40">
                <a:latin typeface="Tahoma"/>
                <a:cs typeface="Tahoma"/>
              </a:rPr>
              <a:t>intra-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similarity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&amp;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minimizing</a:t>
            </a:r>
            <a:endParaRPr sz="240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  <a:spcBef>
                <a:spcPts val="290"/>
              </a:spcBef>
            </a:pPr>
            <a:r>
              <a:rPr dirty="0" sz="2400">
                <a:latin typeface="Tahoma"/>
                <a:cs typeface="Tahoma"/>
              </a:rPr>
              <a:t>interclass</a:t>
            </a:r>
            <a:r>
              <a:rPr dirty="0" sz="2400" spc="-16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similarity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Many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methods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applications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835" y="1569846"/>
            <a:ext cx="8314690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762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5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Mining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plays</a:t>
            </a:r>
            <a:r>
              <a:rPr dirty="0" sz="2400" spc="-5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dirty="0" sz="2400" spc="-6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crucial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role</a:t>
            </a:r>
            <a:r>
              <a:rPr dirty="0" sz="2400" spc="-5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in</a:t>
            </a:r>
            <a:r>
              <a:rPr dirty="0" sz="2400" spc="-6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today's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data-centric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world.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5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involves</a:t>
            </a:r>
            <a:r>
              <a:rPr dirty="0" sz="2400" spc="-4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practice</a:t>
            </a:r>
            <a:r>
              <a:rPr dirty="0" sz="2400" spc="-5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4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inspecting,</a:t>
            </a:r>
            <a:r>
              <a:rPr dirty="0" sz="2400" spc="-45">
                <a:latin typeface="Tahoma"/>
                <a:cs typeface="Tahoma"/>
              </a:rPr>
              <a:t> 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cleansing,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transforming,</a:t>
            </a:r>
            <a:r>
              <a:rPr dirty="0" sz="2400" spc="229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dirty="0" sz="2400" spc="24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modeling</a:t>
            </a:r>
            <a:r>
              <a:rPr dirty="0" sz="2400" spc="23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dirty="0" sz="2400" spc="24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dirty="0" sz="2400" spc="23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extract</a:t>
            </a:r>
            <a:r>
              <a:rPr dirty="0" sz="2400" spc="245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valuable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insights</a:t>
            </a:r>
            <a:r>
              <a:rPr dirty="0" sz="24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decision-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making.</a:t>
            </a:r>
            <a:endParaRPr sz="2400">
              <a:latin typeface="Tahoma"/>
              <a:cs typeface="Tahoma"/>
            </a:endParaRPr>
          </a:p>
          <a:p>
            <a:pPr algn="just" marL="355600" marR="5080" indent="-342900">
              <a:lnSpc>
                <a:spcPct val="100000"/>
              </a:lnSpc>
              <a:buFont typeface="Wingdings"/>
              <a:buChar char="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1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Analyst</a:t>
            </a:r>
            <a:r>
              <a:rPr dirty="0" sz="2400" spc="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1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professional</a:t>
            </a:r>
            <a:r>
              <a:rPr dirty="0" sz="2400" spc="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primarily</a:t>
            </a:r>
            <a:r>
              <a:rPr dirty="0" sz="2400" spc="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tasked</a:t>
            </a:r>
            <a:r>
              <a:rPr dirty="0" sz="2400" spc="10">
                <a:latin typeface="Tahoma"/>
                <a:cs typeface="Tahoma"/>
              </a:rPr>
              <a:t>  </a:t>
            </a:r>
            <a:r>
              <a:rPr dirty="0" sz="2400" spc="-20">
                <a:latin typeface="Tahoma"/>
                <a:cs typeface="Tahoma"/>
              </a:rPr>
              <a:t>with </a:t>
            </a:r>
            <a:r>
              <a:rPr dirty="0" sz="2400">
                <a:latin typeface="Tahoma"/>
                <a:cs typeface="Tahoma"/>
              </a:rPr>
              <a:t>collecting,</a:t>
            </a:r>
            <a:r>
              <a:rPr dirty="0" sz="2400" spc="4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processing,</a:t>
            </a:r>
            <a:r>
              <a:rPr dirty="0" sz="2400" spc="4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4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performing</a:t>
            </a:r>
            <a:r>
              <a:rPr dirty="0" sz="2400" spc="4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statistical</a:t>
            </a:r>
            <a:r>
              <a:rPr dirty="0" sz="2400" spc="4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analysis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large</a:t>
            </a:r>
            <a:r>
              <a:rPr dirty="0" sz="2400" spc="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datasets.</a:t>
            </a:r>
            <a:r>
              <a:rPr dirty="0" sz="2400" spc="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They</a:t>
            </a:r>
            <a:r>
              <a:rPr dirty="0" sz="2400" spc="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discover</a:t>
            </a:r>
            <a:r>
              <a:rPr dirty="0" sz="2400" spc="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how</a:t>
            </a:r>
            <a:r>
              <a:rPr dirty="0" sz="2400" spc="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9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7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answer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questions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solve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problems.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rapid </a:t>
            </a:r>
            <a:r>
              <a:rPr dirty="0" sz="2400">
                <a:latin typeface="Tahoma"/>
                <a:cs typeface="Tahoma"/>
              </a:rPr>
              <a:t>expansion</a:t>
            </a:r>
            <a:r>
              <a:rPr dirty="0" sz="2400" spc="5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modern</a:t>
            </a:r>
            <a:r>
              <a:rPr dirty="0" sz="2400" spc="5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firms,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role</a:t>
            </a:r>
            <a:r>
              <a:rPr dirty="0" sz="2400" spc="5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5">
                <a:latin typeface="Tahoma"/>
                <a:cs typeface="Tahoma"/>
              </a:rPr>
              <a:t>  </a:t>
            </a:r>
            <a:r>
              <a:rPr dirty="0" sz="2400" spc="-20">
                <a:latin typeface="Tahoma"/>
                <a:cs typeface="Tahoma"/>
              </a:rPr>
              <a:t>data </a:t>
            </a:r>
            <a:r>
              <a:rPr dirty="0" sz="2400">
                <a:latin typeface="Tahoma"/>
                <a:cs typeface="Tahoma"/>
              </a:rPr>
              <a:t>analyst</a:t>
            </a:r>
            <a:r>
              <a:rPr dirty="0" sz="2400" spc="3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31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been</a:t>
            </a:r>
            <a:r>
              <a:rPr dirty="0" sz="2400" spc="30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evolving</a:t>
            </a:r>
            <a:r>
              <a:rPr dirty="0" sz="2400" spc="3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greatly,</a:t>
            </a:r>
            <a:r>
              <a:rPr dirty="0" sz="2400" spc="31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making</a:t>
            </a:r>
            <a:r>
              <a:rPr dirty="0" sz="2400" spc="3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them</a:t>
            </a:r>
            <a:r>
              <a:rPr dirty="0" sz="2400" spc="305">
                <a:latin typeface="Tahoma"/>
                <a:cs typeface="Tahoma"/>
              </a:rPr>
              <a:t> 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significant</a:t>
            </a:r>
            <a:r>
              <a:rPr dirty="0" sz="2400" spc="20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asset</a:t>
            </a:r>
            <a:r>
              <a:rPr dirty="0" sz="2400" spc="2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2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business</a:t>
            </a:r>
            <a:r>
              <a:rPr dirty="0" sz="2400" spc="20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strategy</a:t>
            </a:r>
            <a:r>
              <a:rPr dirty="0" sz="2400" spc="2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19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decision-</a:t>
            </a:r>
            <a:r>
              <a:rPr dirty="0" sz="2400" spc="-10">
                <a:latin typeface="Tahoma"/>
                <a:cs typeface="Tahoma"/>
              </a:rPr>
              <a:t>making processes.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295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</a:rPr>
              <a:t>Data</a:t>
            </a:r>
            <a:r>
              <a:rPr dirty="0" sz="2800" spc="-125">
                <a:solidFill>
                  <a:srgbClr val="FF0000"/>
                </a:solidFill>
              </a:rPr>
              <a:t> </a:t>
            </a:r>
            <a:r>
              <a:rPr dirty="0" sz="2800">
                <a:solidFill>
                  <a:srgbClr val="FF0000"/>
                </a:solidFill>
              </a:rPr>
              <a:t>Mining:</a:t>
            </a:r>
            <a:r>
              <a:rPr dirty="0" sz="2800" spc="-114">
                <a:solidFill>
                  <a:srgbClr val="FF0000"/>
                </a:solidFill>
              </a:rPr>
              <a:t> </a:t>
            </a:r>
            <a:r>
              <a:rPr dirty="0" sz="2800" spc="-10">
                <a:solidFill>
                  <a:srgbClr val="FF0000"/>
                </a:solidFill>
              </a:rPr>
              <a:t>Concepts</a:t>
            </a:r>
            <a:r>
              <a:rPr dirty="0" sz="2800" spc="-150">
                <a:solidFill>
                  <a:srgbClr val="FF0000"/>
                </a:solidFill>
              </a:rPr>
              <a:t> </a:t>
            </a:r>
            <a:r>
              <a:rPr dirty="0" sz="2800">
                <a:solidFill>
                  <a:srgbClr val="FF0000"/>
                </a:solidFill>
              </a:rPr>
              <a:t>and</a:t>
            </a:r>
            <a:r>
              <a:rPr dirty="0" sz="2800" spc="-155">
                <a:solidFill>
                  <a:srgbClr val="FF0000"/>
                </a:solidFill>
              </a:rPr>
              <a:t> </a:t>
            </a:r>
            <a:r>
              <a:rPr dirty="0" sz="2800" spc="-10">
                <a:solidFill>
                  <a:srgbClr val="FF0000"/>
                </a:solidFill>
              </a:rPr>
              <a:t>Techniques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435" y="1219327"/>
            <a:ext cx="8310880" cy="3683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1790" marR="5080" indent="-3390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1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Mining</a:t>
            </a:r>
            <a:r>
              <a:rPr dirty="0" sz="2400" spc="1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140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dirty="0" sz="2400" spc="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core</a:t>
            </a:r>
            <a:r>
              <a:rPr dirty="0" sz="2400" spc="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component</a:t>
            </a:r>
            <a:r>
              <a:rPr dirty="0" sz="2400" spc="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dirty="0" sz="2400" spc="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dirty="0" sz="2400" spc="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dirty="0" sz="2400" spc="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Analyst's</a:t>
            </a:r>
            <a:r>
              <a:rPr dirty="0" sz="2400" spc="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role.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400" spc="1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field</a:t>
            </a:r>
            <a:r>
              <a:rPr dirty="0" sz="2400" spc="1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involves</a:t>
            </a:r>
            <a:r>
              <a:rPr dirty="0" sz="2400" spc="1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extracting</a:t>
            </a:r>
            <a:r>
              <a:rPr dirty="0" sz="2400" spc="1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meaningful</a:t>
            </a:r>
            <a:r>
              <a:rPr dirty="0" sz="2400" spc="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insights</a:t>
            </a:r>
            <a:r>
              <a:rPr dirty="0" sz="2400" spc="1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from</a:t>
            </a:r>
            <a:r>
              <a:rPr dirty="0" sz="2400" spc="1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raw 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dirty="0" sz="24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to</a:t>
            </a:r>
            <a:r>
              <a:rPr dirty="0" sz="24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drive</a:t>
            </a:r>
            <a:r>
              <a:rPr dirty="0" sz="24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decision-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making</a:t>
            </a: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processes.</a:t>
            </a:r>
            <a:endParaRPr sz="2400">
              <a:latin typeface="Tahoma"/>
              <a:cs typeface="Tahoma"/>
            </a:endParaRPr>
          </a:p>
          <a:p>
            <a:pPr algn="just" marL="351790" marR="10160" indent="-33909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includes</a:t>
            </a:r>
            <a:r>
              <a:rPr dirty="0" sz="2400" spc="-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wide</a:t>
            </a:r>
            <a:r>
              <a:rPr dirty="0" sz="2400" spc="-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range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techniques</a:t>
            </a:r>
            <a:r>
              <a:rPr dirty="0" sz="2400" spc="-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10">
                <a:latin typeface="Tahoma"/>
                <a:cs typeface="Tahoma"/>
              </a:rPr>
              <a:t>  disciplines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ranging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the  simple</a:t>
            </a:r>
            <a:r>
              <a:rPr dirty="0" sz="2400" spc="-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1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compilation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advanced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algorithms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statistical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analysis.</a:t>
            </a:r>
            <a:endParaRPr sz="2400">
              <a:latin typeface="Tahoma"/>
              <a:cs typeface="Tahoma"/>
            </a:endParaRPr>
          </a:p>
          <a:p>
            <a:pPr algn="just" marL="351790" marR="5080" indent="-33909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4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4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4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analyst,</a:t>
            </a:r>
            <a:r>
              <a:rPr dirty="0" sz="2400" spc="4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you</a:t>
            </a:r>
            <a:r>
              <a:rPr dirty="0" sz="2400" spc="4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4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expected</a:t>
            </a:r>
            <a:r>
              <a:rPr dirty="0" sz="2400" spc="4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4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understand</a:t>
            </a:r>
            <a:r>
              <a:rPr dirty="0" sz="2400" spc="46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and </a:t>
            </a:r>
            <a:r>
              <a:rPr dirty="0" sz="2400" spc="-25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interpret</a:t>
            </a:r>
            <a:r>
              <a:rPr dirty="0" sz="2400" spc="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complex</a:t>
            </a:r>
            <a:r>
              <a:rPr dirty="0" sz="2400" spc="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digital</a:t>
            </a:r>
            <a:r>
              <a:rPr dirty="0" sz="2400" spc="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data,</a:t>
            </a:r>
            <a:r>
              <a:rPr dirty="0" sz="2400" spc="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1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usage</a:t>
            </a:r>
            <a:r>
              <a:rPr dirty="0" sz="2400" spc="114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statistics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5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5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website,</a:t>
            </a:r>
            <a:r>
              <a:rPr dirty="0" sz="2400" spc="5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5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sales</a:t>
            </a:r>
            <a:r>
              <a:rPr dirty="0" sz="2400" spc="5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figures</a:t>
            </a:r>
            <a:r>
              <a:rPr dirty="0" sz="2400" spc="5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5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5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company,</a:t>
            </a:r>
            <a:r>
              <a:rPr dirty="0" sz="2400" spc="5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5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client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engagement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over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social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media,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etc.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59435" y="4877816"/>
            <a:ext cx="267779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233170" algn="l"/>
                <a:tab pos="2144395" algn="l"/>
              </a:tabLst>
            </a:pPr>
            <a:r>
              <a:rPr dirty="0" sz="2400" spc="-20">
                <a:latin typeface="Tahoma"/>
                <a:cs typeface="Tahoma"/>
              </a:rPr>
              <a:t>This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20">
                <a:latin typeface="Tahoma"/>
                <a:cs typeface="Tahoma"/>
              </a:rPr>
              <a:t>knowledge </a:t>
            </a:r>
            <a:r>
              <a:rPr dirty="0" sz="2400" spc="-10">
                <a:latin typeface="Tahoma"/>
                <a:cs typeface="Tahoma"/>
              </a:rPr>
              <a:t>businesses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25">
                <a:latin typeface="Tahoma"/>
                <a:cs typeface="Tahoma"/>
              </a:rPr>
              <a:t>in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0079" y="4877816"/>
            <a:ext cx="422465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64795">
              <a:lnSpc>
                <a:spcPct val="100000"/>
              </a:lnSpc>
              <a:spcBef>
                <a:spcPts val="100"/>
              </a:spcBef>
              <a:tabLst>
                <a:tab pos="1626235" algn="l"/>
                <a:tab pos="1755775" algn="l"/>
                <a:tab pos="2540635" algn="l"/>
                <a:tab pos="3042285" algn="l"/>
                <a:tab pos="3949700" algn="l"/>
              </a:tabLst>
            </a:pPr>
            <a:r>
              <a:rPr dirty="0" sz="2400" spc="-10">
                <a:latin typeface="Tahoma"/>
                <a:cs typeface="Tahoma"/>
              </a:rPr>
              <a:t>enables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20">
                <a:latin typeface="Tahoma"/>
                <a:cs typeface="Tahoma"/>
              </a:rPr>
              <a:t>data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10">
                <a:latin typeface="Tahoma"/>
                <a:cs typeface="Tahoma"/>
              </a:rPr>
              <a:t>analysts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45">
                <a:latin typeface="Tahoma"/>
                <a:cs typeface="Tahoma"/>
              </a:rPr>
              <a:t>to </a:t>
            </a:r>
            <a:r>
              <a:rPr dirty="0" sz="2400" spc="-10">
                <a:latin typeface="Tahoma"/>
                <a:cs typeface="Tahoma"/>
              </a:rPr>
              <a:t>identifying</a:t>
            </a:r>
            <a:r>
              <a:rPr dirty="0" sz="2400">
                <a:latin typeface="Tahoma"/>
                <a:cs typeface="Tahoma"/>
              </a:rPr>
              <a:t>		</a:t>
            </a:r>
            <a:r>
              <a:rPr dirty="0" sz="2400" spc="-10">
                <a:latin typeface="Tahoma"/>
                <a:cs typeface="Tahoma"/>
              </a:rPr>
              <a:t>trends,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10">
                <a:latin typeface="Tahoma"/>
                <a:cs typeface="Tahoma"/>
              </a:rPr>
              <a:t>making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6560" y="4877816"/>
            <a:ext cx="1213485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208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support </a:t>
            </a:r>
            <a:r>
              <a:rPr dirty="0" sz="2400" spc="-20">
                <a:latin typeface="Tahoma"/>
                <a:cs typeface="Tahoma"/>
              </a:rPr>
              <a:t>informed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335" y="5610250"/>
            <a:ext cx="79076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decisions,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predicting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potential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outcomes</a:t>
            </a:r>
            <a:r>
              <a:rPr dirty="0" sz="2400" spc="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hence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playing</a:t>
            </a:r>
            <a:r>
              <a:rPr dirty="0" sz="2400" spc="5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crucial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role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shaping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business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strategies.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295" rIns="0" bIns="0" rtlCol="0" vert="horz">
            <a:spAutoFit/>
          </a:bodyPr>
          <a:lstStyle/>
          <a:p>
            <a:pPr marL="39751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</a:rPr>
              <a:t>Data</a:t>
            </a:r>
            <a:r>
              <a:rPr dirty="0" sz="2800" spc="-125">
                <a:solidFill>
                  <a:srgbClr val="FF0000"/>
                </a:solidFill>
              </a:rPr>
              <a:t> </a:t>
            </a:r>
            <a:r>
              <a:rPr dirty="0" sz="2800">
                <a:solidFill>
                  <a:srgbClr val="FF0000"/>
                </a:solidFill>
              </a:rPr>
              <a:t>Mining:</a:t>
            </a:r>
            <a:r>
              <a:rPr dirty="0" sz="2800" spc="-114">
                <a:solidFill>
                  <a:srgbClr val="FF0000"/>
                </a:solidFill>
              </a:rPr>
              <a:t> </a:t>
            </a:r>
            <a:r>
              <a:rPr dirty="0" sz="2800" spc="-10">
                <a:solidFill>
                  <a:srgbClr val="FF0000"/>
                </a:solidFill>
              </a:rPr>
              <a:t>Concepts</a:t>
            </a:r>
            <a:r>
              <a:rPr dirty="0" sz="2800" spc="-150">
                <a:solidFill>
                  <a:srgbClr val="FF0000"/>
                </a:solidFill>
              </a:rPr>
              <a:t> </a:t>
            </a:r>
            <a:r>
              <a:rPr dirty="0" sz="2800">
                <a:solidFill>
                  <a:srgbClr val="FF0000"/>
                </a:solidFill>
              </a:rPr>
              <a:t>and</a:t>
            </a:r>
            <a:r>
              <a:rPr dirty="0" sz="2800" spc="-155">
                <a:solidFill>
                  <a:srgbClr val="FF0000"/>
                </a:solidFill>
              </a:rPr>
              <a:t> </a:t>
            </a:r>
            <a:r>
              <a:rPr dirty="0" sz="2800" spc="-10">
                <a:solidFill>
                  <a:srgbClr val="FF0000"/>
                </a:solidFill>
              </a:rPr>
              <a:t>Techniques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1469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Key</a:t>
            </a:r>
            <a:r>
              <a:rPr dirty="0" sz="3600" spc="-70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Concepts</a:t>
            </a:r>
            <a:r>
              <a:rPr dirty="0" sz="3600" spc="-6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for</a:t>
            </a:r>
            <a:r>
              <a:rPr dirty="0" sz="3600" spc="-80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Data</a:t>
            </a:r>
            <a:r>
              <a:rPr dirty="0" sz="3600" spc="-9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mining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83235" y="1416811"/>
            <a:ext cx="8249284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2800">
                <a:latin typeface="Tahoma"/>
                <a:cs typeface="Tahoma"/>
              </a:rPr>
              <a:t>Data  can  be</a:t>
            </a:r>
            <a:r>
              <a:rPr dirty="0" sz="2800" spc="-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classified</a:t>
            </a:r>
            <a:r>
              <a:rPr dirty="0" sz="2800" spc="-1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1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various  types</a:t>
            </a:r>
            <a:r>
              <a:rPr dirty="0" sz="2800" spc="5">
                <a:latin typeface="Tahoma"/>
                <a:cs typeface="Tahoma"/>
              </a:rPr>
              <a:t>  </a:t>
            </a:r>
            <a:r>
              <a:rPr dirty="0" sz="2800" spc="-20">
                <a:latin typeface="Tahoma"/>
                <a:cs typeface="Tahoma"/>
              </a:rPr>
              <a:t>like </a:t>
            </a:r>
            <a:r>
              <a:rPr dirty="0" sz="2800">
                <a:latin typeface="Tahoma"/>
                <a:cs typeface="Tahoma"/>
              </a:rPr>
              <a:t>nominal,</a:t>
            </a:r>
            <a:r>
              <a:rPr dirty="0" sz="2800" spc="3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ordinal,</a:t>
            </a:r>
            <a:r>
              <a:rPr dirty="0" sz="2800" spc="2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interval</a:t>
            </a:r>
            <a:r>
              <a:rPr dirty="0" sz="2800" spc="3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2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ratio,</a:t>
            </a:r>
            <a:r>
              <a:rPr dirty="0" sz="2800" spc="30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2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29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a </a:t>
            </a:r>
            <a:r>
              <a:rPr dirty="0" sz="2800">
                <a:latin typeface="Tahoma"/>
                <a:cs typeface="Tahoma"/>
              </a:rPr>
              <a:t>specific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role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analysis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technique.</a:t>
            </a:r>
            <a:endParaRPr sz="2800">
              <a:latin typeface="Tahoma"/>
              <a:cs typeface="Tahoma"/>
            </a:endParaRPr>
          </a:p>
          <a:p>
            <a:pPr algn="just" marL="469900" marR="1778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dirty="0" sz="2800" spc="-40">
                <a:latin typeface="Tahoma"/>
                <a:cs typeface="Tahoma"/>
              </a:rPr>
              <a:t>Higher-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4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2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types</a:t>
            </a:r>
            <a:r>
              <a:rPr dirty="0" sz="2800" spc="-2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like</a:t>
            </a:r>
            <a:r>
              <a:rPr dirty="0" sz="2800" spc="-30">
                <a:latin typeface="Tahoma"/>
                <a:cs typeface="Tahoma"/>
              </a:rPr>
              <a:t>  time-</a:t>
            </a:r>
            <a:r>
              <a:rPr dirty="0" sz="2800" spc="-10">
                <a:latin typeface="Tahoma"/>
                <a:cs typeface="Tahoma"/>
              </a:rPr>
              <a:t>series, </a:t>
            </a:r>
            <a:r>
              <a:rPr dirty="0" sz="2800">
                <a:latin typeface="Tahoma"/>
                <a:cs typeface="Tahoma"/>
              </a:rPr>
              <a:t>panel</a:t>
            </a:r>
            <a:r>
              <a:rPr dirty="0" sz="2800" spc="11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data,</a:t>
            </a:r>
            <a:r>
              <a:rPr dirty="0" sz="2800" spc="12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120">
                <a:latin typeface="Tahoma"/>
                <a:cs typeface="Tahoma"/>
              </a:rPr>
              <a:t>  </a:t>
            </a:r>
            <a:r>
              <a:rPr dirty="0" sz="2800" spc="-30">
                <a:latin typeface="Tahoma"/>
                <a:cs typeface="Tahoma"/>
              </a:rPr>
              <a:t>multi-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114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arrays</a:t>
            </a:r>
            <a:r>
              <a:rPr dirty="0" sz="2800" spc="120">
                <a:latin typeface="Tahoma"/>
                <a:cs typeface="Tahoma"/>
              </a:rPr>
              <a:t>  </a:t>
            </a:r>
            <a:r>
              <a:rPr dirty="0" sz="2800" spc="-25">
                <a:latin typeface="Tahoma"/>
                <a:cs typeface="Tahoma"/>
              </a:rPr>
              <a:t>are </a:t>
            </a:r>
            <a:r>
              <a:rPr dirty="0" sz="2800">
                <a:latin typeface="Tahoma"/>
                <a:cs typeface="Tahoma"/>
              </a:rPr>
              <a:t>also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critical.</a:t>
            </a:r>
            <a:endParaRPr sz="2800">
              <a:latin typeface="Tahoma"/>
              <a:cs typeface="Tahoma"/>
            </a:endParaRPr>
          </a:p>
          <a:p>
            <a:pPr algn="just" marL="469900" marR="10795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26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27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other</a:t>
            </a:r>
            <a:r>
              <a:rPr dirty="0" sz="2800" spc="27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hand,</a:t>
            </a:r>
            <a:r>
              <a:rPr dirty="0" sz="2800" spc="27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2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quality</a:t>
            </a:r>
            <a:r>
              <a:rPr dirty="0" sz="2800" spc="27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270">
                <a:latin typeface="Tahoma"/>
                <a:cs typeface="Tahoma"/>
              </a:rPr>
              <a:t>  </a:t>
            </a:r>
            <a:r>
              <a:rPr dirty="0" sz="2800" spc="-20">
                <a:latin typeface="Tahoma"/>
                <a:cs typeface="Tahoma"/>
              </a:rPr>
              <a:t>data </a:t>
            </a:r>
            <a:r>
              <a:rPr dirty="0" sz="2800">
                <a:latin typeface="Tahoma"/>
                <a:cs typeface="Tahoma"/>
              </a:rPr>
              <a:t>management</a:t>
            </a:r>
            <a:r>
              <a:rPr dirty="0" sz="2800" spc="48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48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key</a:t>
            </a:r>
            <a:r>
              <a:rPr dirty="0" sz="2800" spc="4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concepts</a:t>
            </a:r>
            <a:r>
              <a:rPr dirty="0" sz="2800" spc="4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4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ensure</a:t>
            </a:r>
            <a:r>
              <a:rPr dirty="0" sz="2800" spc="4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clean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3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reliable</a:t>
            </a:r>
            <a:r>
              <a:rPr dirty="0" sz="2800" spc="3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datasets.</a:t>
            </a:r>
            <a:r>
              <a:rPr dirty="0" sz="2800" spc="3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3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3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understanding</a:t>
            </a:r>
            <a:r>
              <a:rPr dirty="0" sz="2800" spc="34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these</a:t>
            </a:r>
            <a:r>
              <a:rPr dirty="0" sz="2800" spc="2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fundamental</a:t>
            </a:r>
            <a:r>
              <a:rPr dirty="0" sz="2800" spc="2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concepts,</a:t>
            </a:r>
            <a:r>
              <a:rPr dirty="0" sz="2800" spc="25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254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2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analyst</a:t>
            </a:r>
            <a:r>
              <a:rPr dirty="0" sz="2800" spc="2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can </a:t>
            </a:r>
            <a:r>
              <a:rPr dirty="0" sz="2800">
                <a:latin typeface="Tahoma"/>
                <a:cs typeface="Tahoma"/>
              </a:rPr>
              <a:t>transform</a:t>
            </a:r>
            <a:r>
              <a:rPr dirty="0" sz="2800" spc="-1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raw</a:t>
            </a:r>
            <a:r>
              <a:rPr dirty="0" sz="2800" spc="-1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-1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meaningful</a:t>
            </a:r>
            <a:r>
              <a:rPr dirty="0" sz="2800" spc="-1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insights.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3324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dirty="0" sz="3600" spc="-13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Arial"/>
                <a:cs typeface="Arial"/>
              </a:rPr>
              <a:t>Collection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07035" y="1523492"/>
            <a:ext cx="8162925" cy="5151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469900" algn="l"/>
              </a:tabLst>
            </a:pP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409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collection</a:t>
            </a:r>
            <a:r>
              <a:rPr dirty="0" sz="2800" spc="409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4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4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</a:t>
            </a:r>
            <a:r>
              <a:rPr dirty="0" sz="2800" spc="4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4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collecting</a:t>
            </a:r>
            <a:r>
              <a:rPr dirty="0" sz="2800" spc="42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>
                <a:latin typeface="Tahoma"/>
                <a:cs typeface="Tahoma"/>
              </a:rPr>
              <a:t>evaluating</a:t>
            </a:r>
            <a:r>
              <a:rPr dirty="0" sz="2800" spc="10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information</a:t>
            </a:r>
            <a:r>
              <a:rPr dirty="0" sz="2800" spc="10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10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11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from</a:t>
            </a:r>
            <a:r>
              <a:rPr dirty="0" sz="2800" spc="110">
                <a:latin typeface="Tahoma"/>
                <a:cs typeface="Tahoma"/>
              </a:rPr>
              <a:t>  </a:t>
            </a:r>
            <a:r>
              <a:rPr dirty="0" sz="2800" spc="-10">
                <a:latin typeface="Tahoma"/>
                <a:cs typeface="Tahoma"/>
              </a:rPr>
              <a:t>multiple </a:t>
            </a:r>
            <a:r>
              <a:rPr dirty="0" sz="2800">
                <a:latin typeface="Tahoma"/>
                <a:cs typeface="Tahoma"/>
              </a:rPr>
              <a:t>sources</a:t>
            </a:r>
            <a:r>
              <a:rPr dirty="0" sz="2800" spc="5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5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find</a:t>
            </a:r>
            <a:r>
              <a:rPr dirty="0" sz="2800" spc="509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answers</a:t>
            </a:r>
            <a:r>
              <a:rPr dirty="0" sz="2800" spc="5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5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research</a:t>
            </a:r>
            <a:r>
              <a:rPr dirty="0" sz="2800" spc="5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problems, </a:t>
            </a:r>
            <a:r>
              <a:rPr dirty="0" sz="2800">
                <a:latin typeface="Tahoma"/>
                <a:cs typeface="Tahoma"/>
              </a:rPr>
              <a:t>answer</a:t>
            </a:r>
            <a:r>
              <a:rPr dirty="0" sz="2800" spc="4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questions,</a:t>
            </a:r>
            <a:r>
              <a:rPr dirty="0" sz="2800" spc="4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evaluate</a:t>
            </a:r>
            <a:r>
              <a:rPr dirty="0" sz="2800" spc="484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outcomes,</a:t>
            </a:r>
            <a:r>
              <a:rPr dirty="0" sz="2800" spc="475">
                <a:latin typeface="Tahoma"/>
                <a:cs typeface="Tahoma"/>
              </a:rPr>
              <a:t> 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>
                <a:latin typeface="Tahoma"/>
                <a:cs typeface="Tahoma"/>
              </a:rPr>
              <a:t>forecast</a:t>
            </a:r>
            <a:r>
              <a:rPr dirty="0" sz="2800" spc="39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trends</a:t>
            </a:r>
            <a:r>
              <a:rPr dirty="0" sz="2800" spc="39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38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probabilities.</a:t>
            </a:r>
            <a:r>
              <a:rPr dirty="0" sz="2800" spc="40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3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395">
                <a:latin typeface="Tahoma"/>
                <a:cs typeface="Tahoma"/>
              </a:rPr>
              <a:t>  </a:t>
            </a:r>
            <a:r>
              <a:rPr dirty="0" sz="2800" spc="-25">
                <a:latin typeface="Tahoma"/>
                <a:cs typeface="Tahoma"/>
              </a:rPr>
              <a:t>an </a:t>
            </a:r>
            <a:r>
              <a:rPr dirty="0" sz="2800">
                <a:latin typeface="Tahoma"/>
                <a:cs typeface="Tahoma"/>
              </a:rPr>
              <a:t>essential phase</a:t>
            </a:r>
            <a:r>
              <a:rPr dirty="0" sz="2800" spc="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types</a:t>
            </a:r>
            <a:r>
              <a:rPr dirty="0" sz="2800" spc="1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research,</a:t>
            </a:r>
            <a:r>
              <a:rPr dirty="0" sz="2800" spc="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analysis,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270">
                <a:latin typeface="Tahoma"/>
                <a:cs typeface="Tahoma"/>
              </a:rPr>
              <a:t> </a:t>
            </a:r>
            <a:r>
              <a:rPr dirty="0" sz="2800" spc="-40">
                <a:latin typeface="Tahoma"/>
                <a:cs typeface="Tahoma"/>
              </a:rPr>
              <a:t>decision-</a:t>
            </a:r>
            <a:r>
              <a:rPr dirty="0" sz="2800">
                <a:latin typeface="Tahoma"/>
                <a:cs typeface="Tahoma"/>
              </a:rPr>
              <a:t>making,</a:t>
            </a:r>
            <a:r>
              <a:rPr dirty="0" sz="2800" spc="2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including</a:t>
            </a:r>
            <a:r>
              <a:rPr dirty="0" sz="2800" spc="2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2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done</a:t>
            </a:r>
            <a:r>
              <a:rPr dirty="0" sz="2800" spc="2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28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social</a:t>
            </a:r>
            <a:r>
              <a:rPr dirty="0" sz="2800" spc="-1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sciences,</a:t>
            </a:r>
            <a:r>
              <a:rPr dirty="0" sz="2800" spc="-1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business,</a:t>
            </a:r>
            <a:r>
              <a:rPr dirty="0" sz="2800" spc="-1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2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healthcare.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"/>
            </a:pPr>
            <a:endParaRPr sz="2800">
              <a:latin typeface="Tahoma"/>
              <a:cs typeface="Tahoma"/>
            </a:endParaRPr>
          </a:p>
          <a:p>
            <a:pPr algn="just" marL="469900" marR="8255" indent="-457200">
              <a:lnSpc>
                <a:spcPct val="100000"/>
              </a:lnSpc>
              <a:buFont typeface="Wingdings"/>
              <a:buChar char=""/>
              <a:tabLst>
                <a:tab pos="469900" algn="l"/>
              </a:tabLst>
            </a:pPr>
            <a:r>
              <a:rPr dirty="0" sz="2800">
                <a:latin typeface="Tahoma"/>
                <a:cs typeface="Tahoma"/>
              </a:rPr>
              <a:t>During</a:t>
            </a:r>
            <a:r>
              <a:rPr dirty="0" sz="2800" spc="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collection,</a:t>
            </a:r>
            <a:r>
              <a:rPr dirty="0" sz="2800" spc="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researchers</a:t>
            </a:r>
            <a:r>
              <a:rPr dirty="0" sz="2800" spc="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must</a:t>
            </a:r>
            <a:r>
              <a:rPr dirty="0" sz="2800" spc="3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identify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6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data</a:t>
            </a:r>
            <a:r>
              <a:rPr dirty="0" sz="2800" spc="6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types,</a:t>
            </a:r>
            <a:r>
              <a:rPr dirty="0" sz="2800" spc="-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6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sources</a:t>
            </a:r>
            <a:r>
              <a:rPr dirty="0" sz="2800" spc="-85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9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data,</a:t>
            </a:r>
            <a:r>
              <a:rPr dirty="0" sz="2800" spc="-80">
                <a:latin typeface="Tahoma"/>
                <a:cs typeface="Tahoma"/>
              </a:rPr>
              <a:t> 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80">
                <a:latin typeface="Tahoma"/>
                <a:cs typeface="Tahoma"/>
              </a:rPr>
              <a:t> 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methods</a:t>
            </a:r>
            <a:r>
              <a:rPr dirty="0" sz="2800" spc="-1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being</a:t>
            </a:r>
            <a:r>
              <a:rPr dirty="0" sz="2800" spc="-15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used.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2539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Exploration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21309" y="1585086"/>
            <a:ext cx="855472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Exploration  of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is  a</a:t>
            </a:r>
            <a:r>
              <a:rPr dirty="0" sz="2400" spc="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key</a:t>
            </a:r>
            <a:r>
              <a:rPr dirty="0" sz="2400" spc="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concept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1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5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analysts </a:t>
            </a:r>
            <a:r>
              <a:rPr dirty="0" sz="2400">
                <a:latin typeface="Tahoma"/>
                <a:cs typeface="Tahoma"/>
              </a:rPr>
              <a:t>leverage</a:t>
            </a:r>
            <a:r>
              <a:rPr dirty="0" sz="2400" spc="27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27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understand</a:t>
            </a:r>
            <a:r>
              <a:rPr dirty="0" sz="2400" spc="27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2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interpret</a:t>
            </a:r>
            <a:r>
              <a:rPr dirty="0" sz="2400" spc="27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270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effectively. </a:t>
            </a:r>
            <a:r>
              <a:rPr dirty="0" sz="2400">
                <a:latin typeface="Tahoma"/>
                <a:cs typeface="Tahoma"/>
              </a:rPr>
              <a:t>Typically,</a:t>
            </a:r>
            <a:r>
              <a:rPr dirty="0" sz="2400" spc="409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4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exploration</a:t>
            </a:r>
            <a:r>
              <a:rPr dirty="0" sz="2400" spc="409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process</a:t>
            </a:r>
            <a:r>
              <a:rPr dirty="0" sz="2400" spc="42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involves</a:t>
            </a:r>
            <a:r>
              <a:rPr dirty="0" sz="2400" spc="420">
                <a:latin typeface="Tahoma"/>
                <a:cs typeface="Tahoma"/>
              </a:rPr>
              <a:t> 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discerning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4209" y="2682621"/>
            <a:ext cx="6471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56385" algn="l"/>
                <a:tab pos="3301365" algn="l"/>
                <a:tab pos="5085080" algn="l"/>
              </a:tabLst>
            </a:pP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patterns,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identifying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anomalies,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examining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4209" y="2682621"/>
            <a:ext cx="82130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790055">
              <a:lnSpc>
                <a:spcPct val="100000"/>
              </a:lnSpc>
              <a:spcBef>
                <a:spcPts val="100"/>
              </a:spcBef>
              <a:tabLst>
                <a:tab pos="1740535" algn="l"/>
                <a:tab pos="2539365" algn="l"/>
                <a:tab pos="3746500" algn="l"/>
                <a:tab pos="5569585" algn="l"/>
                <a:tab pos="6645909" algn="l"/>
                <a:tab pos="7639050" algn="l"/>
              </a:tabLst>
            </a:pP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underlying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structures,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testing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hypothesis</a:t>
            </a:r>
            <a:r>
              <a:rPr dirty="0" sz="2400" spc="-10">
                <a:latin typeface="Tahoma"/>
                <a:cs typeface="Tahoma"/>
              </a:rPr>
              <a:t>,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10">
                <a:latin typeface="Tahoma"/>
                <a:cs typeface="Tahoma"/>
              </a:rPr>
              <a:t>which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10">
                <a:latin typeface="Tahoma"/>
                <a:cs typeface="Tahoma"/>
              </a:rPr>
              <a:t>often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400" spc="-30">
                <a:latin typeface="Tahoma"/>
                <a:cs typeface="Tahoma"/>
              </a:rPr>
              <a:t>gets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1309" y="3414141"/>
            <a:ext cx="855599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accomplished</a:t>
            </a:r>
            <a:r>
              <a:rPr dirty="0" sz="2400" spc="5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via</a:t>
            </a:r>
            <a:r>
              <a:rPr dirty="0" sz="2400" spc="520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descriptive</a:t>
            </a:r>
            <a:r>
              <a:rPr dirty="0" sz="2400" spc="5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statistics,</a:t>
            </a:r>
            <a:r>
              <a:rPr dirty="0" sz="2400" spc="5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visual</a:t>
            </a:r>
            <a:r>
              <a:rPr dirty="0" sz="2400" spc="5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methods,</a:t>
            </a:r>
            <a:r>
              <a:rPr dirty="0" sz="2400" spc="5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FF0000"/>
                </a:solidFill>
                <a:latin typeface="Tahoma"/>
                <a:cs typeface="Tahoma"/>
              </a:rPr>
              <a:t>or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sophisticated</a:t>
            </a:r>
            <a:r>
              <a:rPr dirty="0" sz="2400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algorithms.</a:t>
            </a:r>
            <a:endParaRPr sz="2400">
              <a:latin typeface="Tahoma"/>
              <a:cs typeface="Tahoma"/>
            </a:endParaRPr>
          </a:p>
          <a:p>
            <a:pPr algn="just" marL="355600" marR="6350" indent="-342900">
              <a:lnSpc>
                <a:spcPct val="100000"/>
              </a:lnSpc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It's</a:t>
            </a:r>
            <a:r>
              <a:rPr dirty="0" sz="2400" spc="6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fundamental</a:t>
            </a:r>
            <a:r>
              <a:rPr dirty="0" sz="2400" spc="50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stepping-</a:t>
            </a:r>
            <a:r>
              <a:rPr dirty="0" sz="2400">
                <a:latin typeface="Tahoma"/>
                <a:cs typeface="Tahoma"/>
              </a:rPr>
              <a:t>stone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any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65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analyst, </a:t>
            </a:r>
            <a:r>
              <a:rPr dirty="0" sz="2400">
                <a:latin typeface="Tahoma"/>
                <a:cs typeface="Tahoma"/>
              </a:rPr>
              <a:t>ultimately</a:t>
            </a:r>
            <a:r>
              <a:rPr dirty="0" sz="2400" spc="3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guiding</a:t>
            </a:r>
            <a:r>
              <a:rPr dirty="0" sz="2400" spc="3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them</a:t>
            </a:r>
            <a:r>
              <a:rPr dirty="0" sz="2400" spc="3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3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shaping</a:t>
            </a:r>
            <a:r>
              <a:rPr dirty="0" sz="2400" spc="3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3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direction</a:t>
            </a:r>
            <a:r>
              <a:rPr dirty="0" sz="2400" spc="3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3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further </a:t>
            </a:r>
            <a:r>
              <a:rPr dirty="0" sz="2400">
                <a:latin typeface="Tahoma"/>
                <a:cs typeface="Tahoma"/>
              </a:rPr>
              <a:t>analysis</a:t>
            </a:r>
            <a:r>
              <a:rPr dirty="0" sz="2400" spc="3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3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modeling.</a:t>
            </a:r>
            <a:r>
              <a:rPr dirty="0" sz="2400" spc="3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This</a:t>
            </a:r>
            <a:r>
              <a:rPr dirty="0" sz="2400" spc="3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concept</a:t>
            </a:r>
            <a:r>
              <a:rPr dirty="0" sz="2400" spc="3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serves</a:t>
            </a:r>
            <a:r>
              <a:rPr dirty="0" sz="2400" spc="4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3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3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foundation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5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dealing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6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complexities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60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uncertainties</a:t>
            </a:r>
            <a:r>
              <a:rPr dirty="0" sz="2400" spc="55">
                <a:latin typeface="Tahoma"/>
                <a:cs typeface="Tahoma"/>
              </a:rPr>
              <a:t> 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50">
                <a:latin typeface="Tahoma"/>
                <a:cs typeface="Tahoma"/>
              </a:rPr>
              <a:t>  </a:t>
            </a:r>
            <a:r>
              <a:rPr dirty="0" sz="2400" spc="-10">
                <a:latin typeface="Tahoma"/>
                <a:cs typeface="Tahoma"/>
              </a:rPr>
              <a:t>data, </a:t>
            </a:r>
            <a:r>
              <a:rPr dirty="0" sz="2400">
                <a:latin typeface="Tahoma"/>
                <a:cs typeface="Tahoma"/>
              </a:rPr>
              <a:t>hence</a:t>
            </a:r>
            <a:r>
              <a:rPr dirty="0" sz="2400" spc="5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improving</a:t>
            </a:r>
            <a:r>
              <a:rPr dirty="0" sz="2400" spc="5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decision-</a:t>
            </a:r>
            <a:r>
              <a:rPr dirty="0" sz="2400">
                <a:latin typeface="Tahoma"/>
                <a:cs typeface="Tahoma"/>
              </a:rPr>
              <a:t>making</a:t>
            </a:r>
            <a:r>
              <a:rPr dirty="0" sz="2400" spc="5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5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various</a:t>
            </a:r>
            <a:r>
              <a:rPr dirty="0" sz="2400" spc="5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fields</a:t>
            </a:r>
            <a:r>
              <a:rPr dirty="0" sz="2400" spc="5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ranging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business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finance</a:t>
            </a:r>
            <a:r>
              <a:rPr dirty="0" sz="2400" spc="-10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healthcare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social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sciences.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24511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Arial"/>
                <a:cs typeface="Arial"/>
              </a:rPr>
              <a:t>Machine</a:t>
            </a:r>
            <a:r>
              <a:rPr dirty="0" spc="-9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pc="-10">
                <a:solidFill>
                  <a:srgbClr val="FF0000"/>
                </a:solidFill>
                <a:latin typeface="Arial"/>
                <a:cs typeface="Arial"/>
              </a:rPr>
              <a:t>Learning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573735" y="1572895"/>
            <a:ext cx="828675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1016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 sz="2400" b="1">
                <a:latin typeface="Arial"/>
                <a:cs typeface="Arial"/>
              </a:rPr>
              <a:t>Machine</a:t>
            </a:r>
            <a:r>
              <a:rPr dirty="0" sz="2400" spc="20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learning,</a:t>
            </a:r>
            <a:r>
              <a:rPr dirty="0" sz="2400" spc="21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20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subset</a:t>
            </a:r>
            <a:r>
              <a:rPr dirty="0" sz="2400" spc="21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20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artificial</a:t>
            </a:r>
            <a:r>
              <a:rPr dirty="0" sz="2400" spc="20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intelligence,</a:t>
            </a:r>
            <a:r>
              <a:rPr dirty="0" sz="2400" spc="21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is </a:t>
            </a:r>
            <a:r>
              <a:rPr dirty="0" sz="2400" b="1">
                <a:latin typeface="Arial"/>
                <a:cs typeface="Arial"/>
              </a:rPr>
              <a:t>an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indispensable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tool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in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hands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 a</a:t>
            </a:r>
            <a:r>
              <a:rPr dirty="0" sz="2400" spc="-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data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analyst.</a:t>
            </a:r>
            <a:endParaRPr sz="2400">
              <a:latin typeface="Arial"/>
              <a:cs typeface="Arial"/>
            </a:endParaRPr>
          </a:p>
          <a:p>
            <a:pPr algn="just" marL="355600" marR="889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2400" spc="3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provides</a:t>
            </a:r>
            <a:r>
              <a:rPr dirty="0" sz="2400" spc="3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dirty="0" sz="2400" spc="3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ability</a:t>
            </a:r>
            <a:r>
              <a:rPr dirty="0" sz="2400" spc="3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400" spc="3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automatically</a:t>
            </a:r>
            <a:r>
              <a:rPr dirty="0" sz="2400" spc="3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learn,</a:t>
            </a:r>
            <a:r>
              <a:rPr dirty="0" sz="2400" spc="3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improve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from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experience</a:t>
            </a:r>
            <a:r>
              <a:rPr dirty="0" sz="2400" spc="-15" b="1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make</a:t>
            </a:r>
            <a:r>
              <a:rPr dirty="0" sz="2400" spc="-5" b="1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decisions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without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  being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explicitly</a:t>
            </a:r>
            <a:r>
              <a:rPr dirty="0" sz="24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programmed.</a:t>
            </a:r>
            <a:endParaRPr sz="2400">
              <a:latin typeface="Arial"/>
              <a:cs typeface="Arial"/>
            </a:endParaRPr>
          </a:p>
          <a:p>
            <a:pPr algn="just" marL="355600" marR="508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dirty="0" sz="2400" b="1">
                <a:latin typeface="Arial"/>
                <a:cs typeface="Arial"/>
              </a:rPr>
              <a:t>In</a:t>
            </a:r>
            <a:r>
              <a:rPr dirty="0" sz="2400" spc="3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4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context</a:t>
            </a:r>
            <a:r>
              <a:rPr dirty="0" sz="2400" spc="50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4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50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data</a:t>
            </a:r>
            <a:r>
              <a:rPr dirty="0" sz="2400" spc="40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analyst,</a:t>
            </a:r>
            <a:r>
              <a:rPr dirty="0" sz="2400" spc="55" b="1">
                <a:latin typeface="Arial"/>
                <a:cs typeface="Arial"/>
              </a:rPr>
              <a:t>  </a:t>
            </a:r>
            <a:r>
              <a:rPr dirty="0" sz="2400" b="1">
                <a:latin typeface="Arial"/>
                <a:cs typeface="Arial"/>
              </a:rPr>
              <a:t>machine</a:t>
            </a:r>
            <a:r>
              <a:rPr dirty="0" sz="2400" spc="40" b="1">
                <a:latin typeface="Arial"/>
                <a:cs typeface="Arial"/>
              </a:rPr>
              <a:t>  </a:t>
            </a:r>
            <a:r>
              <a:rPr dirty="0" sz="2400" spc="-10" b="1">
                <a:latin typeface="Arial"/>
                <a:cs typeface="Arial"/>
              </a:rPr>
              <a:t>learning </a:t>
            </a:r>
            <a:r>
              <a:rPr dirty="0" sz="2400" b="1">
                <a:latin typeface="Arial"/>
                <a:cs typeface="Arial"/>
              </a:rPr>
              <a:t>contributes</a:t>
            </a:r>
            <a:r>
              <a:rPr dirty="0" sz="2400" spc="355" b="1">
                <a:latin typeface="Arial"/>
                <a:cs typeface="Arial"/>
              </a:rPr>
              <a:t>   </a:t>
            </a:r>
            <a:r>
              <a:rPr dirty="0" sz="2400" b="1">
                <a:latin typeface="Arial"/>
                <a:cs typeface="Arial"/>
              </a:rPr>
              <a:t>significantly</a:t>
            </a:r>
            <a:r>
              <a:rPr dirty="0" sz="2400" spc="345" b="1">
                <a:latin typeface="Arial"/>
                <a:cs typeface="Arial"/>
              </a:rPr>
              <a:t>   </a:t>
            </a:r>
            <a:r>
              <a:rPr dirty="0" sz="2400" b="1">
                <a:latin typeface="Arial"/>
                <a:cs typeface="Arial"/>
              </a:rPr>
              <a:t>in</a:t>
            </a:r>
            <a:r>
              <a:rPr dirty="0" sz="2400" spc="350" b="1">
                <a:latin typeface="Arial"/>
                <a:cs typeface="Arial"/>
              </a:rPr>
              <a:t>   </a:t>
            </a:r>
            <a:r>
              <a:rPr dirty="0" sz="2400" b="1">
                <a:latin typeface="Arial"/>
                <a:cs typeface="Arial"/>
              </a:rPr>
              <a:t>uncovering</a:t>
            </a:r>
            <a:r>
              <a:rPr dirty="0" sz="2400" spc="355" b="1">
                <a:latin typeface="Arial"/>
                <a:cs typeface="Arial"/>
              </a:rPr>
              <a:t>   </a:t>
            </a:r>
            <a:r>
              <a:rPr dirty="0" sz="2400" spc="-10" b="1">
                <a:latin typeface="Arial"/>
                <a:cs typeface="Arial"/>
              </a:rPr>
              <a:t>hidden </a:t>
            </a:r>
            <a:r>
              <a:rPr dirty="0" sz="2400" b="1">
                <a:latin typeface="Arial"/>
                <a:cs typeface="Arial"/>
              </a:rPr>
              <a:t>insights,</a:t>
            </a:r>
            <a:r>
              <a:rPr dirty="0" sz="2400" spc="42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recognising</a:t>
            </a:r>
            <a:r>
              <a:rPr dirty="0" sz="2400" spc="43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patterns</a:t>
            </a:r>
            <a:r>
              <a:rPr dirty="0" sz="2400" spc="43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or</a:t>
            </a:r>
            <a:r>
              <a:rPr dirty="0" sz="2400" spc="434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making</a:t>
            </a:r>
            <a:r>
              <a:rPr dirty="0" sz="2400" spc="434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predictions </a:t>
            </a:r>
            <a:r>
              <a:rPr dirty="0" sz="2400" b="1">
                <a:latin typeface="Arial"/>
                <a:cs typeface="Arial"/>
              </a:rPr>
              <a:t>based</a:t>
            </a:r>
            <a:r>
              <a:rPr dirty="0" sz="2400" spc="30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on</a:t>
            </a:r>
            <a:r>
              <a:rPr dirty="0" sz="2400" spc="32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large</a:t>
            </a:r>
            <a:r>
              <a:rPr dirty="0" sz="2400" spc="30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amounts</a:t>
            </a:r>
            <a:r>
              <a:rPr dirty="0" sz="2400" spc="3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31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data.</a:t>
            </a:r>
            <a:r>
              <a:rPr dirty="0" sz="2400" spc="3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Through</a:t>
            </a:r>
            <a:r>
              <a:rPr dirty="0" sz="2400" spc="3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31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use</a:t>
            </a:r>
            <a:r>
              <a:rPr dirty="0" sz="2400" spc="315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of </a:t>
            </a:r>
            <a:r>
              <a:rPr dirty="0" sz="2400" b="1">
                <a:latin typeface="Arial"/>
                <a:cs typeface="Arial"/>
              </a:rPr>
              <a:t>varying</a:t>
            </a:r>
            <a:r>
              <a:rPr dirty="0" sz="2400" spc="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algorithms</a:t>
            </a:r>
            <a:r>
              <a:rPr dirty="0" sz="2400" spc="3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and</a:t>
            </a:r>
            <a:r>
              <a:rPr dirty="0" sz="2400" spc="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models,</a:t>
            </a:r>
            <a:r>
              <a:rPr dirty="0" sz="2400" spc="60" b="1"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dirty="0" sz="2400" spc="4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analysts</a:t>
            </a:r>
            <a:r>
              <a:rPr dirty="0" sz="2400" spc="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are</a:t>
            </a:r>
            <a:r>
              <a:rPr dirty="0" sz="2400" spc="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able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400" spc="1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leverage</a:t>
            </a:r>
            <a:r>
              <a:rPr dirty="0" sz="2400" spc="17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machine</a:t>
            </a:r>
            <a:r>
              <a:rPr dirty="0" sz="2400" spc="1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learning</a:t>
            </a:r>
            <a:r>
              <a:rPr dirty="0" sz="2400" spc="1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dirty="0" sz="2400" spc="1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convert</a:t>
            </a:r>
            <a:r>
              <a:rPr dirty="0" sz="2400" spc="17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raw</a:t>
            </a:r>
            <a:r>
              <a:rPr dirty="0" sz="2400" spc="1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dirty="0" sz="2400" spc="1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0000"/>
                </a:solidFill>
                <a:latin typeface="Arial"/>
                <a:cs typeface="Arial"/>
              </a:rPr>
              <a:t>into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meaningful</a:t>
            </a:r>
            <a:r>
              <a:rPr dirty="0" sz="2400" spc="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information,</a:t>
            </a:r>
            <a:r>
              <a:rPr dirty="0" sz="2400" spc="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making</a:t>
            </a:r>
            <a:r>
              <a:rPr dirty="0" sz="2400" spc="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dirty="0" sz="2400" spc="9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2400" spc="8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critical</a:t>
            </a:r>
            <a:r>
              <a:rPr dirty="0" sz="2400" spc="10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concept</a:t>
            </a:r>
            <a:r>
              <a:rPr dirty="0" sz="2400" spc="8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FF0000"/>
                </a:solidFill>
                <a:latin typeface="Arial"/>
                <a:cs typeface="Arial"/>
              </a:rPr>
              <a:t>in </a:t>
            </a:r>
            <a:r>
              <a:rPr dirty="0" sz="2400" b="1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dirty="0" sz="24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Arial"/>
                <a:cs typeface="Arial"/>
              </a:rPr>
              <a:t>analysis.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0359" rIns="0" bIns="0" rtlCol="0" vert="horz">
            <a:spAutoFit/>
          </a:bodyPr>
          <a:lstStyle/>
          <a:p>
            <a:pPr marL="2442845">
              <a:lnSpc>
                <a:spcPct val="100000"/>
              </a:lnSpc>
              <a:spcBef>
                <a:spcPts val="105"/>
              </a:spcBef>
            </a:pPr>
            <a:r>
              <a:rPr dirty="0"/>
              <a:t>Why</a:t>
            </a:r>
            <a:r>
              <a:rPr dirty="0" spc="-45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Mining?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60044" y="1219301"/>
            <a:ext cx="8353425" cy="489140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algn="r" marL="342265" marR="1354455" indent="-342265">
              <a:lnSpc>
                <a:spcPct val="100000"/>
              </a:lnSpc>
              <a:spcBef>
                <a:spcPts val="130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42265" algn="l"/>
              </a:tabLst>
            </a:pP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Explosive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Growth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Data: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terabytes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petabytes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120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collection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availability</a:t>
            </a:r>
            <a:endParaRPr sz="2000">
              <a:latin typeface="Tahoma"/>
              <a:cs typeface="Tahoma"/>
            </a:endParaRPr>
          </a:p>
          <a:p>
            <a:pPr lvl="2" marL="1155065" marR="820419" indent="-228600">
              <a:lnSpc>
                <a:spcPct val="130000"/>
              </a:lnSpc>
              <a:spcBef>
                <a:spcPts val="13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Automated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collection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tools,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database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systems,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Web, </a:t>
            </a:r>
            <a:r>
              <a:rPr dirty="0" sz="2000">
                <a:latin typeface="Tahoma"/>
                <a:cs typeface="Tahoma"/>
              </a:rPr>
              <a:t>computerized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society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156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Major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sources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abundant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  <a:p>
            <a:pPr algn="r" lvl="2" marL="227965" marR="1280795" indent="-2279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227965" algn="l"/>
              </a:tabLst>
            </a:pPr>
            <a:r>
              <a:rPr dirty="0" sz="2000">
                <a:latin typeface="Tahoma"/>
                <a:cs typeface="Tahoma"/>
              </a:rPr>
              <a:t>Business: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Web,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e-commerce,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transactions,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stocks,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…</a:t>
            </a:r>
            <a:endParaRPr sz="2000">
              <a:latin typeface="Tahoma"/>
              <a:cs typeface="Tahoma"/>
            </a:endParaRPr>
          </a:p>
          <a:p>
            <a:pPr lvl="2" marL="1155065" indent="-2286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Science: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Remote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sensing,</a:t>
            </a:r>
            <a:r>
              <a:rPr dirty="0" sz="2000" spc="-1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bioinformatics,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scientific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simulation,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…</a:t>
            </a:r>
            <a:endParaRPr sz="2000">
              <a:latin typeface="Tahoma"/>
              <a:cs typeface="Tahoma"/>
            </a:endParaRPr>
          </a:p>
          <a:p>
            <a:pPr lvl="2" marL="1155065" indent="-228600">
              <a:lnSpc>
                <a:spcPct val="100000"/>
              </a:lnSpc>
              <a:spcBef>
                <a:spcPts val="120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065" algn="l"/>
              </a:tabLst>
            </a:pPr>
            <a:r>
              <a:rPr dirty="0" sz="2000">
                <a:latin typeface="Tahoma"/>
                <a:cs typeface="Tahoma"/>
              </a:rPr>
              <a:t>Society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everyone: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news,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digital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cameras,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YouTube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We</a:t>
            </a:r>
            <a:r>
              <a:rPr dirty="0" u="sng" sz="2000" spc="-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are</a:t>
            </a:r>
            <a:r>
              <a:rPr dirty="0" u="sng" sz="20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drowning</a:t>
            </a:r>
            <a:r>
              <a:rPr dirty="0" u="sng" sz="2000" spc="-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</a:t>
            </a:r>
            <a:r>
              <a:rPr dirty="0" u="sng" sz="20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data,</a:t>
            </a:r>
            <a:r>
              <a:rPr dirty="0" u="sng" sz="2000" spc="-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but</a:t>
            </a:r>
            <a:r>
              <a:rPr dirty="0" u="sng" sz="20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starving</a:t>
            </a:r>
            <a:r>
              <a:rPr dirty="0" u="sng" sz="2000" spc="-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for</a:t>
            </a:r>
            <a:r>
              <a:rPr dirty="0" u="sng" sz="20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knowledge!</a:t>
            </a:r>
            <a:endParaRPr sz="2000">
              <a:latin typeface="Tahoma"/>
              <a:cs typeface="Tahoma"/>
            </a:endParaRPr>
          </a:p>
          <a:p>
            <a:pPr marL="355600" marR="761365" indent="-342900">
              <a:lnSpc>
                <a:spcPct val="130100"/>
              </a:lnSpc>
              <a:spcBef>
                <a:spcPts val="13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“Necessity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mother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invention”—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mining—</a:t>
            </a:r>
            <a:r>
              <a:rPr dirty="0" sz="2000" spc="-10">
                <a:latin typeface="Tahoma"/>
                <a:cs typeface="Tahoma"/>
              </a:rPr>
              <a:t>Automated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massive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sets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32430" y="369188"/>
            <a:ext cx="434530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Evolution</a:t>
            </a:r>
            <a:r>
              <a:rPr dirty="0" spc="-85"/>
              <a:t> </a:t>
            </a:r>
            <a:r>
              <a:rPr dirty="0"/>
              <a:t>of </a:t>
            </a:r>
            <a:r>
              <a:rPr dirty="0" spc="-10"/>
              <a:t>Sciences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83844" y="1174140"/>
            <a:ext cx="8275955" cy="515810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1600">
                <a:latin typeface="Tahoma"/>
                <a:cs typeface="Tahoma"/>
              </a:rPr>
              <a:t>Before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1600,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b="1">
                <a:latin typeface="Tahoma"/>
                <a:cs typeface="Tahoma"/>
              </a:rPr>
              <a:t>empirical</a:t>
            </a:r>
            <a:r>
              <a:rPr dirty="0" sz="1600" spc="-65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science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1600" spc="-30">
                <a:latin typeface="Tahoma"/>
                <a:cs typeface="Tahoma"/>
              </a:rPr>
              <a:t>1600-</a:t>
            </a:r>
            <a:r>
              <a:rPr dirty="0" sz="1600">
                <a:latin typeface="Tahoma"/>
                <a:cs typeface="Tahoma"/>
              </a:rPr>
              <a:t>1950s,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b="1">
                <a:latin typeface="Tahoma"/>
                <a:cs typeface="Tahoma"/>
              </a:rPr>
              <a:t>theoretical</a:t>
            </a:r>
            <a:r>
              <a:rPr dirty="0" sz="1600" spc="-15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science</a:t>
            </a:r>
            <a:endParaRPr sz="1600">
              <a:latin typeface="Tahoma"/>
              <a:cs typeface="Tahoma"/>
            </a:endParaRPr>
          </a:p>
          <a:p>
            <a:pPr lvl="1" marL="756285" marR="690245" indent="-287020">
              <a:lnSpc>
                <a:spcPct val="110400"/>
              </a:lnSpc>
              <a:spcBef>
                <a:spcPts val="284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Each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discipline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has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grown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theoretical</a:t>
            </a:r>
            <a:r>
              <a:rPr dirty="0" sz="1650" spc="-10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component.</a:t>
            </a:r>
            <a:r>
              <a:rPr dirty="0" sz="1600" spc="-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Theoretical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models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often </a:t>
            </a:r>
            <a:r>
              <a:rPr dirty="0" sz="1600">
                <a:latin typeface="Tahoma"/>
                <a:cs typeface="Tahoma"/>
              </a:rPr>
              <a:t>motivate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experiments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generalize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our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understanding.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1600" spc="-30">
                <a:latin typeface="Tahoma"/>
                <a:cs typeface="Tahoma"/>
              </a:rPr>
              <a:t>1950s-</a:t>
            </a:r>
            <a:r>
              <a:rPr dirty="0" sz="1600">
                <a:latin typeface="Tahoma"/>
                <a:cs typeface="Tahoma"/>
              </a:rPr>
              <a:t>1990s,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computational</a:t>
            </a:r>
            <a:r>
              <a:rPr dirty="0" sz="1600" spc="10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science</a:t>
            </a:r>
            <a:endParaRPr sz="16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275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Over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last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50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years,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most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disciplines</a:t>
            </a:r>
            <a:r>
              <a:rPr dirty="0" sz="1600" spc="-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have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grown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third,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computational</a:t>
            </a:r>
            <a:r>
              <a:rPr dirty="0" sz="1650" spc="-10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branch</a:t>
            </a:r>
            <a:endParaRPr sz="16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  <a:spcBef>
                <a:spcPts val="180"/>
              </a:spcBef>
            </a:pPr>
            <a:r>
              <a:rPr dirty="0" sz="1600">
                <a:latin typeface="Tahoma"/>
                <a:cs typeface="Tahoma"/>
              </a:rPr>
              <a:t>(e.g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r>
              <a:rPr dirty="0" sz="1600" spc="-11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empirical,</a:t>
            </a:r>
            <a:r>
              <a:rPr dirty="0" sz="1600" spc="-9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theoretical,</a:t>
            </a:r>
            <a:r>
              <a:rPr dirty="0" sz="16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dirty="0" sz="1600" spc="-1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computational</a:t>
            </a:r>
            <a:r>
              <a:rPr dirty="0" sz="1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ecology,</a:t>
            </a:r>
            <a:r>
              <a:rPr dirty="0" sz="1600" spc="-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dirty="0" sz="1600" spc="-10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physics,</a:t>
            </a:r>
            <a:r>
              <a:rPr dirty="0" sz="1600" spc="-7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dirty="0" sz="1600" spc="-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Tahoma"/>
                <a:cs typeface="Tahoma"/>
              </a:rPr>
              <a:t>linguistics</a:t>
            </a:r>
            <a:r>
              <a:rPr dirty="0" sz="1600" spc="-10">
                <a:latin typeface="Tahoma"/>
                <a:cs typeface="Tahoma"/>
              </a:rPr>
              <a:t>.)</a:t>
            </a:r>
            <a:endParaRPr sz="1600">
              <a:latin typeface="Tahoma"/>
              <a:cs typeface="Tahoma"/>
            </a:endParaRPr>
          </a:p>
          <a:p>
            <a:pPr lvl="1" marL="756285" marR="123825" indent="-287020">
              <a:lnSpc>
                <a:spcPct val="110600"/>
              </a:lnSpc>
              <a:spcBef>
                <a:spcPts val="590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Computational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Science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traditionally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meant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simulation.</a:t>
            </a:r>
            <a:r>
              <a:rPr dirty="0" sz="1600" spc="-6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It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grew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out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our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inability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25">
                <a:latin typeface="Tahoma"/>
                <a:cs typeface="Tahoma"/>
              </a:rPr>
              <a:t>to </a:t>
            </a:r>
            <a:r>
              <a:rPr dirty="0" sz="1600">
                <a:latin typeface="Tahoma"/>
                <a:cs typeface="Tahoma"/>
              </a:rPr>
              <a:t>find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40">
                <a:latin typeface="Tahoma"/>
                <a:cs typeface="Tahoma"/>
              </a:rPr>
              <a:t>closed-</a:t>
            </a:r>
            <a:r>
              <a:rPr dirty="0" sz="1600">
                <a:latin typeface="Tahoma"/>
                <a:cs typeface="Tahoma"/>
              </a:rPr>
              <a:t>form</a:t>
            </a:r>
            <a:r>
              <a:rPr dirty="0" sz="1600" spc="30"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solutions</a:t>
            </a:r>
            <a:r>
              <a:rPr dirty="0" sz="16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for</a:t>
            </a:r>
            <a:r>
              <a:rPr dirty="0" sz="1600" spc="-7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complex</a:t>
            </a:r>
            <a:r>
              <a:rPr dirty="0" sz="16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mathematical</a:t>
            </a:r>
            <a:r>
              <a:rPr dirty="0" sz="1600" spc="-6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Tahoma"/>
                <a:cs typeface="Tahoma"/>
              </a:rPr>
              <a:t>models</a:t>
            </a:r>
            <a:r>
              <a:rPr dirty="0" sz="1600" spc="-1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1600" spc="-30">
                <a:latin typeface="Tahoma"/>
                <a:cs typeface="Tahoma"/>
              </a:rPr>
              <a:t>1990-</a:t>
            </a:r>
            <a:r>
              <a:rPr dirty="0" sz="1600">
                <a:latin typeface="Tahoma"/>
                <a:cs typeface="Tahoma"/>
              </a:rPr>
              <a:t>now,</a:t>
            </a:r>
            <a:r>
              <a:rPr dirty="0" sz="1600" spc="10">
                <a:latin typeface="Tahoma"/>
                <a:cs typeface="Tahoma"/>
              </a:rPr>
              <a:t> </a:t>
            </a:r>
            <a:r>
              <a:rPr dirty="0" sz="1600" b="1">
                <a:latin typeface="Tahoma"/>
                <a:cs typeface="Tahoma"/>
              </a:rPr>
              <a:t>data</a:t>
            </a:r>
            <a:r>
              <a:rPr dirty="0" sz="1600" spc="-15" b="1">
                <a:latin typeface="Tahoma"/>
                <a:cs typeface="Tahoma"/>
              </a:rPr>
              <a:t> </a:t>
            </a:r>
            <a:r>
              <a:rPr dirty="0" sz="1600" spc="-10" b="1">
                <a:latin typeface="Tahoma"/>
                <a:cs typeface="Tahoma"/>
              </a:rPr>
              <a:t>science</a:t>
            </a:r>
            <a:endParaRPr sz="16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605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flood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data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from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new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scientific</a:t>
            </a:r>
            <a:r>
              <a:rPr dirty="0" sz="1600" spc="-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instruments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simulations</a:t>
            </a:r>
            <a:endParaRPr sz="16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10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ability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to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economically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store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1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manage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petabytes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of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data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online</a:t>
            </a:r>
            <a:endParaRPr sz="16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600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</a:tabLst>
            </a:pP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Internet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computing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Grid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that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makes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all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these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archives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universally</a:t>
            </a:r>
            <a:r>
              <a:rPr dirty="0" sz="1600" spc="-6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accessible</a:t>
            </a:r>
            <a:endParaRPr sz="1600">
              <a:latin typeface="Tahoma"/>
              <a:cs typeface="Tahoma"/>
            </a:endParaRPr>
          </a:p>
          <a:p>
            <a:pPr lvl="1" marL="756285" marR="34925" indent="-287020">
              <a:lnSpc>
                <a:spcPct val="110000"/>
              </a:lnSpc>
              <a:spcBef>
                <a:spcPts val="200"/>
              </a:spcBef>
              <a:buClr>
                <a:srgbClr val="FF0000"/>
              </a:buClr>
              <a:buSzPct val="53125"/>
              <a:buFont typeface="Wingdings"/>
              <a:buChar char=""/>
              <a:tabLst>
                <a:tab pos="756285" algn="l"/>
                <a:tab pos="4450715" algn="l"/>
              </a:tabLst>
            </a:pPr>
            <a:r>
              <a:rPr dirty="0" sz="1600">
                <a:latin typeface="Tahoma"/>
                <a:cs typeface="Tahoma"/>
              </a:rPr>
              <a:t>Scientific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info.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management,</a:t>
            </a:r>
            <a:r>
              <a:rPr dirty="0" sz="1600" spc="-8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acquisition,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organization,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query,</a:t>
            </a:r>
            <a:r>
              <a:rPr dirty="0" sz="1600" spc="-114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visualization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tasks </a:t>
            </a:r>
            <a:r>
              <a:rPr dirty="0" sz="1600">
                <a:latin typeface="Tahoma"/>
                <a:cs typeface="Tahoma"/>
              </a:rPr>
              <a:t>scale</a:t>
            </a:r>
            <a:r>
              <a:rPr dirty="0" sz="1600" spc="-9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almost</a:t>
            </a:r>
            <a:r>
              <a:rPr dirty="0" sz="1600" spc="-4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linearly</a:t>
            </a:r>
            <a:r>
              <a:rPr dirty="0" sz="1600" spc="-9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with</a:t>
            </a:r>
            <a:r>
              <a:rPr dirty="0" sz="1600" spc="-7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data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volumes.</a:t>
            </a:r>
            <a:r>
              <a:rPr dirty="0" sz="1600">
                <a:latin typeface="Tahoma"/>
                <a:cs typeface="Tahoma"/>
              </a:rPr>
              <a:t>	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Data</a:t>
            </a:r>
            <a:r>
              <a:rPr dirty="0" sz="1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FF0000"/>
                </a:solidFill>
                <a:latin typeface="Tahoma"/>
                <a:cs typeface="Tahoma"/>
              </a:rPr>
              <a:t>mining</a:t>
            </a:r>
            <a:r>
              <a:rPr dirty="0" sz="16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is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major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new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challenge!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1600">
                <a:latin typeface="Tahoma"/>
                <a:cs typeface="Tahoma"/>
              </a:rPr>
              <a:t>Jim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Gray</a:t>
            </a:r>
            <a:r>
              <a:rPr dirty="0" sz="1600" spc="-7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and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Alex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Szalay,</a:t>
            </a:r>
            <a:r>
              <a:rPr dirty="0" sz="1600" spc="-8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The</a:t>
            </a:r>
            <a:r>
              <a:rPr dirty="0" sz="1650" spc="-95">
                <a:latin typeface="Tahoma"/>
                <a:cs typeface="Tahoma"/>
              </a:rPr>
              <a:t> </a:t>
            </a:r>
            <a:r>
              <a:rPr dirty="0" sz="1650" spc="-20">
                <a:latin typeface="Tahoma"/>
                <a:cs typeface="Tahoma"/>
              </a:rPr>
              <a:t>World</a:t>
            </a:r>
            <a:r>
              <a:rPr dirty="0" sz="1650" spc="-9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Wide</a:t>
            </a:r>
            <a:r>
              <a:rPr dirty="0" sz="1650" spc="-105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Telescope:</a:t>
            </a:r>
            <a:r>
              <a:rPr dirty="0" sz="1650" spc="-135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An</a:t>
            </a:r>
            <a:r>
              <a:rPr dirty="0" sz="1650" spc="-85">
                <a:latin typeface="Tahoma"/>
                <a:cs typeface="Tahoma"/>
              </a:rPr>
              <a:t> </a:t>
            </a:r>
            <a:r>
              <a:rPr dirty="0" sz="1650" spc="-35">
                <a:latin typeface="Tahoma"/>
                <a:cs typeface="Tahoma"/>
              </a:rPr>
              <a:t>Archetype</a:t>
            </a:r>
            <a:r>
              <a:rPr dirty="0" sz="1650" spc="-70">
                <a:latin typeface="Tahoma"/>
                <a:cs typeface="Tahoma"/>
              </a:rPr>
              <a:t> </a:t>
            </a:r>
            <a:r>
              <a:rPr dirty="0" sz="1650">
                <a:latin typeface="Tahoma"/>
                <a:cs typeface="Tahoma"/>
              </a:rPr>
              <a:t>for</a:t>
            </a:r>
            <a:r>
              <a:rPr dirty="0" sz="1650" spc="-75">
                <a:latin typeface="Tahoma"/>
                <a:cs typeface="Tahoma"/>
              </a:rPr>
              <a:t> </a:t>
            </a:r>
            <a:r>
              <a:rPr dirty="0" sz="1650" spc="-30">
                <a:latin typeface="Tahoma"/>
                <a:cs typeface="Tahoma"/>
              </a:rPr>
              <a:t>Online</a:t>
            </a:r>
            <a:r>
              <a:rPr dirty="0" sz="1650" spc="-145">
                <a:latin typeface="Tahoma"/>
                <a:cs typeface="Tahoma"/>
              </a:rPr>
              <a:t> </a:t>
            </a:r>
            <a:r>
              <a:rPr dirty="0" sz="1650" spc="-10">
                <a:latin typeface="Tahoma"/>
                <a:cs typeface="Tahoma"/>
              </a:rPr>
              <a:t>Science</a:t>
            </a:r>
            <a:r>
              <a:rPr dirty="0" sz="1600" spc="-10">
                <a:latin typeface="Tahoma"/>
                <a:cs typeface="Tahoma"/>
              </a:rPr>
              <a:t>,</a:t>
            </a:r>
            <a:endParaRPr sz="1600">
              <a:latin typeface="Tahoma"/>
              <a:cs typeface="Tahoma"/>
            </a:endParaRPr>
          </a:p>
          <a:p>
            <a:pPr marL="354965">
              <a:lnSpc>
                <a:spcPct val="100000"/>
              </a:lnSpc>
              <a:spcBef>
                <a:spcPts val="180"/>
              </a:spcBef>
            </a:pPr>
            <a:r>
              <a:rPr dirty="0" sz="1600">
                <a:latin typeface="Tahoma"/>
                <a:cs typeface="Tahoma"/>
              </a:rPr>
              <a:t>Comm.</a:t>
            </a:r>
            <a:r>
              <a:rPr dirty="0" sz="1600" spc="-2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ACM,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45(11):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 spc="-30">
                <a:latin typeface="Tahoma"/>
                <a:cs typeface="Tahoma"/>
              </a:rPr>
              <a:t>50-</a:t>
            </a:r>
            <a:r>
              <a:rPr dirty="0" sz="1600">
                <a:latin typeface="Tahoma"/>
                <a:cs typeface="Tahoma"/>
              </a:rPr>
              <a:t>54,</a:t>
            </a:r>
            <a:r>
              <a:rPr dirty="0" sz="1600" spc="-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Nov.</a:t>
            </a:r>
            <a:r>
              <a:rPr dirty="0" sz="1600" spc="-3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2002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7669" rIns="0" bIns="0" rtlCol="0" vert="horz">
            <a:spAutoFit/>
          </a:bodyPr>
          <a:lstStyle/>
          <a:p>
            <a:pPr marL="148717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Chapter</a:t>
            </a:r>
            <a:r>
              <a:rPr dirty="0" sz="3600" spc="-60"/>
              <a:t> </a:t>
            </a:r>
            <a:r>
              <a:rPr dirty="0" sz="3600"/>
              <a:t>1.</a:t>
            </a:r>
            <a:r>
              <a:rPr dirty="0" sz="3600" spc="15"/>
              <a:t>  </a:t>
            </a:r>
            <a:r>
              <a:rPr dirty="0" sz="3600" spc="-10"/>
              <a:t>Introduction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Why</a:t>
            </a:r>
            <a:r>
              <a:rPr dirty="0" spc="-85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10"/>
              <a:t>Mining?</a:t>
            </a: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What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 spc="-10"/>
              <a:t>Mining?</a:t>
            </a:r>
          </a:p>
          <a:p>
            <a:pPr marL="354965" indent="-342265">
              <a:lnSpc>
                <a:spcPct val="100000"/>
              </a:lnSpc>
              <a:spcBef>
                <a:spcPts val="190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/>
              <a:t>Data</a:t>
            </a:r>
            <a:r>
              <a:rPr dirty="0" sz="2400" spc="-55"/>
              <a:t> </a:t>
            </a:r>
            <a:r>
              <a:rPr dirty="0" sz="2400"/>
              <a:t>Mining</a:t>
            </a:r>
            <a:r>
              <a:rPr dirty="0" sz="2400" spc="-65"/>
              <a:t> </a:t>
            </a:r>
            <a:r>
              <a:rPr dirty="0" sz="2400" spc="-20"/>
              <a:t>Tasks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18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What</a:t>
            </a:r>
            <a:r>
              <a:rPr dirty="0" spc="-65"/>
              <a:t> </a:t>
            </a:r>
            <a:r>
              <a:rPr dirty="0"/>
              <a:t>Kind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Applications</a:t>
            </a:r>
            <a:r>
              <a:rPr dirty="0" spc="-40"/>
              <a:t> </a:t>
            </a:r>
            <a:r>
              <a:rPr dirty="0"/>
              <a:t>Are</a:t>
            </a:r>
            <a:r>
              <a:rPr dirty="0" spc="-30"/>
              <a:t> </a:t>
            </a:r>
            <a:r>
              <a:rPr dirty="0" spc="-10"/>
              <a:t>Targeted?</a:t>
            </a: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Major</a:t>
            </a:r>
            <a:r>
              <a:rPr dirty="0" spc="-90"/>
              <a:t> </a:t>
            </a:r>
            <a:r>
              <a:rPr dirty="0"/>
              <a:t>Issues</a:t>
            </a:r>
            <a:r>
              <a:rPr dirty="0" spc="-12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45"/>
              <a:t> </a:t>
            </a:r>
            <a:r>
              <a:rPr dirty="0" spc="-10"/>
              <a:t>Mining</a:t>
            </a:r>
          </a:p>
          <a:p>
            <a:pPr marL="354965" indent="-342265">
              <a:lnSpc>
                <a:spcPct val="100000"/>
              </a:lnSpc>
              <a:spcBef>
                <a:spcPts val="171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pc="-10"/>
              <a:t>Summary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71608" y="1895982"/>
            <a:ext cx="395605" cy="315595"/>
            <a:chOff x="3471608" y="1895982"/>
            <a:chExt cx="395605" cy="315595"/>
          </a:xfrm>
        </p:grpSpPr>
        <p:sp>
          <p:nvSpPr>
            <p:cNvPr id="5" name="object 5"/>
            <p:cNvSpPr/>
            <p:nvPr/>
          </p:nvSpPr>
          <p:spPr>
            <a:xfrm>
              <a:off x="3476371" y="19163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4">
                  <a:moveTo>
                    <a:pt x="43687" y="0"/>
                  </a:moveTo>
                  <a:lnTo>
                    <a:pt x="0" y="174371"/>
                  </a:lnTo>
                  <a:lnTo>
                    <a:pt x="137540" y="290068"/>
                  </a:lnTo>
                  <a:lnTo>
                    <a:pt x="114045" y="217550"/>
                  </a:lnTo>
                  <a:lnTo>
                    <a:pt x="329311" y="147827"/>
                  </a:lnTo>
                  <a:lnTo>
                    <a:pt x="282320" y="2921"/>
                  </a:lnTo>
                  <a:lnTo>
                    <a:pt x="67182" y="72517"/>
                  </a:lnTo>
                  <a:lnTo>
                    <a:pt x="436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0122" y="1900808"/>
              <a:ext cx="92200" cy="1597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76371" y="19163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4">
                  <a:moveTo>
                    <a:pt x="137540" y="290068"/>
                  </a:moveTo>
                  <a:lnTo>
                    <a:pt x="114045" y="217550"/>
                  </a:lnTo>
                  <a:lnTo>
                    <a:pt x="329311" y="147827"/>
                  </a:lnTo>
                  <a:lnTo>
                    <a:pt x="282320" y="2921"/>
                  </a:lnTo>
                  <a:lnTo>
                    <a:pt x="67182" y="72517"/>
                  </a:lnTo>
                  <a:lnTo>
                    <a:pt x="43687" y="0"/>
                  </a:lnTo>
                  <a:lnTo>
                    <a:pt x="0" y="174371"/>
                  </a:lnTo>
                  <a:lnTo>
                    <a:pt x="137540" y="2900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5296" y="1895982"/>
              <a:ext cx="101725" cy="16929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9869" y="609"/>
            <a:ext cx="1086840" cy="126456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0990" rIns="0" bIns="0" rtlCol="0" vert="horz">
            <a:spAutoFit/>
          </a:bodyPr>
          <a:lstStyle/>
          <a:p>
            <a:pPr marL="177927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Mining?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8922" y="1810829"/>
            <a:ext cx="7707630" cy="361886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4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Data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mining</a:t>
            </a:r>
            <a:r>
              <a:rPr dirty="0" sz="2400" spc="-1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(knowledge</a:t>
            </a:r>
            <a:r>
              <a:rPr dirty="0" sz="2400" spc="-114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discovery</a:t>
            </a:r>
            <a:r>
              <a:rPr dirty="0" sz="2400" spc="-9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1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data)</a:t>
            </a:r>
            <a:endParaRPr sz="2400">
              <a:latin typeface="Tahoma"/>
              <a:cs typeface="Tahoma"/>
            </a:endParaRPr>
          </a:p>
          <a:p>
            <a:pPr lvl="1" marL="756285" marR="169545" indent="-287020">
              <a:lnSpc>
                <a:spcPct val="125099"/>
              </a:lnSpc>
              <a:spcBef>
                <a:spcPts val="195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Extraction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interesting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(</a:t>
            </a:r>
            <a:r>
              <a:rPr dirty="0" u="sng" sz="200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non-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trivial,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implicit</a:t>
            </a:r>
            <a:r>
              <a:rPr dirty="0" sz="2000">
                <a:latin typeface="Tahoma"/>
                <a:cs typeface="Tahoma"/>
              </a:rPr>
              <a:t>,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previously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unknown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potentially</a:t>
            </a:r>
            <a:r>
              <a:rPr dirty="0" u="sng" sz="2000" spc="-4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useful)</a:t>
            </a:r>
            <a:r>
              <a:rPr dirty="0" sz="2000" spc="1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patterns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knowledge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from </a:t>
            </a:r>
            <a:r>
              <a:rPr dirty="0" sz="2000">
                <a:latin typeface="Tahoma"/>
                <a:cs typeface="Tahoma"/>
              </a:rPr>
              <a:t>huge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amount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  <a:p>
            <a:pPr lvl="1" marL="756285" indent="-286385">
              <a:lnSpc>
                <a:spcPct val="100000"/>
              </a:lnSpc>
              <a:spcBef>
                <a:spcPts val="101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mining: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misnomer?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Alternative</a:t>
            </a:r>
            <a:r>
              <a:rPr dirty="0" sz="2400" spc="-12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names</a:t>
            </a:r>
            <a:endParaRPr sz="2400">
              <a:latin typeface="Tahoma"/>
              <a:cs typeface="Tahoma"/>
            </a:endParaRPr>
          </a:p>
          <a:p>
            <a:pPr lvl="1" marL="756285" marR="5080" indent="-287020">
              <a:lnSpc>
                <a:spcPct val="110000"/>
              </a:lnSpc>
              <a:spcBef>
                <a:spcPts val="25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dirty="0" sz="2000">
                <a:latin typeface="Tahoma"/>
                <a:cs typeface="Tahoma"/>
              </a:rPr>
              <a:t>Knowledge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discovery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(mining)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databases</a:t>
            </a:r>
            <a:r>
              <a:rPr dirty="0" sz="2000" spc="-1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(KDD),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knowledge </a:t>
            </a:r>
            <a:r>
              <a:rPr dirty="0" sz="2000">
                <a:latin typeface="Tahoma"/>
                <a:cs typeface="Tahoma"/>
              </a:rPr>
              <a:t>extraction,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data/pattern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analysis,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archeology,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 </a:t>
            </a:r>
            <a:r>
              <a:rPr dirty="0" sz="2000">
                <a:latin typeface="Tahoma"/>
                <a:cs typeface="Tahoma"/>
              </a:rPr>
              <a:t>dredging,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information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harvesting,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business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intelligence,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etc.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31735" y="5481828"/>
            <a:ext cx="1891030" cy="1369695"/>
            <a:chOff x="7031735" y="5481828"/>
            <a:chExt cx="1891030" cy="1369695"/>
          </a:xfrm>
        </p:grpSpPr>
        <p:sp>
          <p:nvSpPr>
            <p:cNvPr id="6" name="object 6"/>
            <p:cNvSpPr/>
            <p:nvPr/>
          </p:nvSpPr>
          <p:spPr>
            <a:xfrm>
              <a:off x="7549388" y="5539486"/>
              <a:ext cx="989965" cy="1130300"/>
            </a:xfrm>
            <a:custGeom>
              <a:avLst/>
              <a:gdLst/>
              <a:ahLst/>
              <a:cxnLst/>
              <a:rect l="l" t="t" r="r" b="b"/>
              <a:pathLst>
                <a:path w="989965" h="1130300">
                  <a:moveTo>
                    <a:pt x="421894" y="1116076"/>
                  </a:moveTo>
                  <a:lnTo>
                    <a:pt x="102870" y="388277"/>
                  </a:lnTo>
                  <a:lnTo>
                    <a:pt x="0" y="596252"/>
                  </a:lnTo>
                  <a:lnTo>
                    <a:pt x="421894" y="1116076"/>
                  </a:lnTo>
                  <a:close/>
                </a:path>
                <a:path w="989965" h="1130300">
                  <a:moveTo>
                    <a:pt x="443230" y="1129855"/>
                  </a:moveTo>
                  <a:lnTo>
                    <a:pt x="375539" y="566775"/>
                  </a:lnTo>
                  <a:lnTo>
                    <a:pt x="211201" y="491655"/>
                  </a:lnTo>
                  <a:lnTo>
                    <a:pt x="324104" y="598716"/>
                  </a:lnTo>
                  <a:lnTo>
                    <a:pt x="443230" y="1129855"/>
                  </a:lnTo>
                  <a:close/>
                </a:path>
                <a:path w="989965" h="1130300">
                  <a:moveTo>
                    <a:pt x="661924" y="548601"/>
                  </a:moveTo>
                  <a:lnTo>
                    <a:pt x="549783" y="719594"/>
                  </a:lnTo>
                  <a:lnTo>
                    <a:pt x="417449" y="573659"/>
                  </a:lnTo>
                  <a:lnTo>
                    <a:pt x="472059" y="1115453"/>
                  </a:lnTo>
                  <a:lnTo>
                    <a:pt x="661924" y="548601"/>
                  </a:lnTo>
                  <a:close/>
                </a:path>
                <a:path w="989965" h="1130300">
                  <a:moveTo>
                    <a:pt x="883793" y="573659"/>
                  </a:moveTo>
                  <a:lnTo>
                    <a:pt x="812927" y="434022"/>
                  </a:lnTo>
                  <a:lnTo>
                    <a:pt x="677545" y="563054"/>
                  </a:lnTo>
                  <a:lnTo>
                    <a:pt x="484505" y="1104798"/>
                  </a:lnTo>
                  <a:lnTo>
                    <a:pt x="799846" y="519811"/>
                  </a:lnTo>
                  <a:lnTo>
                    <a:pt x="883793" y="573659"/>
                  </a:lnTo>
                  <a:close/>
                </a:path>
                <a:path w="989965" h="1130300">
                  <a:moveTo>
                    <a:pt x="938276" y="172199"/>
                  </a:moveTo>
                  <a:lnTo>
                    <a:pt x="577977" y="0"/>
                  </a:lnTo>
                  <a:lnTo>
                    <a:pt x="835533" y="186601"/>
                  </a:lnTo>
                  <a:lnTo>
                    <a:pt x="793496" y="347560"/>
                  </a:lnTo>
                  <a:lnTo>
                    <a:pt x="938276" y="172199"/>
                  </a:lnTo>
                  <a:close/>
                </a:path>
                <a:path w="989965" h="1130300">
                  <a:moveTo>
                    <a:pt x="989711" y="408965"/>
                  </a:moveTo>
                  <a:lnTo>
                    <a:pt x="925830" y="265506"/>
                  </a:lnTo>
                  <a:lnTo>
                    <a:pt x="816102" y="351345"/>
                  </a:lnTo>
                  <a:lnTo>
                    <a:pt x="880618" y="548601"/>
                  </a:lnTo>
                  <a:lnTo>
                    <a:pt x="989711" y="408965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5672" y="5510657"/>
              <a:ext cx="833119" cy="585470"/>
            </a:xfrm>
            <a:custGeom>
              <a:avLst/>
              <a:gdLst/>
              <a:ahLst/>
              <a:cxnLst/>
              <a:rect l="l" t="t" r="r" b="b"/>
              <a:pathLst>
                <a:path w="833120" h="585470">
                  <a:moveTo>
                    <a:pt x="131572" y="355117"/>
                  </a:moveTo>
                  <a:lnTo>
                    <a:pt x="115316" y="215430"/>
                  </a:lnTo>
                  <a:lnTo>
                    <a:pt x="0" y="376389"/>
                  </a:lnTo>
                  <a:lnTo>
                    <a:pt x="67056" y="487908"/>
                  </a:lnTo>
                  <a:lnTo>
                    <a:pt x="131572" y="355117"/>
                  </a:lnTo>
                  <a:close/>
                </a:path>
                <a:path w="833120" h="585470">
                  <a:moveTo>
                    <a:pt x="475742" y="0"/>
                  </a:moveTo>
                  <a:lnTo>
                    <a:pt x="234315" y="194157"/>
                  </a:lnTo>
                  <a:lnTo>
                    <a:pt x="137922" y="168465"/>
                  </a:lnTo>
                  <a:lnTo>
                    <a:pt x="131572" y="415836"/>
                  </a:lnTo>
                  <a:lnTo>
                    <a:pt x="279527" y="218579"/>
                  </a:lnTo>
                  <a:lnTo>
                    <a:pt x="475742" y="0"/>
                  </a:lnTo>
                  <a:close/>
                </a:path>
                <a:path w="833120" h="585470">
                  <a:moveTo>
                    <a:pt x="508254" y="405231"/>
                  </a:moveTo>
                  <a:lnTo>
                    <a:pt x="312039" y="301269"/>
                  </a:lnTo>
                  <a:lnTo>
                    <a:pt x="183007" y="448411"/>
                  </a:lnTo>
                  <a:lnTo>
                    <a:pt x="350266" y="566813"/>
                  </a:lnTo>
                  <a:lnTo>
                    <a:pt x="508254" y="405231"/>
                  </a:lnTo>
                  <a:close/>
                </a:path>
                <a:path w="833120" h="585470">
                  <a:moveTo>
                    <a:pt x="623570" y="236753"/>
                  </a:moveTo>
                  <a:lnTo>
                    <a:pt x="501396" y="50038"/>
                  </a:lnTo>
                  <a:lnTo>
                    <a:pt x="372872" y="190373"/>
                  </a:lnTo>
                  <a:lnTo>
                    <a:pt x="491998" y="380174"/>
                  </a:lnTo>
                  <a:lnTo>
                    <a:pt x="623570" y="236753"/>
                  </a:lnTo>
                  <a:close/>
                </a:path>
                <a:path w="833120" h="585470">
                  <a:moveTo>
                    <a:pt x="832993" y="415836"/>
                  </a:moveTo>
                  <a:lnTo>
                    <a:pt x="633603" y="247370"/>
                  </a:lnTo>
                  <a:lnTo>
                    <a:pt x="543433" y="380174"/>
                  </a:lnTo>
                  <a:lnTo>
                    <a:pt x="710692" y="585000"/>
                  </a:lnTo>
                  <a:lnTo>
                    <a:pt x="832993" y="415836"/>
                  </a:lnTo>
                  <a:close/>
                </a:path>
              </a:pathLst>
            </a:custGeom>
            <a:solidFill>
              <a:srgbClr val="D6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503033" y="5525008"/>
              <a:ext cx="923925" cy="1122680"/>
            </a:xfrm>
            <a:custGeom>
              <a:avLst/>
              <a:gdLst/>
              <a:ahLst/>
              <a:cxnLst/>
              <a:rect l="l" t="t" r="r" b="b"/>
              <a:pathLst>
                <a:path w="923925" h="1122679">
                  <a:moveTo>
                    <a:pt x="154813" y="351421"/>
                  </a:moveTo>
                  <a:lnTo>
                    <a:pt x="135382" y="204228"/>
                  </a:lnTo>
                  <a:lnTo>
                    <a:pt x="103505" y="373329"/>
                  </a:lnTo>
                  <a:lnTo>
                    <a:pt x="0" y="380212"/>
                  </a:lnTo>
                  <a:lnTo>
                    <a:pt x="96520" y="473557"/>
                  </a:lnTo>
                  <a:lnTo>
                    <a:pt x="154813" y="351421"/>
                  </a:lnTo>
                  <a:close/>
                </a:path>
                <a:path w="923925" h="1122679">
                  <a:moveTo>
                    <a:pt x="472567" y="1112393"/>
                  </a:moveTo>
                  <a:lnTo>
                    <a:pt x="364744" y="616343"/>
                  </a:lnTo>
                  <a:lnTo>
                    <a:pt x="265176" y="555561"/>
                  </a:lnTo>
                  <a:lnTo>
                    <a:pt x="361696" y="878141"/>
                  </a:lnTo>
                  <a:lnTo>
                    <a:pt x="472567" y="1112393"/>
                  </a:lnTo>
                  <a:close/>
                </a:path>
                <a:path w="923925" h="1122679">
                  <a:moveTo>
                    <a:pt x="492633" y="0"/>
                  </a:moveTo>
                  <a:lnTo>
                    <a:pt x="270764" y="204228"/>
                  </a:lnTo>
                  <a:lnTo>
                    <a:pt x="183642" y="315696"/>
                  </a:lnTo>
                  <a:lnTo>
                    <a:pt x="167386" y="222402"/>
                  </a:lnTo>
                  <a:lnTo>
                    <a:pt x="157988" y="348272"/>
                  </a:lnTo>
                  <a:lnTo>
                    <a:pt x="180467" y="394601"/>
                  </a:lnTo>
                  <a:lnTo>
                    <a:pt x="492633" y="0"/>
                  </a:lnTo>
                  <a:close/>
                </a:path>
                <a:path w="923925" h="1122679">
                  <a:moveTo>
                    <a:pt x="527812" y="394601"/>
                  </a:moveTo>
                  <a:lnTo>
                    <a:pt x="485775" y="380212"/>
                  </a:lnTo>
                  <a:lnTo>
                    <a:pt x="405511" y="459117"/>
                  </a:lnTo>
                  <a:lnTo>
                    <a:pt x="193040" y="405269"/>
                  </a:lnTo>
                  <a:lnTo>
                    <a:pt x="396113" y="563079"/>
                  </a:lnTo>
                  <a:lnTo>
                    <a:pt x="527812" y="394601"/>
                  </a:lnTo>
                  <a:close/>
                </a:path>
                <a:path w="923925" h="1122679">
                  <a:moveTo>
                    <a:pt x="643763" y="211734"/>
                  </a:moveTo>
                  <a:lnTo>
                    <a:pt x="560324" y="61468"/>
                  </a:lnTo>
                  <a:lnTo>
                    <a:pt x="592328" y="204228"/>
                  </a:lnTo>
                  <a:lnTo>
                    <a:pt x="527812" y="358940"/>
                  </a:lnTo>
                  <a:lnTo>
                    <a:pt x="643763" y="211734"/>
                  </a:lnTo>
                  <a:close/>
                </a:path>
                <a:path w="923925" h="1122679">
                  <a:moveTo>
                    <a:pt x="673100" y="566864"/>
                  </a:moveTo>
                  <a:lnTo>
                    <a:pt x="550291" y="427177"/>
                  </a:lnTo>
                  <a:lnTo>
                    <a:pt x="480187" y="585038"/>
                  </a:lnTo>
                  <a:lnTo>
                    <a:pt x="621792" y="707174"/>
                  </a:lnTo>
                  <a:lnTo>
                    <a:pt x="673100" y="566864"/>
                  </a:lnTo>
                  <a:close/>
                </a:path>
                <a:path w="923925" h="1122679">
                  <a:moveTo>
                    <a:pt x="878713" y="405269"/>
                  </a:moveTo>
                  <a:lnTo>
                    <a:pt x="681990" y="240525"/>
                  </a:lnTo>
                  <a:lnTo>
                    <a:pt x="823595" y="390880"/>
                  </a:lnTo>
                  <a:lnTo>
                    <a:pt x="749554" y="473557"/>
                  </a:lnTo>
                  <a:lnTo>
                    <a:pt x="582295" y="373329"/>
                  </a:lnTo>
                  <a:lnTo>
                    <a:pt x="720725" y="563079"/>
                  </a:lnTo>
                  <a:lnTo>
                    <a:pt x="878713" y="405269"/>
                  </a:lnTo>
                  <a:close/>
                </a:path>
                <a:path w="923925" h="1122679">
                  <a:moveTo>
                    <a:pt x="888111" y="193560"/>
                  </a:moveTo>
                  <a:lnTo>
                    <a:pt x="696341" y="122796"/>
                  </a:lnTo>
                  <a:lnTo>
                    <a:pt x="669417" y="222402"/>
                  </a:lnTo>
                  <a:lnTo>
                    <a:pt x="836676" y="340766"/>
                  </a:lnTo>
                  <a:lnTo>
                    <a:pt x="888111" y="193560"/>
                  </a:lnTo>
                  <a:close/>
                </a:path>
                <a:path w="923925" h="1122679">
                  <a:moveTo>
                    <a:pt x="923925" y="588137"/>
                  </a:moveTo>
                  <a:lnTo>
                    <a:pt x="865632" y="531139"/>
                  </a:lnTo>
                  <a:lnTo>
                    <a:pt x="765937" y="570649"/>
                  </a:lnTo>
                  <a:lnTo>
                    <a:pt x="534035" y="1122413"/>
                  </a:lnTo>
                  <a:lnTo>
                    <a:pt x="923925" y="588137"/>
                  </a:lnTo>
                  <a:close/>
                </a:path>
              </a:pathLst>
            </a:custGeom>
            <a:solidFill>
              <a:srgbClr val="B0E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25639" y="5481828"/>
              <a:ext cx="1023619" cy="1258570"/>
            </a:xfrm>
            <a:custGeom>
              <a:avLst/>
              <a:gdLst/>
              <a:ahLst/>
              <a:cxnLst/>
              <a:rect l="l" t="t" r="r" b="b"/>
              <a:pathLst>
                <a:path w="1023620" h="1258570">
                  <a:moveTo>
                    <a:pt x="489458" y="3810"/>
                  </a:moveTo>
                  <a:lnTo>
                    <a:pt x="122174" y="161569"/>
                  </a:lnTo>
                  <a:lnTo>
                    <a:pt x="0" y="380161"/>
                  </a:lnTo>
                  <a:lnTo>
                    <a:pt x="85852" y="277456"/>
                  </a:lnTo>
                  <a:lnTo>
                    <a:pt x="141605" y="380161"/>
                  </a:lnTo>
                  <a:lnTo>
                    <a:pt x="159766" y="219202"/>
                  </a:lnTo>
                  <a:lnTo>
                    <a:pt x="489458" y="3810"/>
                  </a:lnTo>
                  <a:close/>
                </a:path>
                <a:path w="1023620" h="1258570">
                  <a:moveTo>
                    <a:pt x="498856" y="409003"/>
                  </a:moveTo>
                  <a:lnTo>
                    <a:pt x="360299" y="248666"/>
                  </a:lnTo>
                  <a:lnTo>
                    <a:pt x="473202" y="53848"/>
                  </a:lnTo>
                  <a:lnTo>
                    <a:pt x="283210" y="240525"/>
                  </a:lnTo>
                  <a:lnTo>
                    <a:pt x="157861" y="430911"/>
                  </a:lnTo>
                  <a:lnTo>
                    <a:pt x="290195" y="306933"/>
                  </a:lnTo>
                  <a:lnTo>
                    <a:pt x="498856" y="409003"/>
                  </a:lnTo>
                  <a:close/>
                </a:path>
                <a:path w="1023620" h="1258570">
                  <a:moveTo>
                    <a:pt x="734568" y="947623"/>
                  </a:moveTo>
                  <a:lnTo>
                    <a:pt x="728218" y="906919"/>
                  </a:lnTo>
                  <a:lnTo>
                    <a:pt x="548386" y="1146175"/>
                  </a:lnTo>
                  <a:lnTo>
                    <a:pt x="595376" y="903795"/>
                  </a:lnTo>
                  <a:lnTo>
                    <a:pt x="495173" y="1127379"/>
                  </a:lnTo>
                  <a:lnTo>
                    <a:pt x="461010" y="985901"/>
                  </a:lnTo>
                  <a:lnTo>
                    <a:pt x="421132" y="559295"/>
                  </a:lnTo>
                  <a:lnTo>
                    <a:pt x="482600" y="462851"/>
                  </a:lnTo>
                  <a:lnTo>
                    <a:pt x="347218" y="534873"/>
                  </a:lnTo>
                  <a:lnTo>
                    <a:pt x="165481" y="473506"/>
                  </a:lnTo>
                  <a:lnTo>
                    <a:pt x="399796" y="1027798"/>
                  </a:lnTo>
                  <a:lnTo>
                    <a:pt x="231902" y="545528"/>
                  </a:lnTo>
                  <a:lnTo>
                    <a:pt x="351536" y="612559"/>
                  </a:lnTo>
                  <a:lnTo>
                    <a:pt x="434340" y="991412"/>
                  </a:lnTo>
                  <a:lnTo>
                    <a:pt x="434340" y="1131773"/>
                  </a:lnTo>
                  <a:lnTo>
                    <a:pt x="233807" y="908799"/>
                  </a:lnTo>
                  <a:lnTo>
                    <a:pt x="490728" y="1258290"/>
                  </a:lnTo>
                  <a:lnTo>
                    <a:pt x="734568" y="947623"/>
                  </a:lnTo>
                  <a:close/>
                </a:path>
                <a:path w="1023620" h="1258570">
                  <a:moveTo>
                    <a:pt x="830453" y="412724"/>
                  </a:moveTo>
                  <a:lnTo>
                    <a:pt x="820420" y="355155"/>
                  </a:lnTo>
                  <a:lnTo>
                    <a:pt x="653034" y="265582"/>
                  </a:lnTo>
                  <a:lnTo>
                    <a:pt x="830453" y="412724"/>
                  </a:lnTo>
                  <a:close/>
                </a:path>
                <a:path w="1023620" h="1258570">
                  <a:moveTo>
                    <a:pt x="1023493" y="452234"/>
                  </a:moveTo>
                  <a:lnTo>
                    <a:pt x="962025" y="204800"/>
                  </a:lnTo>
                  <a:lnTo>
                    <a:pt x="505206" y="0"/>
                  </a:lnTo>
                  <a:lnTo>
                    <a:pt x="643636" y="258648"/>
                  </a:lnTo>
                  <a:lnTo>
                    <a:pt x="643001" y="122123"/>
                  </a:lnTo>
                  <a:lnTo>
                    <a:pt x="930148" y="229857"/>
                  </a:lnTo>
                  <a:lnTo>
                    <a:pt x="833628" y="409003"/>
                  </a:lnTo>
                  <a:lnTo>
                    <a:pt x="939546" y="326313"/>
                  </a:lnTo>
                  <a:lnTo>
                    <a:pt x="1023493" y="4522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043038" y="6111925"/>
              <a:ext cx="664845" cy="731520"/>
            </a:xfrm>
            <a:custGeom>
              <a:avLst/>
              <a:gdLst/>
              <a:ahLst/>
              <a:cxnLst/>
              <a:rect l="l" t="t" r="r" b="b"/>
              <a:pathLst>
                <a:path w="664845" h="731520">
                  <a:moveTo>
                    <a:pt x="470026" y="0"/>
                  </a:moveTo>
                  <a:lnTo>
                    <a:pt x="121538" y="118986"/>
                  </a:lnTo>
                  <a:lnTo>
                    <a:pt x="0" y="390804"/>
                  </a:lnTo>
                  <a:lnTo>
                    <a:pt x="13715" y="571817"/>
                  </a:lnTo>
                  <a:lnTo>
                    <a:pt x="137286" y="633192"/>
                  </a:lnTo>
                  <a:lnTo>
                    <a:pt x="664336" y="730898"/>
                  </a:lnTo>
                  <a:lnTo>
                    <a:pt x="643001" y="199783"/>
                  </a:lnTo>
                  <a:lnTo>
                    <a:pt x="616076" y="82003"/>
                  </a:lnTo>
                  <a:lnTo>
                    <a:pt x="4700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180326" y="6111938"/>
              <a:ext cx="509270" cy="721360"/>
            </a:xfrm>
            <a:custGeom>
              <a:avLst/>
              <a:gdLst/>
              <a:ahLst/>
              <a:cxnLst/>
              <a:rect l="l" t="t" r="r" b="b"/>
              <a:pathLst>
                <a:path w="509270" h="721359">
                  <a:moveTo>
                    <a:pt x="339598" y="0"/>
                  </a:moveTo>
                  <a:lnTo>
                    <a:pt x="66421" y="95821"/>
                  </a:lnTo>
                  <a:lnTo>
                    <a:pt x="290195" y="58204"/>
                  </a:lnTo>
                  <a:lnTo>
                    <a:pt x="338963" y="158432"/>
                  </a:lnTo>
                  <a:lnTo>
                    <a:pt x="339598" y="0"/>
                  </a:lnTo>
                  <a:close/>
                </a:path>
                <a:path w="509270" h="721359">
                  <a:moveTo>
                    <a:pt x="453771" y="720877"/>
                  </a:moveTo>
                  <a:lnTo>
                    <a:pt x="0" y="516686"/>
                  </a:lnTo>
                  <a:lnTo>
                    <a:pt x="55118" y="601878"/>
                  </a:lnTo>
                  <a:lnTo>
                    <a:pt x="453771" y="720877"/>
                  </a:lnTo>
                  <a:close/>
                </a:path>
                <a:path w="509270" h="721359">
                  <a:moveTo>
                    <a:pt x="476250" y="213550"/>
                  </a:moveTo>
                  <a:lnTo>
                    <a:pt x="473837" y="90144"/>
                  </a:lnTo>
                  <a:lnTo>
                    <a:pt x="374142" y="51955"/>
                  </a:lnTo>
                  <a:lnTo>
                    <a:pt x="353441" y="149034"/>
                  </a:lnTo>
                  <a:lnTo>
                    <a:pt x="476250" y="213550"/>
                  </a:lnTo>
                  <a:close/>
                </a:path>
                <a:path w="509270" h="721359">
                  <a:moveTo>
                    <a:pt x="497586" y="715860"/>
                  </a:moveTo>
                  <a:lnTo>
                    <a:pt x="208661" y="474103"/>
                  </a:lnTo>
                  <a:lnTo>
                    <a:pt x="85852" y="519201"/>
                  </a:lnTo>
                  <a:lnTo>
                    <a:pt x="195453" y="515442"/>
                  </a:lnTo>
                  <a:lnTo>
                    <a:pt x="497586" y="715860"/>
                  </a:lnTo>
                  <a:close/>
                </a:path>
                <a:path w="509270" h="721359">
                  <a:moveTo>
                    <a:pt x="506984" y="694563"/>
                  </a:moveTo>
                  <a:lnTo>
                    <a:pt x="357251" y="322529"/>
                  </a:lnTo>
                  <a:lnTo>
                    <a:pt x="372872" y="462203"/>
                  </a:lnTo>
                  <a:lnTo>
                    <a:pt x="234950" y="456565"/>
                  </a:lnTo>
                  <a:lnTo>
                    <a:pt x="506984" y="694563"/>
                  </a:lnTo>
                  <a:close/>
                </a:path>
                <a:path w="509270" h="721359">
                  <a:moveTo>
                    <a:pt x="508889" y="682663"/>
                  </a:moveTo>
                  <a:lnTo>
                    <a:pt x="419862" y="239229"/>
                  </a:lnTo>
                  <a:lnTo>
                    <a:pt x="489458" y="224205"/>
                  </a:lnTo>
                  <a:lnTo>
                    <a:pt x="388620" y="191008"/>
                  </a:lnTo>
                  <a:lnTo>
                    <a:pt x="372237" y="321284"/>
                  </a:lnTo>
                  <a:lnTo>
                    <a:pt x="508889" y="682663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061200" y="6250940"/>
              <a:ext cx="109220" cy="443230"/>
            </a:xfrm>
            <a:custGeom>
              <a:avLst/>
              <a:gdLst/>
              <a:ahLst/>
              <a:cxnLst/>
              <a:rect l="l" t="t" r="r" b="b"/>
              <a:pathLst>
                <a:path w="109220" h="443229">
                  <a:moveTo>
                    <a:pt x="104013" y="442823"/>
                  </a:moveTo>
                  <a:lnTo>
                    <a:pt x="80264" y="345744"/>
                  </a:lnTo>
                  <a:lnTo>
                    <a:pt x="8763" y="285000"/>
                  </a:lnTo>
                  <a:lnTo>
                    <a:pt x="17526" y="422160"/>
                  </a:lnTo>
                  <a:lnTo>
                    <a:pt x="104013" y="442823"/>
                  </a:lnTo>
                  <a:close/>
                </a:path>
                <a:path w="109220" h="443229">
                  <a:moveTo>
                    <a:pt x="109093" y="0"/>
                  </a:moveTo>
                  <a:lnTo>
                    <a:pt x="63881" y="215468"/>
                  </a:lnTo>
                  <a:lnTo>
                    <a:pt x="0" y="251180"/>
                  </a:lnTo>
                  <a:lnTo>
                    <a:pt x="107188" y="375805"/>
                  </a:lnTo>
                  <a:lnTo>
                    <a:pt x="99695" y="205447"/>
                  </a:lnTo>
                  <a:lnTo>
                    <a:pt x="109093" y="0"/>
                  </a:lnTo>
                  <a:close/>
                </a:path>
              </a:pathLst>
            </a:custGeom>
            <a:solidFill>
              <a:srgbClr val="D6FA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9121" y="6262865"/>
              <a:ext cx="360933" cy="3538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64375" y="6265964"/>
              <a:ext cx="109855" cy="432434"/>
            </a:xfrm>
            <a:custGeom>
              <a:avLst/>
              <a:gdLst/>
              <a:ahLst/>
              <a:cxnLst/>
              <a:rect l="l" t="t" r="r" b="b"/>
              <a:pathLst>
                <a:path w="109854" h="432434">
                  <a:moveTo>
                    <a:pt x="99568" y="429679"/>
                  </a:moveTo>
                  <a:lnTo>
                    <a:pt x="76454" y="340741"/>
                  </a:lnTo>
                  <a:lnTo>
                    <a:pt x="0" y="278739"/>
                  </a:lnTo>
                  <a:lnTo>
                    <a:pt x="58293" y="377075"/>
                  </a:lnTo>
                  <a:lnTo>
                    <a:pt x="4953" y="432181"/>
                  </a:lnTo>
                  <a:lnTo>
                    <a:pt x="99568" y="429679"/>
                  </a:lnTo>
                  <a:close/>
                </a:path>
                <a:path w="109854" h="432434">
                  <a:moveTo>
                    <a:pt x="109601" y="348881"/>
                  </a:moveTo>
                  <a:lnTo>
                    <a:pt x="103378" y="0"/>
                  </a:lnTo>
                  <a:lnTo>
                    <a:pt x="73914" y="211099"/>
                  </a:lnTo>
                  <a:lnTo>
                    <a:pt x="76454" y="308800"/>
                  </a:lnTo>
                  <a:lnTo>
                    <a:pt x="25654" y="271221"/>
                  </a:lnTo>
                  <a:lnTo>
                    <a:pt x="76454" y="337616"/>
                  </a:lnTo>
                  <a:lnTo>
                    <a:pt x="109601" y="348881"/>
                  </a:lnTo>
                  <a:close/>
                </a:path>
              </a:pathLst>
            </a:custGeom>
            <a:solidFill>
              <a:srgbClr val="B0EB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5913" y="6163894"/>
              <a:ext cx="368553" cy="44970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281799" y="6339243"/>
              <a:ext cx="411480" cy="491490"/>
            </a:xfrm>
            <a:custGeom>
              <a:avLst/>
              <a:gdLst/>
              <a:ahLst/>
              <a:cxnLst/>
              <a:rect l="l" t="t" r="r" b="b"/>
              <a:pathLst>
                <a:path w="411479" h="491490">
                  <a:moveTo>
                    <a:pt x="376047" y="491058"/>
                  </a:moveTo>
                  <a:lnTo>
                    <a:pt x="81534" y="296278"/>
                  </a:lnTo>
                  <a:lnTo>
                    <a:pt x="0" y="316318"/>
                  </a:lnTo>
                  <a:lnTo>
                    <a:pt x="196850" y="425919"/>
                  </a:lnTo>
                  <a:lnTo>
                    <a:pt x="376047" y="491058"/>
                  </a:lnTo>
                  <a:close/>
                </a:path>
                <a:path w="411479" h="491490">
                  <a:moveTo>
                    <a:pt x="411099" y="455993"/>
                  </a:moveTo>
                  <a:lnTo>
                    <a:pt x="384175" y="0"/>
                  </a:lnTo>
                  <a:lnTo>
                    <a:pt x="327152" y="635"/>
                  </a:lnTo>
                  <a:lnTo>
                    <a:pt x="290195" y="69545"/>
                  </a:lnTo>
                  <a:lnTo>
                    <a:pt x="411099" y="455993"/>
                  </a:lnTo>
                  <a:close/>
                </a:path>
              </a:pathLst>
            </a:custGeom>
            <a:solidFill>
              <a:srgbClr val="B0EB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31736" y="6100013"/>
              <a:ext cx="713740" cy="751205"/>
            </a:xfrm>
            <a:custGeom>
              <a:avLst/>
              <a:gdLst/>
              <a:ahLst/>
              <a:cxnLst/>
              <a:rect l="l" t="t" r="r" b="b"/>
              <a:pathLst>
                <a:path w="713740" h="751204">
                  <a:moveTo>
                    <a:pt x="129159" y="137160"/>
                  </a:moveTo>
                  <a:lnTo>
                    <a:pt x="0" y="397090"/>
                  </a:lnTo>
                  <a:lnTo>
                    <a:pt x="30734" y="565569"/>
                  </a:lnTo>
                  <a:lnTo>
                    <a:pt x="31369" y="472249"/>
                  </a:lnTo>
                  <a:lnTo>
                    <a:pt x="107823" y="494792"/>
                  </a:lnTo>
                  <a:lnTo>
                    <a:pt x="45720" y="407111"/>
                  </a:lnTo>
                  <a:lnTo>
                    <a:pt x="129159" y="137160"/>
                  </a:lnTo>
                  <a:close/>
                </a:path>
                <a:path w="713740" h="751204">
                  <a:moveTo>
                    <a:pt x="315849" y="330695"/>
                  </a:moveTo>
                  <a:lnTo>
                    <a:pt x="168021" y="321310"/>
                  </a:lnTo>
                  <a:lnTo>
                    <a:pt x="142875" y="169735"/>
                  </a:lnTo>
                  <a:lnTo>
                    <a:pt x="122809" y="355752"/>
                  </a:lnTo>
                  <a:lnTo>
                    <a:pt x="139192" y="511708"/>
                  </a:lnTo>
                  <a:lnTo>
                    <a:pt x="156083" y="384556"/>
                  </a:lnTo>
                  <a:lnTo>
                    <a:pt x="315849" y="330695"/>
                  </a:lnTo>
                  <a:close/>
                </a:path>
                <a:path w="713740" h="751204">
                  <a:moveTo>
                    <a:pt x="498221" y="167208"/>
                  </a:moveTo>
                  <a:lnTo>
                    <a:pt x="466979" y="144043"/>
                  </a:lnTo>
                  <a:lnTo>
                    <a:pt x="335915" y="183502"/>
                  </a:lnTo>
                  <a:lnTo>
                    <a:pt x="498221" y="167208"/>
                  </a:lnTo>
                  <a:close/>
                </a:path>
                <a:path w="713740" h="751204">
                  <a:moveTo>
                    <a:pt x="621157" y="90195"/>
                  </a:moveTo>
                  <a:lnTo>
                    <a:pt x="477012" y="0"/>
                  </a:lnTo>
                  <a:lnTo>
                    <a:pt x="136652" y="127127"/>
                  </a:lnTo>
                  <a:lnTo>
                    <a:pt x="327152" y="184759"/>
                  </a:lnTo>
                  <a:lnTo>
                    <a:pt x="265684" y="118351"/>
                  </a:lnTo>
                  <a:lnTo>
                    <a:pt x="470662" y="28206"/>
                  </a:lnTo>
                  <a:lnTo>
                    <a:pt x="498221" y="164109"/>
                  </a:lnTo>
                  <a:lnTo>
                    <a:pt x="518922" y="70764"/>
                  </a:lnTo>
                  <a:lnTo>
                    <a:pt x="621157" y="90195"/>
                  </a:lnTo>
                  <a:close/>
                </a:path>
                <a:path w="713740" h="751204">
                  <a:moveTo>
                    <a:pt x="713232" y="250532"/>
                  </a:moveTo>
                  <a:lnTo>
                    <a:pt x="631825" y="109588"/>
                  </a:lnTo>
                  <a:lnTo>
                    <a:pt x="649986" y="238023"/>
                  </a:lnTo>
                  <a:lnTo>
                    <a:pt x="667893" y="625690"/>
                  </a:lnTo>
                  <a:lnTo>
                    <a:pt x="662432" y="672045"/>
                  </a:lnTo>
                  <a:lnTo>
                    <a:pt x="624840" y="595985"/>
                  </a:lnTo>
                  <a:lnTo>
                    <a:pt x="541528" y="352615"/>
                  </a:lnTo>
                  <a:lnTo>
                    <a:pt x="568452" y="229882"/>
                  </a:lnTo>
                  <a:lnTo>
                    <a:pt x="636778" y="224205"/>
                  </a:lnTo>
                  <a:lnTo>
                    <a:pt x="519557" y="169735"/>
                  </a:lnTo>
                  <a:lnTo>
                    <a:pt x="497586" y="286232"/>
                  </a:lnTo>
                  <a:lnTo>
                    <a:pt x="352171" y="297497"/>
                  </a:lnTo>
                  <a:lnTo>
                    <a:pt x="337185" y="192265"/>
                  </a:lnTo>
                  <a:lnTo>
                    <a:pt x="327152" y="329438"/>
                  </a:lnTo>
                  <a:lnTo>
                    <a:pt x="496951" y="338836"/>
                  </a:lnTo>
                  <a:lnTo>
                    <a:pt x="600837" y="563892"/>
                  </a:lnTo>
                  <a:lnTo>
                    <a:pt x="634873" y="684568"/>
                  </a:lnTo>
                  <a:lnTo>
                    <a:pt x="551815" y="631482"/>
                  </a:lnTo>
                  <a:lnTo>
                    <a:pt x="340360" y="443433"/>
                  </a:lnTo>
                  <a:lnTo>
                    <a:pt x="330962" y="365150"/>
                  </a:lnTo>
                  <a:lnTo>
                    <a:pt x="288925" y="468490"/>
                  </a:lnTo>
                  <a:lnTo>
                    <a:pt x="144145" y="516712"/>
                  </a:lnTo>
                  <a:lnTo>
                    <a:pt x="491363" y="688962"/>
                  </a:lnTo>
                  <a:lnTo>
                    <a:pt x="230632" y="530491"/>
                  </a:lnTo>
                  <a:lnTo>
                    <a:pt x="325882" y="504190"/>
                  </a:lnTo>
                  <a:lnTo>
                    <a:pt x="541528" y="648995"/>
                  </a:lnTo>
                  <a:lnTo>
                    <a:pt x="603631" y="717143"/>
                  </a:lnTo>
                  <a:lnTo>
                    <a:pt x="551942" y="714832"/>
                  </a:lnTo>
                  <a:lnTo>
                    <a:pt x="176149" y="622566"/>
                  </a:lnTo>
                  <a:lnTo>
                    <a:pt x="116586" y="503567"/>
                  </a:lnTo>
                  <a:lnTo>
                    <a:pt x="119126" y="584987"/>
                  </a:lnTo>
                  <a:lnTo>
                    <a:pt x="36322" y="592505"/>
                  </a:lnTo>
                  <a:lnTo>
                    <a:pt x="169164" y="695223"/>
                  </a:lnTo>
                  <a:lnTo>
                    <a:pt x="518414" y="725855"/>
                  </a:lnTo>
                  <a:lnTo>
                    <a:pt x="690626" y="750963"/>
                  </a:lnTo>
                  <a:lnTo>
                    <a:pt x="686308" y="538162"/>
                  </a:lnTo>
                  <a:lnTo>
                    <a:pt x="713232" y="250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20709" y="6071222"/>
              <a:ext cx="690880" cy="657860"/>
            </a:xfrm>
            <a:custGeom>
              <a:avLst/>
              <a:gdLst/>
              <a:ahLst/>
              <a:cxnLst/>
              <a:rect l="l" t="t" r="r" b="b"/>
              <a:pathLst>
                <a:path w="690879" h="657859">
                  <a:moveTo>
                    <a:pt x="288925" y="0"/>
                  </a:moveTo>
                  <a:lnTo>
                    <a:pt x="116586" y="23164"/>
                  </a:lnTo>
                  <a:lnTo>
                    <a:pt x="64516" y="145300"/>
                  </a:lnTo>
                  <a:lnTo>
                    <a:pt x="0" y="657606"/>
                  </a:lnTo>
                  <a:lnTo>
                    <a:pt x="508254" y="607504"/>
                  </a:lnTo>
                  <a:lnTo>
                    <a:pt x="619251" y="575564"/>
                  </a:lnTo>
                  <a:lnTo>
                    <a:pt x="690753" y="430250"/>
                  </a:lnTo>
                  <a:lnTo>
                    <a:pt x="557149" y="102069"/>
                  </a:lnTo>
                  <a:lnTo>
                    <a:pt x="288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225663" y="6210223"/>
              <a:ext cx="685800" cy="499109"/>
            </a:xfrm>
            <a:custGeom>
              <a:avLst/>
              <a:gdLst/>
              <a:ahLst/>
              <a:cxnLst/>
              <a:rect l="l" t="t" r="r" b="b"/>
              <a:pathLst>
                <a:path w="685800" h="499109">
                  <a:moveTo>
                    <a:pt x="171196" y="0"/>
                  </a:moveTo>
                  <a:lnTo>
                    <a:pt x="92837" y="57632"/>
                  </a:lnTo>
                  <a:lnTo>
                    <a:pt x="0" y="447217"/>
                  </a:lnTo>
                  <a:lnTo>
                    <a:pt x="171196" y="0"/>
                  </a:lnTo>
                  <a:close/>
                </a:path>
                <a:path w="685800" h="499109">
                  <a:moveTo>
                    <a:pt x="223774" y="198564"/>
                  </a:moveTo>
                  <a:lnTo>
                    <a:pt x="173609" y="82689"/>
                  </a:lnTo>
                  <a:lnTo>
                    <a:pt x="183007" y="187921"/>
                  </a:lnTo>
                  <a:lnTo>
                    <a:pt x="6985" y="489178"/>
                  </a:lnTo>
                  <a:lnTo>
                    <a:pt x="223774" y="198564"/>
                  </a:lnTo>
                  <a:close/>
                </a:path>
                <a:path w="685800" h="499109">
                  <a:moveTo>
                    <a:pt x="377317" y="332600"/>
                  </a:moveTo>
                  <a:lnTo>
                    <a:pt x="243840" y="355142"/>
                  </a:lnTo>
                  <a:lnTo>
                    <a:pt x="241427" y="222364"/>
                  </a:lnTo>
                  <a:lnTo>
                    <a:pt x="28194" y="496697"/>
                  </a:lnTo>
                  <a:lnTo>
                    <a:pt x="377317" y="332600"/>
                  </a:lnTo>
                  <a:close/>
                </a:path>
                <a:path w="685800" h="499109">
                  <a:moveTo>
                    <a:pt x="505206" y="355142"/>
                  </a:moveTo>
                  <a:lnTo>
                    <a:pt x="379222" y="347002"/>
                  </a:lnTo>
                  <a:lnTo>
                    <a:pt x="39497" y="498576"/>
                  </a:lnTo>
                  <a:lnTo>
                    <a:pt x="460121" y="387718"/>
                  </a:lnTo>
                  <a:lnTo>
                    <a:pt x="478917" y="454101"/>
                  </a:lnTo>
                  <a:lnTo>
                    <a:pt x="505206" y="355142"/>
                  </a:lnTo>
                  <a:close/>
                </a:path>
                <a:path w="685800" h="499109">
                  <a:moveTo>
                    <a:pt x="637413" y="333857"/>
                  </a:moveTo>
                  <a:lnTo>
                    <a:pt x="543433" y="318820"/>
                  </a:lnTo>
                  <a:lnTo>
                    <a:pt x="488315" y="440956"/>
                  </a:lnTo>
                  <a:lnTo>
                    <a:pt x="606171" y="431558"/>
                  </a:lnTo>
                  <a:lnTo>
                    <a:pt x="637413" y="333857"/>
                  </a:lnTo>
                  <a:close/>
                </a:path>
                <a:path w="685800" h="499109">
                  <a:moveTo>
                    <a:pt x="685800" y="298157"/>
                  </a:moveTo>
                  <a:lnTo>
                    <a:pt x="579120" y="40081"/>
                  </a:lnTo>
                  <a:lnTo>
                    <a:pt x="626872" y="253682"/>
                  </a:lnTo>
                  <a:lnTo>
                    <a:pt x="534035" y="306298"/>
                  </a:lnTo>
                  <a:lnTo>
                    <a:pt x="685800" y="298157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333485" y="6099378"/>
              <a:ext cx="146050" cy="100330"/>
            </a:xfrm>
            <a:custGeom>
              <a:avLst/>
              <a:gdLst/>
              <a:ahLst/>
              <a:cxnLst/>
              <a:rect l="l" t="t" r="r" b="b"/>
              <a:pathLst>
                <a:path w="146050" h="100329">
                  <a:moveTo>
                    <a:pt x="146050" y="0"/>
                  </a:moveTo>
                  <a:lnTo>
                    <a:pt x="15113" y="16294"/>
                  </a:lnTo>
                  <a:lnTo>
                    <a:pt x="0" y="100241"/>
                  </a:lnTo>
                  <a:lnTo>
                    <a:pt x="91567" y="72021"/>
                  </a:lnTo>
                  <a:lnTo>
                    <a:pt x="146050" y="0"/>
                  </a:lnTo>
                  <a:close/>
                </a:path>
              </a:pathLst>
            </a:custGeom>
            <a:solidFill>
              <a:srgbClr val="D6FA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9939" y="6215900"/>
              <a:ext cx="344677" cy="3475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398128" y="6089345"/>
              <a:ext cx="360680" cy="109855"/>
            </a:xfrm>
            <a:custGeom>
              <a:avLst/>
              <a:gdLst/>
              <a:ahLst/>
              <a:cxnLst/>
              <a:rect l="l" t="t" r="r" b="b"/>
              <a:pathLst>
                <a:path w="360679" h="109854">
                  <a:moveTo>
                    <a:pt x="113411" y="0"/>
                  </a:moveTo>
                  <a:lnTo>
                    <a:pt x="0" y="109639"/>
                  </a:lnTo>
                  <a:lnTo>
                    <a:pt x="162941" y="93357"/>
                  </a:lnTo>
                  <a:lnTo>
                    <a:pt x="360299" y="90830"/>
                  </a:lnTo>
                  <a:lnTo>
                    <a:pt x="151638" y="59524"/>
                  </a:lnTo>
                  <a:lnTo>
                    <a:pt x="113411" y="0"/>
                  </a:lnTo>
                  <a:close/>
                </a:path>
              </a:pathLst>
            </a:custGeom>
            <a:solidFill>
              <a:srgbClr val="D6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229472" y="6309195"/>
              <a:ext cx="171450" cy="370840"/>
            </a:xfrm>
            <a:custGeom>
              <a:avLst/>
              <a:gdLst/>
              <a:ahLst/>
              <a:cxnLst/>
              <a:rect l="l" t="t" r="r" b="b"/>
              <a:pathLst>
                <a:path w="171450" h="370840">
                  <a:moveTo>
                    <a:pt x="147320" y="0"/>
                  </a:moveTo>
                  <a:lnTo>
                    <a:pt x="52577" y="195427"/>
                  </a:lnTo>
                  <a:lnTo>
                    <a:pt x="0" y="370801"/>
                  </a:lnTo>
                  <a:lnTo>
                    <a:pt x="171069" y="77673"/>
                  </a:lnTo>
                  <a:lnTo>
                    <a:pt x="147320" y="0"/>
                  </a:lnTo>
                  <a:close/>
                </a:path>
              </a:pathLst>
            </a:custGeom>
            <a:solidFill>
              <a:srgbClr val="B0EB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4087" y="6094387"/>
              <a:ext cx="262000" cy="47097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265160" y="6118822"/>
              <a:ext cx="479425" cy="593725"/>
            </a:xfrm>
            <a:custGeom>
              <a:avLst/>
              <a:gdLst/>
              <a:ahLst/>
              <a:cxnLst/>
              <a:rect l="l" t="t" r="r" b="b"/>
              <a:pathLst>
                <a:path w="479425" h="593725">
                  <a:moveTo>
                    <a:pt x="436245" y="542378"/>
                  </a:moveTo>
                  <a:lnTo>
                    <a:pt x="432435" y="487260"/>
                  </a:lnTo>
                  <a:lnTo>
                    <a:pt x="364236" y="455942"/>
                  </a:lnTo>
                  <a:lnTo>
                    <a:pt x="0" y="593102"/>
                  </a:lnTo>
                  <a:lnTo>
                    <a:pt x="436245" y="542378"/>
                  </a:lnTo>
                  <a:close/>
                </a:path>
                <a:path w="479425" h="593725">
                  <a:moveTo>
                    <a:pt x="478917" y="59461"/>
                  </a:moveTo>
                  <a:lnTo>
                    <a:pt x="274574" y="42545"/>
                  </a:lnTo>
                  <a:lnTo>
                    <a:pt x="181229" y="50685"/>
                  </a:lnTo>
                  <a:lnTo>
                    <a:pt x="214376" y="0"/>
                  </a:lnTo>
                  <a:lnTo>
                    <a:pt x="153543" y="52578"/>
                  </a:lnTo>
                  <a:lnTo>
                    <a:pt x="144145" y="85153"/>
                  </a:lnTo>
                  <a:lnTo>
                    <a:pt x="478917" y="59461"/>
                  </a:lnTo>
                  <a:close/>
                </a:path>
              </a:pathLst>
            </a:custGeom>
            <a:solidFill>
              <a:srgbClr val="B0EB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02344" y="6239700"/>
              <a:ext cx="256412" cy="26554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506208" y="5766168"/>
              <a:ext cx="1416685" cy="977900"/>
            </a:xfrm>
            <a:custGeom>
              <a:avLst/>
              <a:gdLst/>
              <a:ahLst/>
              <a:cxnLst/>
              <a:rect l="l" t="t" r="r" b="b"/>
              <a:pathLst>
                <a:path w="1416684" h="977900">
                  <a:moveTo>
                    <a:pt x="303276" y="625081"/>
                  </a:moveTo>
                  <a:lnTo>
                    <a:pt x="104648" y="251155"/>
                  </a:lnTo>
                  <a:lnTo>
                    <a:pt x="152908" y="123393"/>
                  </a:lnTo>
                  <a:lnTo>
                    <a:pt x="68326" y="184759"/>
                  </a:lnTo>
                  <a:lnTo>
                    <a:pt x="0" y="139052"/>
                  </a:lnTo>
                  <a:lnTo>
                    <a:pt x="45720" y="365150"/>
                  </a:lnTo>
                  <a:lnTo>
                    <a:pt x="68326" y="387692"/>
                  </a:lnTo>
                  <a:lnTo>
                    <a:pt x="72644" y="291871"/>
                  </a:lnTo>
                  <a:lnTo>
                    <a:pt x="303276" y="625081"/>
                  </a:lnTo>
                  <a:close/>
                </a:path>
                <a:path w="1416684" h="977900">
                  <a:moveTo>
                    <a:pt x="1234694" y="418998"/>
                  </a:moveTo>
                  <a:lnTo>
                    <a:pt x="1054862" y="409651"/>
                  </a:lnTo>
                  <a:lnTo>
                    <a:pt x="906272" y="434073"/>
                  </a:lnTo>
                  <a:lnTo>
                    <a:pt x="1029208" y="443433"/>
                  </a:lnTo>
                  <a:lnTo>
                    <a:pt x="1089279" y="593763"/>
                  </a:lnTo>
                  <a:lnTo>
                    <a:pt x="1090549" y="451573"/>
                  </a:lnTo>
                  <a:lnTo>
                    <a:pt x="1234694" y="418998"/>
                  </a:lnTo>
                  <a:close/>
                </a:path>
                <a:path w="1416684" h="977900">
                  <a:moveTo>
                    <a:pt x="1265428" y="403974"/>
                  </a:moveTo>
                  <a:lnTo>
                    <a:pt x="1019556" y="298513"/>
                  </a:lnTo>
                  <a:lnTo>
                    <a:pt x="1034796" y="202933"/>
                  </a:lnTo>
                  <a:lnTo>
                    <a:pt x="983107" y="300037"/>
                  </a:lnTo>
                  <a:lnTo>
                    <a:pt x="927608" y="313728"/>
                  </a:lnTo>
                  <a:lnTo>
                    <a:pt x="859282" y="159753"/>
                  </a:lnTo>
                  <a:lnTo>
                    <a:pt x="745236" y="248691"/>
                  </a:lnTo>
                  <a:lnTo>
                    <a:pt x="585978" y="130276"/>
                  </a:lnTo>
                  <a:lnTo>
                    <a:pt x="647446" y="0"/>
                  </a:lnTo>
                  <a:lnTo>
                    <a:pt x="530860" y="134696"/>
                  </a:lnTo>
                  <a:lnTo>
                    <a:pt x="701929" y="316928"/>
                  </a:lnTo>
                  <a:lnTo>
                    <a:pt x="619887" y="588124"/>
                  </a:lnTo>
                  <a:lnTo>
                    <a:pt x="743331" y="355752"/>
                  </a:lnTo>
                  <a:lnTo>
                    <a:pt x="843534" y="271233"/>
                  </a:lnTo>
                  <a:lnTo>
                    <a:pt x="905764" y="319100"/>
                  </a:lnTo>
                  <a:lnTo>
                    <a:pt x="848614" y="333209"/>
                  </a:lnTo>
                  <a:lnTo>
                    <a:pt x="938276" y="328853"/>
                  </a:lnTo>
                  <a:lnTo>
                    <a:pt x="920750" y="403339"/>
                  </a:lnTo>
                  <a:lnTo>
                    <a:pt x="1001522" y="338836"/>
                  </a:lnTo>
                  <a:lnTo>
                    <a:pt x="1265428" y="403974"/>
                  </a:lnTo>
                  <a:close/>
                </a:path>
                <a:path w="1416684" h="977900">
                  <a:moveTo>
                    <a:pt x="1277366" y="729056"/>
                  </a:moveTo>
                  <a:lnTo>
                    <a:pt x="1232154" y="605040"/>
                  </a:lnTo>
                  <a:lnTo>
                    <a:pt x="1256665" y="759739"/>
                  </a:lnTo>
                  <a:lnTo>
                    <a:pt x="1277366" y="729056"/>
                  </a:lnTo>
                  <a:close/>
                </a:path>
                <a:path w="1416684" h="977900">
                  <a:moveTo>
                    <a:pt x="1319276" y="885634"/>
                  </a:moveTo>
                  <a:lnTo>
                    <a:pt x="1197102" y="909434"/>
                  </a:lnTo>
                  <a:lnTo>
                    <a:pt x="822706" y="948232"/>
                  </a:lnTo>
                  <a:lnTo>
                    <a:pt x="781558" y="945756"/>
                  </a:lnTo>
                  <a:lnTo>
                    <a:pt x="849884" y="906602"/>
                  </a:lnTo>
                  <a:lnTo>
                    <a:pt x="1081151" y="812355"/>
                  </a:lnTo>
                  <a:lnTo>
                    <a:pt x="1200277" y="831151"/>
                  </a:lnTo>
                  <a:lnTo>
                    <a:pt x="1209675" y="896277"/>
                  </a:lnTo>
                  <a:lnTo>
                    <a:pt x="1255395" y="781037"/>
                  </a:lnTo>
                  <a:lnTo>
                    <a:pt x="1142619" y="766000"/>
                  </a:lnTo>
                  <a:lnTo>
                    <a:pt x="1123823" y="627595"/>
                  </a:lnTo>
                  <a:lnTo>
                    <a:pt x="1224026" y="606920"/>
                  </a:lnTo>
                  <a:lnTo>
                    <a:pt x="1091184" y="605040"/>
                  </a:lnTo>
                  <a:lnTo>
                    <a:pt x="1091819" y="768515"/>
                  </a:lnTo>
                  <a:lnTo>
                    <a:pt x="883793" y="879513"/>
                  </a:lnTo>
                  <a:lnTo>
                    <a:pt x="767715" y="920089"/>
                  </a:lnTo>
                  <a:lnTo>
                    <a:pt x="813054" y="838923"/>
                  </a:lnTo>
                  <a:lnTo>
                    <a:pt x="983361" y="623836"/>
                  </a:lnTo>
                  <a:lnTo>
                    <a:pt x="1057402" y="610057"/>
                  </a:lnTo>
                  <a:lnTo>
                    <a:pt x="956437" y="575602"/>
                  </a:lnTo>
                  <a:lnTo>
                    <a:pt x="901954" y="439064"/>
                  </a:lnTo>
                  <a:lnTo>
                    <a:pt x="755777" y="782294"/>
                  </a:lnTo>
                  <a:lnTo>
                    <a:pt x="893064" y="523646"/>
                  </a:lnTo>
                  <a:lnTo>
                    <a:pt x="923798" y="613181"/>
                  </a:lnTo>
                  <a:lnTo>
                    <a:pt x="797306" y="827481"/>
                  </a:lnTo>
                  <a:lnTo>
                    <a:pt x="734568" y="891895"/>
                  </a:lnTo>
                  <a:lnTo>
                    <a:pt x="733933" y="842987"/>
                  </a:lnTo>
                  <a:lnTo>
                    <a:pt x="801624" y="475996"/>
                  </a:lnTo>
                  <a:lnTo>
                    <a:pt x="912495" y="412115"/>
                  </a:lnTo>
                  <a:lnTo>
                    <a:pt x="835406" y="418998"/>
                  </a:lnTo>
                  <a:lnTo>
                    <a:pt x="822960" y="340093"/>
                  </a:lnTo>
                  <a:lnTo>
                    <a:pt x="732028" y="473532"/>
                  </a:lnTo>
                  <a:lnTo>
                    <a:pt x="721868" y="810450"/>
                  </a:lnTo>
                  <a:lnTo>
                    <a:pt x="707644" y="977709"/>
                  </a:lnTo>
                  <a:lnTo>
                    <a:pt x="916813" y="961212"/>
                  </a:lnTo>
                  <a:lnTo>
                    <a:pt x="1188974" y="971435"/>
                  </a:lnTo>
                  <a:lnTo>
                    <a:pt x="1319276" y="885634"/>
                  </a:lnTo>
                  <a:close/>
                </a:path>
                <a:path w="1416684" h="977900">
                  <a:moveTo>
                    <a:pt x="1416431" y="730313"/>
                  </a:moveTo>
                  <a:lnTo>
                    <a:pt x="1274826" y="410273"/>
                  </a:lnTo>
                  <a:lnTo>
                    <a:pt x="1230249" y="596900"/>
                  </a:lnTo>
                  <a:lnTo>
                    <a:pt x="1290447" y="534250"/>
                  </a:lnTo>
                  <a:lnTo>
                    <a:pt x="1388872" y="725919"/>
                  </a:lnTo>
                  <a:lnTo>
                    <a:pt x="1259713" y="759739"/>
                  </a:lnTo>
                  <a:lnTo>
                    <a:pt x="1350645" y="774776"/>
                  </a:lnTo>
                  <a:lnTo>
                    <a:pt x="1336802" y="873734"/>
                  </a:lnTo>
                  <a:lnTo>
                    <a:pt x="1416431" y="7303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78953" y="6272250"/>
              <a:ext cx="181114" cy="15594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09329" y="6382486"/>
              <a:ext cx="150431" cy="172859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0" rIns="0" bIns="0" rtlCol="0" vert="horz">
            <a:spAutoFit/>
          </a:bodyPr>
          <a:lstStyle/>
          <a:p>
            <a:pPr marL="3323590" marR="5080" indent="-3303270">
              <a:lnSpc>
                <a:spcPct val="100000"/>
              </a:lnSpc>
              <a:spcBef>
                <a:spcPts val="100"/>
              </a:spcBef>
            </a:pPr>
            <a:r>
              <a:rPr dirty="0"/>
              <a:t>KDD</a:t>
            </a:r>
            <a:r>
              <a:rPr dirty="0" spc="-45"/>
              <a:t> </a:t>
            </a:r>
            <a:r>
              <a:rPr dirty="0"/>
              <a:t>Process: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Typical</a:t>
            </a:r>
            <a:r>
              <a:rPr dirty="0" spc="-95"/>
              <a:t> </a:t>
            </a:r>
            <a:r>
              <a:rPr dirty="0"/>
              <a:t>View</a:t>
            </a:r>
            <a:r>
              <a:rPr dirty="0" spc="-45"/>
              <a:t>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/>
              <a:t>ML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-10"/>
              <a:t>Statistics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3905" y="2277364"/>
            <a:ext cx="381635" cy="171450"/>
            <a:chOff x="1533905" y="2277364"/>
            <a:chExt cx="381635" cy="171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963" y="2362962"/>
              <a:ext cx="138430" cy="855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33905" y="2343912"/>
              <a:ext cx="305435" cy="38100"/>
            </a:xfrm>
            <a:custGeom>
              <a:avLst/>
              <a:gdLst/>
              <a:ahLst/>
              <a:cxnLst/>
              <a:rect l="l" t="t" r="r" b="b"/>
              <a:pathLst>
                <a:path w="305435" h="38100">
                  <a:moveTo>
                    <a:pt x="2726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72669" y="38100"/>
                  </a:lnTo>
                  <a:lnTo>
                    <a:pt x="305307" y="19050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963" y="2277364"/>
              <a:ext cx="171069" cy="10464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416296" y="1815083"/>
            <a:ext cx="1604645" cy="1237615"/>
            <a:chOff x="5416296" y="1815083"/>
            <a:chExt cx="1604645" cy="12376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9364" y="2362961"/>
              <a:ext cx="138429" cy="855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63106" y="2343911"/>
              <a:ext cx="381635" cy="38100"/>
            </a:xfrm>
            <a:custGeom>
              <a:avLst/>
              <a:gdLst/>
              <a:ahLst/>
              <a:cxnLst/>
              <a:rect l="l" t="t" r="r" b="b"/>
              <a:pathLst>
                <a:path w="381634" h="38100">
                  <a:moveTo>
                    <a:pt x="3488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48869" y="38100"/>
                  </a:lnTo>
                  <a:lnTo>
                    <a:pt x="381508" y="19050"/>
                  </a:lnTo>
                  <a:lnTo>
                    <a:pt x="348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9364" y="2277363"/>
              <a:ext cx="171068" cy="1046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6296" y="1815083"/>
              <a:ext cx="1159763" cy="123748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3779" y="2182114"/>
            <a:ext cx="1262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ahoma"/>
                <a:cs typeface="Tahoma"/>
              </a:rPr>
              <a:t>Input</a:t>
            </a:r>
            <a:r>
              <a:rPr dirty="0" sz="1800" spc="-114" b="1">
                <a:latin typeface="Tahoma"/>
                <a:cs typeface="Tahoma"/>
              </a:rPr>
              <a:t> </a:t>
            </a:r>
            <a:r>
              <a:rPr dirty="0" sz="1800" spc="-20" b="1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1867" y="1819630"/>
            <a:ext cx="1074420" cy="122684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68267" y="1819643"/>
            <a:ext cx="1074419" cy="12283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92695" y="1795145"/>
            <a:ext cx="1882140" cy="10778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716528" y="2089150"/>
            <a:ext cx="883919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32080">
              <a:lnSpc>
                <a:spcPct val="100000"/>
              </a:lnSpc>
              <a:spcBef>
                <a:spcPts val="105"/>
              </a:spcBef>
            </a:pPr>
            <a:r>
              <a:rPr dirty="0" sz="2000" spc="-20" b="1">
                <a:solidFill>
                  <a:srgbClr val="FF0000"/>
                </a:solidFill>
                <a:latin typeface="Tahoma"/>
                <a:cs typeface="Tahoma"/>
              </a:rPr>
              <a:t>Data Mining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9201" y="2181225"/>
            <a:ext cx="979169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Tahoma"/>
                <a:cs typeface="Tahoma"/>
              </a:rPr>
              <a:t>Data</a:t>
            </a:r>
            <a:r>
              <a:rPr dirty="0" sz="1400" spc="-35" b="1">
                <a:latin typeface="Tahoma"/>
                <a:cs typeface="Tahoma"/>
              </a:rPr>
              <a:t> </a:t>
            </a:r>
            <a:r>
              <a:rPr dirty="0" sz="1400" spc="-20" b="1">
                <a:latin typeface="Tahoma"/>
                <a:cs typeface="Tahoma"/>
              </a:rPr>
              <a:t>Pre-</a:t>
            </a:r>
            <a:r>
              <a:rPr dirty="0" sz="1400" spc="-25" b="1">
                <a:latin typeface="Tahoma"/>
                <a:cs typeface="Tahoma"/>
              </a:rPr>
              <a:t>Processing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34105" y="2277364"/>
            <a:ext cx="381635" cy="171450"/>
            <a:chOff x="3134105" y="2277364"/>
            <a:chExt cx="381635" cy="1714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4163" y="2362962"/>
              <a:ext cx="138430" cy="85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34105" y="2343912"/>
              <a:ext cx="305435" cy="38100"/>
            </a:xfrm>
            <a:custGeom>
              <a:avLst/>
              <a:gdLst/>
              <a:ahLst/>
              <a:cxnLst/>
              <a:rect l="l" t="t" r="r" b="b"/>
              <a:pathLst>
                <a:path w="305435" h="38100">
                  <a:moveTo>
                    <a:pt x="2726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72669" y="38100"/>
                  </a:lnTo>
                  <a:lnTo>
                    <a:pt x="305307" y="19050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4163" y="2277364"/>
              <a:ext cx="171069" cy="104648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886705" y="2277364"/>
            <a:ext cx="381635" cy="171450"/>
            <a:chOff x="4886705" y="2277364"/>
            <a:chExt cx="381635" cy="1714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6763" y="2362962"/>
              <a:ext cx="138430" cy="8559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86705" y="2343912"/>
              <a:ext cx="305435" cy="38100"/>
            </a:xfrm>
            <a:custGeom>
              <a:avLst/>
              <a:gdLst/>
              <a:ahLst/>
              <a:cxnLst/>
              <a:rect l="l" t="t" r="r" b="b"/>
              <a:pathLst>
                <a:path w="305435" h="38100">
                  <a:moveTo>
                    <a:pt x="272669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72669" y="38100"/>
                  </a:lnTo>
                  <a:lnTo>
                    <a:pt x="305308" y="19050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6763" y="2277364"/>
              <a:ext cx="171069" cy="10464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436489" y="2119122"/>
            <a:ext cx="111442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ahoma"/>
                <a:cs typeface="Tahoma"/>
              </a:rPr>
              <a:t>Post-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600" spc="-10" b="1">
                <a:latin typeface="Tahoma"/>
                <a:cs typeface="Tahoma"/>
              </a:rPr>
              <a:t>Processing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0044" y="5865063"/>
            <a:ext cx="74555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</a:tabLst>
            </a:pPr>
            <a:r>
              <a:rPr dirty="0" sz="1800">
                <a:latin typeface="Tahoma"/>
                <a:cs typeface="Tahoma"/>
              </a:rPr>
              <a:t>This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view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from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typical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machine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learning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and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statistics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communities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2544" y="3886200"/>
            <a:ext cx="2133600" cy="11430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91440" marR="223520">
              <a:lnSpc>
                <a:spcPct val="110100"/>
              </a:lnSpc>
              <a:spcBef>
                <a:spcPts val="20"/>
              </a:spcBef>
            </a:pPr>
            <a:r>
              <a:rPr dirty="0" sz="1600">
                <a:latin typeface="Tahoma"/>
                <a:cs typeface="Tahoma"/>
              </a:rPr>
              <a:t>Data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integration Normalization </a:t>
            </a:r>
            <a:r>
              <a:rPr dirty="0" sz="1600">
                <a:latin typeface="Tahoma"/>
                <a:cs typeface="Tahoma"/>
              </a:rPr>
              <a:t>Feature</a:t>
            </a:r>
            <a:r>
              <a:rPr dirty="0" sz="1600" spc="-12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selection Dimension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reduction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57144" y="3886200"/>
            <a:ext cx="2362200" cy="15240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10795" rIns="0" bIns="0" rtlCol="0" vert="horz">
            <a:spAutoFit/>
          </a:bodyPr>
          <a:lstStyle/>
          <a:p>
            <a:pPr marL="92075" marR="82550">
              <a:lnSpc>
                <a:spcPct val="100000"/>
              </a:lnSpc>
              <a:spcBef>
                <a:spcPts val="85"/>
              </a:spcBef>
            </a:pPr>
            <a:r>
              <a:rPr dirty="0" sz="1600">
                <a:latin typeface="Tahoma"/>
                <a:cs typeface="Tahoma"/>
              </a:rPr>
              <a:t>Pattern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discovery </a:t>
            </a:r>
            <a:r>
              <a:rPr dirty="0" sz="1600">
                <a:latin typeface="Tahoma"/>
                <a:cs typeface="Tahoma"/>
              </a:rPr>
              <a:t>Association</a:t>
            </a:r>
            <a:r>
              <a:rPr dirty="0" sz="1600" spc="-5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&amp;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correlation Classification</a:t>
            </a:r>
            <a:endParaRPr sz="16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latin typeface="Tahoma"/>
                <a:cs typeface="Tahoma"/>
              </a:rPr>
              <a:t>Clustering</a:t>
            </a:r>
            <a:endParaRPr sz="16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dirty="0" sz="1600">
                <a:latin typeface="Tahoma"/>
                <a:cs typeface="Tahoma"/>
              </a:rPr>
              <a:t>Outlier</a:t>
            </a:r>
            <a:r>
              <a:rPr dirty="0" sz="1600" spc="-10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analysis</a:t>
            </a:r>
            <a:endParaRPr sz="16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dirty="0" sz="1600">
                <a:latin typeface="Tahoma"/>
                <a:cs typeface="Tahoma"/>
              </a:rPr>
              <a:t>…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…</a:t>
            </a:r>
            <a:r>
              <a:rPr dirty="0" sz="1600" spc="-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…</a:t>
            </a:r>
            <a:r>
              <a:rPr dirty="0" sz="1600" spc="-15">
                <a:latin typeface="Tahoma"/>
                <a:cs typeface="Tahoma"/>
              </a:rPr>
              <a:t> </a:t>
            </a:r>
            <a:r>
              <a:rPr dirty="0" sz="1600" spc="-60">
                <a:latin typeface="Tahoma"/>
                <a:cs typeface="Tahoma"/>
              </a:rPr>
              <a:t>…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76544" y="3886200"/>
            <a:ext cx="2133600" cy="11430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92075" marR="144780">
              <a:lnSpc>
                <a:spcPct val="110100"/>
              </a:lnSpc>
              <a:spcBef>
                <a:spcPts val="20"/>
              </a:spcBef>
            </a:pPr>
            <a:r>
              <a:rPr dirty="0" sz="1600">
                <a:latin typeface="Tahoma"/>
                <a:cs typeface="Tahoma"/>
              </a:rPr>
              <a:t>Pattern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evaluation Pattern</a:t>
            </a:r>
            <a:r>
              <a:rPr dirty="0" sz="1600" spc="-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selection </a:t>
            </a:r>
            <a:r>
              <a:rPr dirty="0" sz="1600">
                <a:latin typeface="Tahoma"/>
                <a:cs typeface="Tahoma"/>
              </a:rPr>
              <a:t>Pattern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20">
                <a:latin typeface="Tahoma"/>
                <a:cs typeface="Tahoma"/>
              </a:rPr>
              <a:t>interpretation </a:t>
            </a:r>
            <a:r>
              <a:rPr dirty="0" sz="1600">
                <a:latin typeface="Tahoma"/>
                <a:cs typeface="Tahoma"/>
              </a:rPr>
              <a:t>Pattern</a:t>
            </a:r>
            <a:r>
              <a:rPr dirty="0" sz="1600" spc="-12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visualization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807273" y="2848419"/>
            <a:ext cx="386080" cy="984250"/>
            <a:chOff x="1807273" y="2848419"/>
            <a:chExt cx="386080" cy="984250"/>
          </a:xfrm>
        </p:grpSpPr>
        <p:sp>
          <p:nvSpPr>
            <p:cNvPr id="32" name="object 32"/>
            <p:cNvSpPr/>
            <p:nvPr/>
          </p:nvSpPr>
          <p:spPr>
            <a:xfrm>
              <a:off x="1843150" y="2853182"/>
              <a:ext cx="345440" cy="488950"/>
            </a:xfrm>
            <a:custGeom>
              <a:avLst/>
              <a:gdLst/>
              <a:ahLst/>
              <a:cxnLst/>
              <a:rect l="l" t="t" r="r" b="b"/>
              <a:pathLst>
                <a:path w="345439" h="488950">
                  <a:moveTo>
                    <a:pt x="272669" y="0"/>
                  </a:moveTo>
                  <a:lnTo>
                    <a:pt x="257048" y="97789"/>
                  </a:lnTo>
                  <a:lnTo>
                    <a:pt x="214375" y="110997"/>
                  </a:lnTo>
                  <a:lnTo>
                    <a:pt x="174625" y="130428"/>
                  </a:lnTo>
                  <a:lnTo>
                    <a:pt x="137922" y="155447"/>
                  </a:lnTo>
                  <a:lnTo>
                    <a:pt x="104775" y="185419"/>
                  </a:lnTo>
                  <a:lnTo>
                    <a:pt x="75437" y="219837"/>
                  </a:lnTo>
                  <a:lnTo>
                    <a:pt x="50418" y="258190"/>
                  </a:lnTo>
                  <a:lnTo>
                    <a:pt x="29972" y="299846"/>
                  </a:lnTo>
                  <a:lnTo>
                    <a:pt x="14478" y="344296"/>
                  </a:lnTo>
                  <a:lnTo>
                    <a:pt x="4444" y="390905"/>
                  </a:lnTo>
                  <a:lnTo>
                    <a:pt x="0" y="439165"/>
                  </a:lnTo>
                  <a:lnTo>
                    <a:pt x="1778" y="488441"/>
                  </a:lnTo>
                  <a:lnTo>
                    <a:pt x="27050" y="440563"/>
                  </a:lnTo>
                  <a:lnTo>
                    <a:pt x="58166" y="398017"/>
                  </a:lnTo>
                  <a:lnTo>
                    <a:pt x="94234" y="361441"/>
                  </a:lnTo>
                  <a:lnTo>
                    <a:pt x="134619" y="331469"/>
                  </a:lnTo>
                  <a:lnTo>
                    <a:pt x="178816" y="308609"/>
                  </a:lnTo>
                  <a:lnTo>
                    <a:pt x="225806" y="293496"/>
                  </a:lnTo>
                  <a:lnTo>
                    <a:pt x="210185" y="391287"/>
                  </a:lnTo>
                  <a:lnTo>
                    <a:pt x="344931" y="192023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12035" y="3241802"/>
              <a:ext cx="282575" cy="586105"/>
            </a:xfrm>
            <a:custGeom>
              <a:avLst/>
              <a:gdLst/>
              <a:ahLst/>
              <a:cxnLst/>
              <a:rect l="l" t="t" r="r" b="b"/>
              <a:pathLst>
                <a:path w="282575" h="586104">
                  <a:moveTo>
                    <a:pt x="35940" y="0"/>
                  </a:moveTo>
                  <a:lnTo>
                    <a:pt x="4825" y="195580"/>
                  </a:lnTo>
                  <a:lnTo>
                    <a:pt x="0" y="246634"/>
                  </a:lnTo>
                  <a:lnTo>
                    <a:pt x="1777" y="296545"/>
                  </a:lnTo>
                  <a:lnTo>
                    <a:pt x="9778" y="344424"/>
                  </a:lnTo>
                  <a:lnTo>
                    <a:pt x="23494" y="389763"/>
                  </a:lnTo>
                  <a:lnTo>
                    <a:pt x="42799" y="431927"/>
                  </a:lnTo>
                  <a:lnTo>
                    <a:pt x="67056" y="470535"/>
                  </a:lnTo>
                  <a:lnTo>
                    <a:pt x="96012" y="504698"/>
                  </a:lnTo>
                  <a:lnTo>
                    <a:pt x="129286" y="533908"/>
                  </a:lnTo>
                  <a:lnTo>
                    <a:pt x="166496" y="557657"/>
                  </a:lnTo>
                  <a:lnTo>
                    <a:pt x="207263" y="575183"/>
                  </a:lnTo>
                  <a:lnTo>
                    <a:pt x="251078" y="585978"/>
                  </a:lnTo>
                  <a:lnTo>
                    <a:pt x="282320" y="390398"/>
                  </a:lnTo>
                  <a:lnTo>
                    <a:pt x="238378" y="379603"/>
                  </a:lnTo>
                  <a:lnTo>
                    <a:pt x="197738" y="362076"/>
                  </a:lnTo>
                  <a:lnTo>
                    <a:pt x="160527" y="338327"/>
                  </a:lnTo>
                  <a:lnTo>
                    <a:pt x="127253" y="309118"/>
                  </a:lnTo>
                  <a:lnTo>
                    <a:pt x="98297" y="274955"/>
                  </a:lnTo>
                  <a:lnTo>
                    <a:pt x="73913" y="236347"/>
                  </a:lnTo>
                  <a:lnTo>
                    <a:pt x="54737" y="194183"/>
                  </a:lnTo>
                  <a:lnTo>
                    <a:pt x="40893" y="148844"/>
                  </a:lnTo>
                  <a:lnTo>
                    <a:pt x="32893" y="100964"/>
                  </a:lnTo>
                  <a:lnTo>
                    <a:pt x="31114" y="51053"/>
                  </a:lnTo>
                  <a:lnTo>
                    <a:pt x="35940" y="0"/>
                  </a:lnTo>
                  <a:close/>
                </a:path>
              </a:pathLst>
            </a:custGeom>
            <a:solidFill>
              <a:srgbClr val="00B7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812035" y="2853182"/>
              <a:ext cx="376555" cy="974725"/>
            </a:xfrm>
            <a:custGeom>
              <a:avLst/>
              <a:gdLst/>
              <a:ahLst/>
              <a:cxnLst/>
              <a:rect l="l" t="t" r="r" b="b"/>
              <a:pathLst>
                <a:path w="376555" h="974725">
                  <a:moveTo>
                    <a:pt x="35940" y="388619"/>
                  </a:moveTo>
                  <a:lnTo>
                    <a:pt x="31114" y="439673"/>
                  </a:lnTo>
                  <a:lnTo>
                    <a:pt x="32893" y="489584"/>
                  </a:lnTo>
                  <a:lnTo>
                    <a:pt x="40893" y="537463"/>
                  </a:lnTo>
                  <a:lnTo>
                    <a:pt x="54737" y="582802"/>
                  </a:lnTo>
                  <a:lnTo>
                    <a:pt x="73913" y="624966"/>
                  </a:lnTo>
                  <a:lnTo>
                    <a:pt x="98297" y="663575"/>
                  </a:lnTo>
                  <a:lnTo>
                    <a:pt x="127253" y="697738"/>
                  </a:lnTo>
                  <a:lnTo>
                    <a:pt x="160527" y="726947"/>
                  </a:lnTo>
                  <a:lnTo>
                    <a:pt x="197738" y="750696"/>
                  </a:lnTo>
                  <a:lnTo>
                    <a:pt x="238378" y="768222"/>
                  </a:lnTo>
                  <a:lnTo>
                    <a:pt x="282320" y="779017"/>
                  </a:lnTo>
                  <a:lnTo>
                    <a:pt x="251078" y="974597"/>
                  </a:lnTo>
                  <a:lnTo>
                    <a:pt x="207263" y="963802"/>
                  </a:lnTo>
                  <a:lnTo>
                    <a:pt x="166496" y="946276"/>
                  </a:lnTo>
                  <a:lnTo>
                    <a:pt x="129286" y="922527"/>
                  </a:lnTo>
                  <a:lnTo>
                    <a:pt x="96012" y="893317"/>
                  </a:lnTo>
                  <a:lnTo>
                    <a:pt x="67056" y="859154"/>
                  </a:lnTo>
                  <a:lnTo>
                    <a:pt x="42799" y="820546"/>
                  </a:lnTo>
                  <a:lnTo>
                    <a:pt x="23494" y="778382"/>
                  </a:lnTo>
                  <a:lnTo>
                    <a:pt x="9778" y="733043"/>
                  </a:lnTo>
                  <a:lnTo>
                    <a:pt x="1777" y="685164"/>
                  </a:lnTo>
                  <a:lnTo>
                    <a:pt x="0" y="635253"/>
                  </a:lnTo>
                  <a:lnTo>
                    <a:pt x="4825" y="584200"/>
                  </a:lnTo>
                  <a:lnTo>
                    <a:pt x="35940" y="388619"/>
                  </a:lnTo>
                  <a:lnTo>
                    <a:pt x="46481" y="341375"/>
                  </a:lnTo>
                  <a:lnTo>
                    <a:pt x="62356" y="296798"/>
                  </a:lnTo>
                  <a:lnTo>
                    <a:pt x="83184" y="255142"/>
                  </a:lnTo>
                  <a:lnTo>
                    <a:pt x="108584" y="217169"/>
                  </a:lnTo>
                  <a:lnTo>
                    <a:pt x="137921" y="183260"/>
                  </a:lnTo>
                  <a:lnTo>
                    <a:pt x="171069" y="153923"/>
                  </a:lnTo>
                  <a:lnTo>
                    <a:pt x="207390" y="129539"/>
                  </a:lnTo>
                  <a:lnTo>
                    <a:pt x="246506" y="110616"/>
                  </a:lnTo>
                  <a:lnTo>
                    <a:pt x="288163" y="97789"/>
                  </a:lnTo>
                  <a:lnTo>
                    <a:pt x="303783" y="0"/>
                  </a:lnTo>
                  <a:lnTo>
                    <a:pt x="376046" y="192023"/>
                  </a:lnTo>
                  <a:lnTo>
                    <a:pt x="241300" y="391287"/>
                  </a:lnTo>
                  <a:lnTo>
                    <a:pt x="256920" y="293496"/>
                  </a:lnTo>
                  <a:lnTo>
                    <a:pt x="209931" y="308609"/>
                  </a:lnTo>
                  <a:lnTo>
                    <a:pt x="165734" y="331469"/>
                  </a:lnTo>
                  <a:lnTo>
                    <a:pt x="125349" y="361441"/>
                  </a:lnTo>
                  <a:lnTo>
                    <a:pt x="89281" y="398017"/>
                  </a:lnTo>
                  <a:lnTo>
                    <a:pt x="58165" y="440563"/>
                  </a:lnTo>
                  <a:lnTo>
                    <a:pt x="32893" y="4884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3636073" y="2848419"/>
            <a:ext cx="386080" cy="984250"/>
            <a:chOff x="3636073" y="2848419"/>
            <a:chExt cx="386080" cy="984250"/>
          </a:xfrm>
        </p:grpSpPr>
        <p:sp>
          <p:nvSpPr>
            <p:cNvPr id="36" name="object 36"/>
            <p:cNvSpPr/>
            <p:nvPr/>
          </p:nvSpPr>
          <p:spPr>
            <a:xfrm>
              <a:off x="3671950" y="2853182"/>
              <a:ext cx="345440" cy="488950"/>
            </a:xfrm>
            <a:custGeom>
              <a:avLst/>
              <a:gdLst/>
              <a:ahLst/>
              <a:cxnLst/>
              <a:rect l="l" t="t" r="r" b="b"/>
              <a:pathLst>
                <a:path w="345439" h="488950">
                  <a:moveTo>
                    <a:pt x="272669" y="0"/>
                  </a:moveTo>
                  <a:lnTo>
                    <a:pt x="257048" y="97789"/>
                  </a:lnTo>
                  <a:lnTo>
                    <a:pt x="214375" y="110997"/>
                  </a:lnTo>
                  <a:lnTo>
                    <a:pt x="174625" y="130428"/>
                  </a:lnTo>
                  <a:lnTo>
                    <a:pt x="137922" y="155447"/>
                  </a:lnTo>
                  <a:lnTo>
                    <a:pt x="104775" y="185419"/>
                  </a:lnTo>
                  <a:lnTo>
                    <a:pt x="75437" y="219837"/>
                  </a:lnTo>
                  <a:lnTo>
                    <a:pt x="50419" y="258190"/>
                  </a:lnTo>
                  <a:lnTo>
                    <a:pt x="29972" y="299846"/>
                  </a:lnTo>
                  <a:lnTo>
                    <a:pt x="14477" y="344296"/>
                  </a:lnTo>
                  <a:lnTo>
                    <a:pt x="4445" y="390905"/>
                  </a:lnTo>
                  <a:lnTo>
                    <a:pt x="0" y="439165"/>
                  </a:lnTo>
                  <a:lnTo>
                    <a:pt x="1777" y="488441"/>
                  </a:lnTo>
                  <a:lnTo>
                    <a:pt x="27050" y="440563"/>
                  </a:lnTo>
                  <a:lnTo>
                    <a:pt x="58165" y="398017"/>
                  </a:lnTo>
                  <a:lnTo>
                    <a:pt x="94234" y="361441"/>
                  </a:lnTo>
                  <a:lnTo>
                    <a:pt x="134620" y="331469"/>
                  </a:lnTo>
                  <a:lnTo>
                    <a:pt x="178815" y="308609"/>
                  </a:lnTo>
                  <a:lnTo>
                    <a:pt x="225806" y="293496"/>
                  </a:lnTo>
                  <a:lnTo>
                    <a:pt x="210185" y="391287"/>
                  </a:lnTo>
                  <a:lnTo>
                    <a:pt x="344932" y="192023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40835" y="3241802"/>
              <a:ext cx="282575" cy="586105"/>
            </a:xfrm>
            <a:custGeom>
              <a:avLst/>
              <a:gdLst/>
              <a:ahLst/>
              <a:cxnLst/>
              <a:rect l="l" t="t" r="r" b="b"/>
              <a:pathLst>
                <a:path w="282575" h="586104">
                  <a:moveTo>
                    <a:pt x="35940" y="0"/>
                  </a:moveTo>
                  <a:lnTo>
                    <a:pt x="4825" y="195580"/>
                  </a:lnTo>
                  <a:lnTo>
                    <a:pt x="0" y="246634"/>
                  </a:lnTo>
                  <a:lnTo>
                    <a:pt x="1777" y="296545"/>
                  </a:lnTo>
                  <a:lnTo>
                    <a:pt x="9778" y="344424"/>
                  </a:lnTo>
                  <a:lnTo>
                    <a:pt x="23494" y="389763"/>
                  </a:lnTo>
                  <a:lnTo>
                    <a:pt x="42799" y="431927"/>
                  </a:lnTo>
                  <a:lnTo>
                    <a:pt x="67055" y="470535"/>
                  </a:lnTo>
                  <a:lnTo>
                    <a:pt x="96012" y="504698"/>
                  </a:lnTo>
                  <a:lnTo>
                    <a:pt x="129286" y="533908"/>
                  </a:lnTo>
                  <a:lnTo>
                    <a:pt x="166497" y="557657"/>
                  </a:lnTo>
                  <a:lnTo>
                    <a:pt x="207263" y="575183"/>
                  </a:lnTo>
                  <a:lnTo>
                    <a:pt x="251078" y="585978"/>
                  </a:lnTo>
                  <a:lnTo>
                    <a:pt x="282321" y="390398"/>
                  </a:lnTo>
                  <a:lnTo>
                    <a:pt x="238378" y="379603"/>
                  </a:lnTo>
                  <a:lnTo>
                    <a:pt x="197738" y="362076"/>
                  </a:lnTo>
                  <a:lnTo>
                    <a:pt x="160527" y="338327"/>
                  </a:lnTo>
                  <a:lnTo>
                    <a:pt x="127253" y="309118"/>
                  </a:lnTo>
                  <a:lnTo>
                    <a:pt x="98298" y="274955"/>
                  </a:lnTo>
                  <a:lnTo>
                    <a:pt x="73913" y="236347"/>
                  </a:lnTo>
                  <a:lnTo>
                    <a:pt x="54737" y="194183"/>
                  </a:lnTo>
                  <a:lnTo>
                    <a:pt x="40893" y="148844"/>
                  </a:lnTo>
                  <a:lnTo>
                    <a:pt x="32892" y="100964"/>
                  </a:lnTo>
                  <a:lnTo>
                    <a:pt x="31114" y="51053"/>
                  </a:lnTo>
                  <a:lnTo>
                    <a:pt x="35940" y="0"/>
                  </a:lnTo>
                  <a:close/>
                </a:path>
              </a:pathLst>
            </a:custGeom>
            <a:solidFill>
              <a:srgbClr val="00B7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40835" y="2853182"/>
              <a:ext cx="376555" cy="974725"/>
            </a:xfrm>
            <a:custGeom>
              <a:avLst/>
              <a:gdLst/>
              <a:ahLst/>
              <a:cxnLst/>
              <a:rect l="l" t="t" r="r" b="b"/>
              <a:pathLst>
                <a:path w="376554" h="974725">
                  <a:moveTo>
                    <a:pt x="35940" y="388619"/>
                  </a:moveTo>
                  <a:lnTo>
                    <a:pt x="31114" y="439673"/>
                  </a:lnTo>
                  <a:lnTo>
                    <a:pt x="32892" y="489584"/>
                  </a:lnTo>
                  <a:lnTo>
                    <a:pt x="40893" y="537463"/>
                  </a:lnTo>
                  <a:lnTo>
                    <a:pt x="54737" y="582802"/>
                  </a:lnTo>
                  <a:lnTo>
                    <a:pt x="73913" y="624966"/>
                  </a:lnTo>
                  <a:lnTo>
                    <a:pt x="98298" y="663575"/>
                  </a:lnTo>
                  <a:lnTo>
                    <a:pt x="127253" y="697738"/>
                  </a:lnTo>
                  <a:lnTo>
                    <a:pt x="160527" y="726947"/>
                  </a:lnTo>
                  <a:lnTo>
                    <a:pt x="197738" y="750696"/>
                  </a:lnTo>
                  <a:lnTo>
                    <a:pt x="238378" y="768222"/>
                  </a:lnTo>
                  <a:lnTo>
                    <a:pt x="282321" y="779017"/>
                  </a:lnTo>
                  <a:lnTo>
                    <a:pt x="251078" y="974597"/>
                  </a:lnTo>
                  <a:lnTo>
                    <a:pt x="207263" y="963802"/>
                  </a:lnTo>
                  <a:lnTo>
                    <a:pt x="166497" y="946276"/>
                  </a:lnTo>
                  <a:lnTo>
                    <a:pt x="129286" y="922527"/>
                  </a:lnTo>
                  <a:lnTo>
                    <a:pt x="96012" y="893317"/>
                  </a:lnTo>
                  <a:lnTo>
                    <a:pt x="67055" y="859154"/>
                  </a:lnTo>
                  <a:lnTo>
                    <a:pt x="42799" y="820546"/>
                  </a:lnTo>
                  <a:lnTo>
                    <a:pt x="23494" y="778382"/>
                  </a:lnTo>
                  <a:lnTo>
                    <a:pt x="9778" y="733043"/>
                  </a:lnTo>
                  <a:lnTo>
                    <a:pt x="1777" y="685164"/>
                  </a:lnTo>
                  <a:lnTo>
                    <a:pt x="0" y="635253"/>
                  </a:lnTo>
                  <a:lnTo>
                    <a:pt x="4825" y="584200"/>
                  </a:lnTo>
                  <a:lnTo>
                    <a:pt x="35940" y="388619"/>
                  </a:lnTo>
                  <a:lnTo>
                    <a:pt x="46481" y="341375"/>
                  </a:lnTo>
                  <a:lnTo>
                    <a:pt x="62356" y="296798"/>
                  </a:lnTo>
                  <a:lnTo>
                    <a:pt x="83185" y="255142"/>
                  </a:lnTo>
                  <a:lnTo>
                    <a:pt x="108585" y="217169"/>
                  </a:lnTo>
                  <a:lnTo>
                    <a:pt x="137922" y="183260"/>
                  </a:lnTo>
                  <a:lnTo>
                    <a:pt x="171068" y="153923"/>
                  </a:lnTo>
                  <a:lnTo>
                    <a:pt x="207390" y="129539"/>
                  </a:lnTo>
                  <a:lnTo>
                    <a:pt x="246506" y="110616"/>
                  </a:lnTo>
                  <a:lnTo>
                    <a:pt x="288163" y="97789"/>
                  </a:lnTo>
                  <a:lnTo>
                    <a:pt x="303784" y="0"/>
                  </a:lnTo>
                  <a:lnTo>
                    <a:pt x="376047" y="192023"/>
                  </a:lnTo>
                  <a:lnTo>
                    <a:pt x="241300" y="391287"/>
                  </a:lnTo>
                  <a:lnTo>
                    <a:pt x="256921" y="293496"/>
                  </a:lnTo>
                  <a:lnTo>
                    <a:pt x="209930" y="308609"/>
                  </a:lnTo>
                  <a:lnTo>
                    <a:pt x="165735" y="331469"/>
                  </a:lnTo>
                  <a:lnTo>
                    <a:pt x="125349" y="361441"/>
                  </a:lnTo>
                  <a:lnTo>
                    <a:pt x="89280" y="398017"/>
                  </a:lnTo>
                  <a:lnTo>
                    <a:pt x="58165" y="440563"/>
                  </a:lnTo>
                  <a:lnTo>
                    <a:pt x="32892" y="4884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5769673" y="2848419"/>
            <a:ext cx="386080" cy="984250"/>
            <a:chOff x="5769673" y="2848419"/>
            <a:chExt cx="386080" cy="984250"/>
          </a:xfrm>
        </p:grpSpPr>
        <p:sp>
          <p:nvSpPr>
            <p:cNvPr id="40" name="object 40"/>
            <p:cNvSpPr/>
            <p:nvPr/>
          </p:nvSpPr>
          <p:spPr>
            <a:xfrm>
              <a:off x="5805550" y="2853182"/>
              <a:ext cx="345440" cy="488950"/>
            </a:xfrm>
            <a:custGeom>
              <a:avLst/>
              <a:gdLst/>
              <a:ahLst/>
              <a:cxnLst/>
              <a:rect l="l" t="t" r="r" b="b"/>
              <a:pathLst>
                <a:path w="345439" h="488950">
                  <a:moveTo>
                    <a:pt x="272669" y="0"/>
                  </a:moveTo>
                  <a:lnTo>
                    <a:pt x="257048" y="97789"/>
                  </a:lnTo>
                  <a:lnTo>
                    <a:pt x="214375" y="110997"/>
                  </a:lnTo>
                  <a:lnTo>
                    <a:pt x="174625" y="130428"/>
                  </a:lnTo>
                  <a:lnTo>
                    <a:pt x="137922" y="155447"/>
                  </a:lnTo>
                  <a:lnTo>
                    <a:pt x="104775" y="185419"/>
                  </a:lnTo>
                  <a:lnTo>
                    <a:pt x="75437" y="219837"/>
                  </a:lnTo>
                  <a:lnTo>
                    <a:pt x="50419" y="258190"/>
                  </a:lnTo>
                  <a:lnTo>
                    <a:pt x="29972" y="299846"/>
                  </a:lnTo>
                  <a:lnTo>
                    <a:pt x="14477" y="344296"/>
                  </a:lnTo>
                  <a:lnTo>
                    <a:pt x="4445" y="390905"/>
                  </a:lnTo>
                  <a:lnTo>
                    <a:pt x="0" y="439165"/>
                  </a:lnTo>
                  <a:lnTo>
                    <a:pt x="1777" y="488441"/>
                  </a:lnTo>
                  <a:lnTo>
                    <a:pt x="27050" y="440563"/>
                  </a:lnTo>
                  <a:lnTo>
                    <a:pt x="58165" y="398017"/>
                  </a:lnTo>
                  <a:lnTo>
                    <a:pt x="94234" y="361441"/>
                  </a:lnTo>
                  <a:lnTo>
                    <a:pt x="134620" y="331469"/>
                  </a:lnTo>
                  <a:lnTo>
                    <a:pt x="178815" y="308609"/>
                  </a:lnTo>
                  <a:lnTo>
                    <a:pt x="225806" y="293496"/>
                  </a:lnTo>
                  <a:lnTo>
                    <a:pt x="210185" y="391287"/>
                  </a:lnTo>
                  <a:lnTo>
                    <a:pt x="344932" y="192023"/>
                  </a:lnTo>
                  <a:lnTo>
                    <a:pt x="272669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774435" y="3241802"/>
              <a:ext cx="282575" cy="586105"/>
            </a:xfrm>
            <a:custGeom>
              <a:avLst/>
              <a:gdLst/>
              <a:ahLst/>
              <a:cxnLst/>
              <a:rect l="l" t="t" r="r" b="b"/>
              <a:pathLst>
                <a:path w="282575" h="586104">
                  <a:moveTo>
                    <a:pt x="35940" y="0"/>
                  </a:moveTo>
                  <a:lnTo>
                    <a:pt x="4825" y="195580"/>
                  </a:lnTo>
                  <a:lnTo>
                    <a:pt x="0" y="246634"/>
                  </a:lnTo>
                  <a:lnTo>
                    <a:pt x="1777" y="296545"/>
                  </a:lnTo>
                  <a:lnTo>
                    <a:pt x="9778" y="344424"/>
                  </a:lnTo>
                  <a:lnTo>
                    <a:pt x="23494" y="389763"/>
                  </a:lnTo>
                  <a:lnTo>
                    <a:pt x="42799" y="431927"/>
                  </a:lnTo>
                  <a:lnTo>
                    <a:pt x="67055" y="470535"/>
                  </a:lnTo>
                  <a:lnTo>
                    <a:pt x="96012" y="504698"/>
                  </a:lnTo>
                  <a:lnTo>
                    <a:pt x="129286" y="533908"/>
                  </a:lnTo>
                  <a:lnTo>
                    <a:pt x="166497" y="557657"/>
                  </a:lnTo>
                  <a:lnTo>
                    <a:pt x="207263" y="575183"/>
                  </a:lnTo>
                  <a:lnTo>
                    <a:pt x="251078" y="585978"/>
                  </a:lnTo>
                  <a:lnTo>
                    <a:pt x="282321" y="390398"/>
                  </a:lnTo>
                  <a:lnTo>
                    <a:pt x="238378" y="379603"/>
                  </a:lnTo>
                  <a:lnTo>
                    <a:pt x="197738" y="362076"/>
                  </a:lnTo>
                  <a:lnTo>
                    <a:pt x="160527" y="338327"/>
                  </a:lnTo>
                  <a:lnTo>
                    <a:pt x="127253" y="309118"/>
                  </a:lnTo>
                  <a:lnTo>
                    <a:pt x="98298" y="274955"/>
                  </a:lnTo>
                  <a:lnTo>
                    <a:pt x="73913" y="236347"/>
                  </a:lnTo>
                  <a:lnTo>
                    <a:pt x="54737" y="194183"/>
                  </a:lnTo>
                  <a:lnTo>
                    <a:pt x="40893" y="148844"/>
                  </a:lnTo>
                  <a:lnTo>
                    <a:pt x="32892" y="100964"/>
                  </a:lnTo>
                  <a:lnTo>
                    <a:pt x="31114" y="51053"/>
                  </a:lnTo>
                  <a:lnTo>
                    <a:pt x="35940" y="0"/>
                  </a:lnTo>
                  <a:close/>
                </a:path>
              </a:pathLst>
            </a:custGeom>
            <a:solidFill>
              <a:srgbClr val="00B7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774435" y="2853182"/>
              <a:ext cx="376555" cy="974725"/>
            </a:xfrm>
            <a:custGeom>
              <a:avLst/>
              <a:gdLst/>
              <a:ahLst/>
              <a:cxnLst/>
              <a:rect l="l" t="t" r="r" b="b"/>
              <a:pathLst>
                <a:path w="376554" h="974725">
                  <a:moveTo>
                    <a:pt x="35940" y="388619"/>
                  </a:moveTo>
                  <a:lnTo>
                    <a:pt x="31114" y="439673"/>
                  </a:lnTo>
                  <a:lnTo>
                    <a:pt x="32892" y="489584"/>
                  </a:lnTo>
                  <a:lnTo>
                    <a:pt x="40893" y="537463"/>
                  </a:lnTo>
                  <a:lnTo>
                    <a:pt x="54737" y="582802"/>
                  </a:lnTo>
                  <a:lnTo>
                    <a:pt x="73913" y="624966"/>
                  </a:lnTo>
                  <a:lnTo>
                    <a:pt x="98298" y="663575"/>
                  </a:lnTo>
                  <a:lnTo>
                    <a:pt x="127253" y="697738"/>
                  </a:lnTo>
                  <a:lnTo>
                    <a:pt x="160527" y="726947"/>
                  </a:lnTo>
                  <a:lnTo>
                    <a:pt x="197738" y="750696"/>
                  </a:lnTo>
                  <a:lnTo>
                    <a:pt x="238378" y="768222"/>
                  </a:lnTo>
                  <a:lnTo>
                    <a:pt x="282321" y="779017"/>
                  </a:lnTo>
                  <a:lnTo>
                    <a:pt x="251078" y="974597"/>
                  </a:lnTo>
                  <a:lnTo>
                    <a:pt x="207263" y="963802"/>
                  </a:lnTo>
                  <a:lnTo>
                    <a:pt x="166497" y="946276"/>
                  </a:lnTo>
                  <a:lnTo>
                    <a:pt x="129286" y="922527"/>
                  </a:lnTo>
                  <a:lnTo>
                    <a:pt x="96012" y="893317"/>
                  </a:lnTo>
                  <a:lnTo>
                    <a:pt x="67055" y="859154"/>
                  </a:lnTo>
                  <a:lnTo>
                    <a:pt x="42799" y="820546"/>
                  </a:lnTo>
                  <a:lnTo>
                    <a:pt x="23494" y="778382"/>
                  </a:lnTo>
                  <a:lnTo>
                    <a:pt x="9778" y="733043"/>
                  </a:lnTo>
                  <a:lnTo>
                    <a:pt x="1777" y="685164"/>
                  </a:lnTo>
                  <a:lnTo>
                    <a:pt x="0" y="635253"/>
                  </a:lnTo>
                  <a:lnTo>
                    <a:pt x="4825" y="584200"/>
                  </a:lnTo>
                  <a:lnTo>
                    <a:pt x="35940" y="388619"/>
                  </a:lnTo>
                  <a:lnTo>
                    <a:pt x="46481" y="341375"/>
                  </a:lnTo>
                  <a:lnTo>
                    <a:pt x="62356" y="296798"/>
                  </a:lnTo>
                  <a:lnTo>
                    <a:pt x="83185" y="255142"/>
                  </a:lnTo>
                  <a:lnTo>
                    <a:pt x="108585" y="217169"/>
                  </a:lnTo>
                  <a:lnTo>
                    <a:pt x="137922" y="183260"/>
                  </a:lnTo>
                  <a:lnTo>
                    <a:pt x="171068" y="153923"/>
                  </a:lnTo>
                  <a:lnTo>
                    <a:pt x="207390" y="129539"/>
                  </a:lnTo>
                  <a:lnTo>
                    <a:pt x="246506" y="110616"/>
                  </a:lnTo>
                  <a:lnTo>
                    <a:pt x="288163" y="97789"/>
                  </a:lnTo>
                  <a:lnTo>
                    <a:pt x="303784" y="0"/>
                  </a:lnTo>
                  <a:lnTo>
                    <a:pt x="376047" y="192023"/>
                  </a:lnTo>
                  <a:lnTo>
                    <a:pt x="241300" y="391287"/>
                  </a:lnTo>
                  <a:lnTo>
                    <a:pt x="256921" y="293496"/>
                  </a:lnTo>
                  <a:lnTo>
                    <a:pt x="209930" y="308609"/>
                  </a:lnTo>
                  <a:lnTo>
                    <a:pt x="165735" y="331469"/>
                  </a:lnTo>
                  <a:lnTo>
                    <a:pt x="125349" y="361441"/>
                  </a:lnTo>
                  <a:lnTo>
                    <a:pt x="89280" y="398017"/>
                  </a:lnTo>
                  <a:lnTo>
                    <a:pt x="58165" y="440563"/>
                  </a:lnTo>
                  <a:lnTo>
                    <a:pt x="32892" y="48844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386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Data</a:t>
            </a:r>
            <a:r>
              <a:rPr dirty="0" sz="2800" spc="-140"/>
              <a:t> </a:t>
            </a:r>
            <a:r>
              <a:rPr dirty="0" sz="2800"/>
              <a:t>Mining:</a:t>
            </a:r>
            <a:r>
              <a:rPr dirty="0" sz="2800" spc="-135"/>
              <a:t> </a:t>
            </a:r>
            <a:r>
              <a:rPr dirty="0" sz="2800" spc="-10"/>
              <a:t>Confluence</a:t>
            </a:r>
            <a:r>
              <a:rPr dirty="0" sz="2800" spc="-145"/>
              <a:t> </a:t>
            </a:r>
            <a:r>
              <a:rPr dirty="0" sz="2800"/>
              <a:t>of</a:t>
            </a:r>
            <a:r>
              <a:rPr dirty="0" sz="2800" spc="-165"/>
              <a:t> </a:t>
            </a:r>
            <a:r>
              <a:rPr dirty="0" sz="2800"/>
              <a:t>Multiple</a:t>
            </a:r>
            <a:r>
              <a:rPr dirty="0" sz="2800" spc="-120"/>
              <a:t> </a:t>
            </a:r>
            <a:r>
              <a:rPr dirty="0" sz="2800" spc="-10"/>
              <a:t>Disciplines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3424237" y="3195637"/>
            <a:ext cx="2295525" cy="1076325"/>
            <a:chOff x="3424237" y="3195637"/>
            <a:chExt cx="2295525" cy="1076325"/>
          </a:xfrm>
        </p:grpSpPr>
        <p:sp>
          <p:nvSpPr>
            <p:cNvPr id="4" name="object 4"/>
            <p:cNvSpPr/>
            <p:nvPr/>
          </p:nvSpPr>
          <p:spPr>
            <a:xfrm>
              <a:off x="3429000" y="3200400"/>
              <a:ext cx="2286000" cy="1066800"/>
            </a:xfrm>
            <a:custGeom>
              <a:avLst/>
              <a:gdLst/>
              <a:ahLst/>
              <a:cxnLst/>
              <a:rect l="l" t="t" r="r" b="b"/>
              <a:pathLst>
                <a:path w="2286000" h="1066800">
                  <a:moveTo>
                    <a:pt x="1143000" y="0"/>
                  </a:moveTo>
                  <a:lnTo>
                    <a:pt x="1078102" y="888"/>
                  </a:lnTo>
                  <a:lnTo>
                    <a:pt x="1014222" y="3301"/>
                  </a:lnTo>
                  <a:lnTo>
                    <a:pt x="951357" y="7492"/>
                  </a:lnTo>
                  <a:lnTo>
                    <a:pt x="889635" y="13208"/>
                  </a:lnTo>
                  <a:lnTo>
                    <a:pt x="829183" y="20320"/>
                  </a:lnTo>
                  <a:lnTo>
                    <a:pt x="770001" y="29083"/>
                  </a:lnTo>
                  <a:lnTo>
                    <a:pt x="712215" y="39115"/>
                  </a:lnTo>
                  <a:lnTo>
                    <a:pt x="656082" y="50673"/>
                  </a:lnTo>
                  <a:lnTo>
                    <a:pt x="601472" y="63500"/>
                  </a:lnTo>
                  <a:lnTo>
                    <a:pt x="548639" y="77724"/>
                  </a:lnTo>
                  <a:lnTo>
                    <a:pt x="497586" y="93090"/>
                  </a:lnTo>
                  <a:lnTo>
                    <a:pt x="448563" y="109727"/>
                  </a:lnTo>
                  <a:lnTo>
                    <a:pt x="401447" y="127508"/>
                  </a:lnTo>
                  <a:lnTo>
                    <a:pt x="356488" y="146303"/>
                  </a:lnTo>
                  <a:lnTo>
                    <a:pt x="313689" y="166370"/>
                  </a:lnTo>
                  <a:lnTo>
                    <a:pt x="273176" y="187325"/>
                  </a:lnTo>
                  <a:lnTo>
                    <a:pt x="235076" y="209296"/>
                  </a:lnTo>
                  <a:lnTo>
                    <a:pt x="199516" y="232155"/>
                  </a:lnTo>
                  <a:lnTo>
                    <a:pt x="166497" y="256032"/>
                  </a:lnTo>
                  <a:lnTo>
                    <a:pt x="136144" y="280670"/>
                  </a:lnTo>
                  <a:lnTo>
                    <a:pt x="83947" y="332359"/>
                  </a:lnTo>
                  <a:lnTo>
                    <a:pt x="43561" y="386969"/>
                  </a:lnTo>
                  <a:lnTo>
                    <a:pt x="16001" y="443992"/>
                  </a:lnTo>
                  <a:lnTo>
                    <a:pt x="1777" y="503174"/>
                  </a:lnTo>
                  <a:lnTo>
                    <a:pt x="0" y="533400"/>
                  </a:lnTo>
                  <a:lnTo>
                    <a:pt x="1777" y="563626"/>
                  </a:lnTo>
                  <a:lnTo>
                    <a:pt x="16001" y="622807"/>
                  </a:lnTo>
                  <a:lnTo>
                    <a:pt x="43561" y="679831"/>
                  </a:lnTo>
                  <a:lnTo>
                    <a:pt x="83947" y="734441"/>
                  </a:lnTo>
                  <a:lnTo>
                    <a:pt x="136144" y="786130"/>
                  </a:lnTo>
                  <a:lnTo>
                    <a:pt x="166497" y="810768"/>
                  </a:lnTo>
                  <a:lnTo>
                    <a:pt x="199516" y="834517"/>
                  </a:lnTo>
                  <a:lnTo>
                    <a:pt x="235076" y="857504"/>
                  </a:lnTo>
                  <a:lnTo>
                    <a:pt x="273176" y="879475"/>
                  </a:lnTo>
                  <a:lnTo>
                    <a:pt x="313689" y="900430"/>
                  </a:lnTo>
                  <a:lnTo>
                    <a:pt x="356488" y="920495"/>
                  </a:lnTo>
                  <a:lnTo>
                    <a:pt x="401447" y="939292"/>
                  </a:lnTo>
                  <a:lnTo>
                    <a:pt x="448563" y="957072"/>
                  </a:lnTo>
                  <a:lnTo>
                    <a:pt x="497586" y="973708"/>
                  </a:lnTo>
                  <a:lnTo>
                    <a:pt x="548639" y="989076"/>
                  </a:lnTo>
                  <a:lnTo>
                    <a:pt x="601472" y="1003300"/>
                  </a:lnTo>
                  <a:lnTo>
                    <a:pt x="656082" y="1016126"/>
                  </a:lnTo>
                  <a:lnTo>
                    <a:pt x="712215" y="1027683"/>
                  </a:lnTo>
                  <a:lnTo>
                    <a:pt x="770001" y="1037717"/>
                  </a:lnTo>
                  <a:lnTo>
                    <a:pt x="829183" y="1046480"/>
                  </a:lnTo>
                  <a:lnTo>
                    <a:pt x="889635" y="1053592"/>
                  </a:lnTo>
                  <a:lnTo>
                    <a:pt x="951357" y="1059307"/>
                  </a:lnTo>
                  <a:lnTo>
                    <a:pt x="1014222" y="1063498"/>
                  </a:lnTo>
                  <a:lnTo>
                    <a:pt x="1078102" y="1065911"/>
                  </a:lnTo>
                  <a:lnTo>
                    <a:pt x="1143000" y="1066800"/>
                  </a:lnTo>
                  <a:lnTo>
                    <a:pt x="1207897" y="1065911"/>
                  </a:lnTo>
                  <a:lnTo>
                    <a:pt x="1271777" y="1063498"/>
                  </a:lnTo>
                  <a:lnTo>
                    <a:pt x="1334642" y="1059307"/>
                  </a:lnTo>
                  <a:lnTo>
                    <a:pt x="1396364" y="1053592"/>
                  </a:lnTo>
                  <a:lnTo>
                    <a:pt x="1456816" y="1046480"/>
                  </a:lnTo>
                  <a:lnTo>
                    <a:pt x="1515999" y="1037717"/>
                  </a:lnTo>
                  <a:lnTo>
                    <a:pt x="1573784" y="1027683"/>
                  </a:lnTo>
                  <a:lnTo>
                    <a:pt x="1629917" y="1016126"/>
                  </a:lnTo>
                  <a:lnTo>
                    <a:pt x="1684527" y="1003300"/>
                  </a:lnTo>
                  <a:lnTo>
                    <a:pt x="1737360" y="989076"/>
                  </a:lnTo>
                  <a:lnTo>
                    <a:pt x="1788414" y="973708"/>
                  </a:lnTo>
                  <a:lnTo>
                    <a:pt x="1837436" y="957072"/>
                  </a:lnTo>
                  <a:lnTo>
                    <a:pt x="1884552" y="939292"/>
                  </a:lnTo>
                  <a:lnTo>
                    <a:pt x="1929511" y="920495"/>
                  </a:lnTo>
                  <a:lnTo>
                    <a:pt x="1972310" y="900430"/>
                  </a:lnTo>
                  <a:lnTo>
                    <a:pt x="2012823" y="879475"/>
                  </a:lnTo>
                  <a:lnTo>
                    <a:pt x="2050923" y="857504"/>
                  </a:lnTo>
                  <a:lnTo>
                    <a:pt x="2086483" y="834517"/>
                  </a:lnTo>
                  <a:lnTo>
                    <a:pt x="2119503" y="810768"/>
                  </a:lnTo>
                  <a:lnTo>
                    <a:pt x="2149855" y="786130"/>
                  </a:lnTo>
                  <a:lnTo>
                    <a:pt x="2202053" y="734441"/>
                  </a:lnTo>
                  <a:lnTo>
                    <a:pt x="2242439" y="679831"/>
                  </a:lnTo>
                  <a:lnTo>
                    <a:pt x="2269998" y="622807"/>
                  </a:lnTo>
                  <a:lnTo>
                    <a:pt x="2284222" y="563626"/>
                  </a:lnTo>
                  <a:lnTo>
                    <a:pt x="2286000" y="533400"/>
                  </a:lnTo>
                  <a:lnTo>
                    <a:pt x="2284222" y="503174"/>
                  </a:lnTo>
                  <a:lnTo>
                    <a:pt x="2269998" y="443992"/>
                  </a:lnTo>
                  <a:lnTo>
                    <a:pt x="2242439" y="386969"/>
                  </a:lnTo>
                  <a:lnTo>
                    <a:pt x="2202053" y="332359"/>
                  </a:lnTo>
                  <a:lnTo>
                    <a:pt x="2149855" y="280670"/>
                  </a:lnTo>
                  <a:lnTo>
                    <a:pt x="2119503" y="256032"/>
                  </a:lnTo>
                  <a:lnTo>
                    <a:pt x="2086483" y="232155"/>
                  </a:lnTo>
                  <a:lnTo>
                    <a:pt x="2050923" y="209296"/>
                  </a:lnTo>
                  <a:lnTo>
                    <a:pt x="2012823" y="187325"/>
                  </a:lnTo>
                  <a:lnTo>
                    <a:pt x="1972310" y="166370"/>
                  </a:lnTo>
                  <a:lnTo>
                    <a:pt x="1929511" y="146303"/>
                  </a:lnTo>
                  <a:lnTo>
                    <a:pt x="1884552" y="127508"/>
                  </a:lnTo>
                  <a:lnTo>
                    <a:pt x="1837436" y="109727"/>
                  </a:lnTo>
                  <a:lnTo>
                    <a:pt x="1788414" y="93090"/>
                  </a:lnTo>
                  <a:lnTo>
                    <a:pt x="1737360" y="77724"/>
                  </a:lnTo>
                  <a:lnTo>
                    <a:pt x="1684527" y="63500"/>
                  </a:lnTo>
                  <a:lnTo>
                    <a:pt x="1629917" y="50673"/>
                  </a:lnTo>
                  <a:lnTo>
                    <a:pt x="1573784" y="39115"/>
                  </a:lnTo>
                  <a:lnTo>
                    <a:pt x="1515999" y="29083"/>
                  </a:lnTo>
                  <a:lnTo>
                    <a:pt x="1456816" y="20320"/>
                  </a:lnTo>
                  <a:lnTo>
                    <a:pt x="1396364" y="13208"/>
                  </a:lnTo>
                  <a:lnTo>
                    <a:pt x="1334642" y="7492"/>
                  </a:lnTo>
                  <a:lnTo>
                    <a:pt x="1271777" y="3301"/>
                  </a:lnTo>
                  <a:lnTo>
                    <a:pt x="1207897" y="888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FFC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29000" y="3200400"/>
              <a:ext cx="2286000" cy="1066800"/>
            </a:xfrm>
            <a:custGeom>
              <a:avLst/>
              <a:gdLst/>
              <a:ahLst/>
              <a:cxnLst/>
              <a:rect l="l" t="t" r="r" b="b"/>
              <a:pathLst>
                <a:path w="2286000" h="1066800">
                  <a:moveTo>
                    <a:pt x="0" y="533400"/>
                  </a:moveTo>
                  <a:lnTo>
                    <a:pt x="7112" y="473329"/>
                  </a:lnTo>
                  <a:lnTo>
                    <a:pt x="28194" y="415163"/>
                  </a:lnTo>
                  <a:lnTo>
                    <a:pt x="62229" y="359283"/>
                  </a:lnTo>
                  <a:lnTo>
                    <a:pt x="108585" y="306197"/>
                  </a:lnTo>
                  <a:lnTo>
                    <a:pt x="166497" y="256032"/>
                  </a:lnTo>
                  <a:lnTo>
                    <a:pt x="199516" y="232155"/>
                  </a:lnTo>
                  <a:lnTo>
                    <a:pt x="235076" y="209296"/>
                  </a:lnTo>
                  <a:lnTo>
                    <a:pt x="273176" y="187325"/>
                  </a:lnTo>
                  <a:lnTo>
                    <a:pt x="313689" y="166370"/>
                  </a:lnTo>
                  <a:lnTo>
                    <a:pt x="356488" y="146303"/>
                  </a:lnTo>
                  <a:lnTo>
                    <a:pt x="401447" y="127508"/>
                  </a:lnTo>
                  <a:lnTo>
                    <a:pt x="448563" y="109727"/>
                  </a:lnTo>
                  <a:lnTo>
                    <a:pt x="497586" y="93090"/>
                  </a:lnTo>
                  <a:lnTo>
                    <a:pt x="548639" y="77724"/>
                  </a:lnTo>
                  <a:lnTo>
                    <a:pt x="601472" y="63500"/>
                  </a:lnTo>
                  <a:lnTo>
                    <a:pt x="656082" y="50673"/>
                  </a:lnTo>
                  <a:lnTo>
                    <a:pt x="712215" y="39115"/>
                  </a:lnTo>
                  <a:lnTo>
                    <a:pt x="770001" y="29083"/>
                  </a:lnTo>
                  <a:lnTo>
                    <a:pt x="829183" y="20320"/>
                  </a:lnTo>
                  <a:lnTo>
                    <a:pt x="889635" y="13208"/>
                  </a:lnTo>
                  <a:lnTo>
                    <a:pt x="951357" y="7492"/>
                  </a:lnTo>
                  <a:lnTo>
                    <a:pt x="1014222" y="3301"/>
                  </a:lnTo>
                  <a:lnTo>
                    <a:pt x="1078102" y="888"/>
                  </a:lnTo>
                  <a:lnTo>
                    <a:pt x="1143000" y="0"/>
                  </a:lnTo>
                  <a:lnTo>
                    <a:pt x="1207897" y="888"/>
                  </a:lnTo>
                  <a:lnTo>
                    <a:pt x="1271777" y="3301"/>
                  </a:lnTo>
                  <a:lnTo>
                    <a:pt x="1334642" y="7492"/>
                  </a:lnTo>
                  <a:lnTo>
                    <a:pt x="1396364" y="13208"/>
                  </a:lnTo>
                  <a:lnTo>
                    <a:pt x="1456816" y="20320"/>
                  </a:lnTo>
                  <a:lnTo>
                    <a:pt x="1515999" y="29083"/>
                  </a:lnTo>
                  <a:lnTo>
                    <a:pt x="1573784" y="39115"/>
                  </a:lnTo>
                  <a:lnTo>
                    <a:pt x="1629917" y="50673"/>
                  </a:lnTo>
                  <a:lnTo>
                    <a:pt x="1684527" y="63500"/>
                  </a:lnTo>
                  <a:lnTo>
                    <a:pt x="1737360" y="77724"/>
                  </a:lnTo>
                  <a:lnTo>
                    <a:pt x="1788414" y="93090"/>
                  </a:lnTo>
                  <a:lnTo>
                    <a:pt x="1837436" y="109727"/>
                  </a:lnTo>
                  <a:lnTo>
                    <a:pt x="1884552" y="127508"/>
                  </a:lnTo>
                  <a:lnTo>
                    <a:pt x="1929511" y="146303"/>
                  </a:lnTo>
                  <a:lnTo>
                    <a:pt x="1972310" y="166370"/>
                  </a:lnTo>
                  <a:lnTo>
                    <a:pt x="2012823" y="187325"/>
                  </a:lnTo>
                  <a:lnTo>
                    <a:pt x="2050923" y="209296"/>
                  </a:lnTo>
                  <a:lnTo>
                    <a:pt x="2086483" y="232155"/>
                  </a:lnTo>
                  <a:lnTo>
                    <a:pt x="2119503" y="256032"/>
                  </a:lnTo>
                  <a:lnTo>
                    <a:pt x="2149855" y="280670"/>
                  </a:lnTo>
                  <a:lnTo>
                    <a:pt x="2202053" y="332359"/>
                  </a:lnTo>
                  <a:lnTo>
                    <a:pt x="2242439" y="386969"/>
                  </a:lnTo>
                  <a:lnTo>
                    <a:pt x="2269998" y="443992"/>
                  </a:lnTo>
                  <a:lnTo>
                    <a:pt x="2284222" y="503174"/>
                  </a:lnTo>
                  <a:lnTo>
                    <a:pt x="2286000" y="533400"/>
                  </a:lnTo>
                  <a:lnTo>
                    <a:pt x="2284222" y="563626"/>
                  </a:lnTo>
                  <a:lnTo>
                    <a:pt x="2269998" y="622807"/>
                  </a:lnTo>
                  <a:lnTo>
                    <a:pt x="2242439" y="679831"/>
                  </a:lnTo>
                  <a:lnTo>
                    <a:pt x="2202053" y="734441"/>
                  </a:lnTo>
                  <a:lnTo>
                    <a:pt x="2149855" y="786130"/>
                  </a:lnTo>
                  <a:lnTo>
                    <a:pt x="2119503" y="810768"/>
                  </a:lnTo>
                  <a:lnTo>
                    <a:pt x="2086483" y="834517"/>
                  </a:lnTo>
                  <a:lnTo>
                    <a:pt x="2050923" y="857504"/>
                  </a:lnTo>
                  <a:lnTo>
                    <a:pt x="2012823" y="879475"/>
                  </a:lnTo>
                  <a:lnTo>
                    <a:pt x="1972310" y="900430"/>
                  </a:lnTo>
                  <a:lnTo>
                    <a:pt x="1929511" y="920495"/>
                  </a:lnTo>
                  <a:lnTo>
                    <a:pt x="1884552" y="939292"/>
                  </a:lnTo>
                  <a:lnTo>
                    <a:pt x="1837436" y="957072"/>
                  </a:lnTo>
                  <a:lnTo>
                    <a:pt x="1788414" y="973708"/>
                  </a:lnTo>
                  <a:lnTo>
                    <a:pt x="1737360" y="989076"/>
                  </a:lnTo>
                  <a:lnTo>
                    <a:pt x="1684527" y="1003300"/>
                  </a:lnTo>
                  <a:lnTo>
                    <a:pt x="1629917" y="1016126"/>
                  </a:lnTo>
                  <a:lnTo>
                    <a:pt x="1573784" y="1027683"/>
                  </a:lnTo>
                  <a:lnTo>
                    <a:pt x="1515999" y="1037717"/>
                  </a:lnTo>
                  <a:lnTo>
                    <a:pt x="1456816" y="1046480"/>
                  </a:lnTo>
                  <a:lnTo>
                    <a:pt x="1396364" y="1053592"/>
                  </a:lnTo>
                  <a:lnTo>
                    <a:pt x="1334642" y="1059307"/>
                  </a:lnTo>
                  <a:lnTo>
                    <a:pt x="1271777" y="1063498"/>
                  </a:lnTo>
                  <a:lnTo>
                    <a:pt x="1207897" y="1065911"/>
                  </a:lnTo>
                  <a:lnTo>
                    <a:pt x="1143000" y="1066800"/>
                  </a:lnTo>
                  <a:lnTo>
                    <a:pt x="1078102" y="1065911"/>
                  </a:lnTo>
                  <a:lnTo>
                    <a:pt x="1014222" y="1063498"/>
                  </a:lnTo>
                  <a:lnTo>
                    <a:pt x="951357" y="1059307"/>
                  </a:lnTo>
                  <a:lnTo>
                    <a:pt x="889635" y="1053592"/>
                  </a:lnTo>
                  <a:lnTo>
                    <a:pt x="829183" y="1046480"/>
                  </a:lnTo>
                  <a:lnTo>
                    <a:pt x="770001" y="1037717"/>
                  </a:lnTo>
                  <a:lnTo>
                    <a:pt x="712215" y="1027683"/>
                  </a:lnTo>
                  <a:lnTo>
                    <a:pt x="656082" y="1016126"/>
                  </a:lnTo>
                  <a:lnTo>
                    <a:pt x="601472" y="1003300"/>
                  </a:lnTo>
                  <a:lnTo>
                    <a:pt x="548639" y="989076"/>
                  </a:lnTo>
                  <a:lnTo>
                    <a:pt x="497586" y="973708"/>
                  </a:lnTo>
                  <a:lnTo>
                    <a:pt x="448563" y="957072"/>
                  </a:lnTo>
                  <a:lnTo>
                    <a:pt x="401447" y="939292"/>
                  </a:lnTo>
                  <a:lnTo>
                    <a:pt x="356488" y="920495"/>
                  </a:lnTo>
                  <a:lnTo>
                    <a:pt x="313689" y="900430"/>
                  </a:lnTo>
                  <a:lnTo>
                    <a:pt x="273176" y="879475"/>
                  </a:lnTo>
                  <a:lnTo>
                    <a:pt x="235076" y="857504"/>
                  </a:lnTo>
                  <a:lnTo>
                    <a:pt x="199516" y="834517"/>
                  </a:lnTo>
                  <a:lnTo>
                    <a:pt x="166497" y="810768"/>
                  </a:lnTo>
                  <a:lnTo>
                    <a:pt x="136144" y="786130"/>
                  </a:lnTo>
                  <a:lnTo>
                    <a:pt x="83947" y="734441"/>
                  </a:lnTo>
                  <a:lnTo>
                    <a:pt x="43561" y="679831"/>
                  </a:lnTo>
                  <a:lnTo>
                    <a:pt x="16001" y="622807"/>
                  </a:lnTo>
                  <a:lnTo>
                    <a:pt x="1777" y="563626"/>
                  </a:lnTo>
                  <a:lnTo>
                    <a:pt x="0" y="533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481832" y="3505580"/>
            <a:ext cx="21659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ahoma"/>
                <a:cs typeface="Tahoma"/>
              </a:rPr>
              <a:t>Data</a:t>
            </a:r>
            <a:r>
              <a:rPr dirty="0" sz="2800" spc="-125" b="1">
                <a:latin typeface="Tahoma"/>
                <a:cs typeface="Tahoma"/>
              </a:rPr>
              <a:t> </a:t>
            </a:r>
            <a:r>
              <a:rPr dirty="0" sz="2800" spc="-10" b="1">
                <a:latin typeface="Tahoma"/>
                <a:cs typeface="Tahoma"/>
              </a:rPr>
              <a:t>Mining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2037" y="1595437"/>
            <a:ext cx="5954395" cy="3371850"/>
            <a:chOff x="1062037" y="1595437"/>
            <a:chExt cx="5954395" cy="3371850"/>
          </a:xfrm>
        </p:grpSpPr>
        <p:sp>
          <p:nvSpPr>
            <p:cNvPr id="8" name="object 8"/>
            <p:cNvSpPr/>
            <p:nvPr/>
          </p:nvSpPr>
          <p:spPr>
            <a:xfrm>
              <a:off x="2281428" y="2349753"/>
              <a:ext cx="4735195" cy="2617470"/>
            </a:xfrm>
            <a:custGeom>
              <a:avLst/>
              <a:gdLst/>
              <a:ahLst/>
              <a:cxnLst/>
              <a:rect l="l" t="t" r="r" b="b"/>
              <a:pathLst>
                <a:path w="4735195" h="2617470">
                  <a:moveTo>
                    <a:pt x="1148334" y="1308608"/>
                  </a:moveTo>
                  <a:lnTo>
                    <a:pt x="1061466" y="1265174"/>
                  </a:lnTo>
                  <a:lnTo>
                    <a:pt x="1061466" y="1294130"/>
                  </a:lnTo>
                  <a:lnTo>
                    <a:pt x="81534" y="1294130"/>
                  </a:lnTo>
                  <a:lnTo>
                    <a:pt x="81534" y="1323086"/>
                  </a:lnTo>
                  <a:lnTo>
                    <a:pt x="1061466" y="1323086"/>
                  </a:lnTo>
                  <a:lnTo>
                    <a:pt x="1061466" y="1352042"/>
                  </a:lnTo>
                  <a:lnTo>
                    <a:pt x="1148334" y="1308608"/>
                  </a:lnTo>
                  <a:close/>
                </a:path>
                <a:path w="4735195" h="2617470">
                  <a:moveTo>
                    <a:pt x="1757934" y="1842008"/>
                  </a:moveTo>
                  <a:lnTo>
                    <a:pt x="1660779" y="1840103"/>
                  </a:lnTo>
                  <a:lnTo>
                    <a:pt x="1673225" y="1866265"/>
                  </a:lnTo>
                  <a:lnTo>
                    <a:pt x="151511" y="2590927"/>
                  </a:lnTo>
                  <a:lnTo>
                    <a:pt x="163957" y="2617089"/>
                  </a:lnTo>
                  <a:lnTo>
                    <a:pt x="1685671" y="1892427"/>
                  </a:lnTo>
                  <a:lnTo>
                    <a:pt x="1698117" y="1918589"/>
                  </a:lnTo>
                  <a:lnTo>
                    <a:pt x="1757934" y="1842008"/>
                  </a:lnTo>
                  <a:close/>
                </a:path>
                <a:path w="4735195" h="2617470">
                  <a:moveTo>
                    <a:pt x="1910334" y="851408"/>
                  </a:moveTo>
                  <a:lnTo>
                    <a:pt x="1845818" y="778764"/>
                  </a:lnTo>
                  <a:lnTo>
                    <a:pt x="1835023" y="805688"/>
                  </a:lnTo>
                  <a:lnTo>
                    <a:pt x="10668" y="75946"/>
                  </a:lnTo>
                  <a:lnTo>
                    <a:pt x="0" y="102870"/>
                  </a:lnTo>
                  <a:lnTo>
                    <a:pt x="1824355" y="832612"/>
                  </a:lnTo>
                  <a:lnTo>
                    <a:pt x="1813560" y="859536"/>
                  </a:lnTo>
                  <a:lnTo>
                    <a:pt x="1910334" y="851408"/>
                  </a:lnTo>
                  <a:close/>
                </a:path>
                <a:path w="4735195" h="2617470">
                  <a:moveTo>
                    <a:pt x="4501134" y="1294130"/>
                  </a:moveTo>
                  <a:lnTo>
                    <a:pt x="3521202" y="1294130"/>
                  </a:lnTo>
                  <a:lnTo>
                    <a:pt x="3521202" y="1265174"/>
                  </a:lnTo>
                  <a:lnTo>
                    <a:pt x="3434334" y="1308608"/>
                  </a:lnTo>
                  <a:lnTo>
                    <a:pt x="3521202" y="1352042"/>
                  </a:lnTo>
                  <a:lnTo>
                    <a:pt x="3521202" y="1323086"/>
                  </a:lnTo>
                  <a:lnTo>
                    <a:pt x="4501134" y="1323086"/>
                  </a:lnTo>
                  <a:lnTo>
                    <a:pt x="4501134" y="1294130"/>
                  </a:lnTo>
                  <a:close/>
                </a:path>
                <a:path w="4735195" h="2617470">
                  <a:moveTo>
                    <a:pt x="4506976" y="26416"/>
                  </a:moveTo>
                  <a:lnTo>
                    <a:pt x="4495292" y="0"/>
                  </a:lnTo>
                  <a:lnTo>
                    <a:pt x="2669794" y="803148"/>
                  </a:lnTo>
                  <a:lnTo>
                    <a:pt x="2658110" y="776605"/>
                  </a:lnTo>
                  <a:lnTo>
                    <a:pt x="2596134" y="851408"/>
                  </a:lnTo>
                  <a:lnTo>
                    <a:pt x="2693162" y="856234"/>
                  </a:lnTo>
                  <a:lnTo>
                    <a:pt x="2681478" y="829691"/>
                  </a:lnTo>
                  <a:lnTo>
                    <a:pt x="4506976" y="26416"/>
                  </a:lnTo>
                  <a:close/>
                </a:path>
                <a:path w="4735195" h="2617470">
                  <a:moveTo>
                    <a:pt x="4734941" y="2590546"/>
                  </a:moveTo>
                  <a:lnTo>
                    <a:pt x="2834767" y="1859661"/>
                  </a:lnTo>
                  <a:lnTo>
                    <a:pt x="2845181" y="1832610"/>
                  </a:lnTo>
                  <a:lnTo>
                    <a:pt x="2748534" y="1842008"/>
                  </a:lnTo>
                  <a:lnTo>
                    <a:pt x="2814066" y="1913763"/>
                  </a:lnTo>
                  <a:lnTo>
                    <a:pt x="2824480" y="1886712"/>
                  </a:lnTo>
                  <a:lnTo>
                    <a:pt x="4724527" y="2617470"/>
                  </a:lnTo>
                  <a:lnTo>
                    <a:pt x="4734941" y="2590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66800" y="16002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5" y="12826"/>
                  </a:lnTo>
                  <a:lnTo>
                    <a:pt x="715391" y="19812"/>
                  </a:lnTo>
                  <a:lnTo>
                    <a:pt x="656844" y="28194"/>
                  </a:lnTo>
                  <a:lnTo>
                    <a:pt x="600075" y="37973"/>
                  </a:lnTo>
                  <a:lnTo>
                    <a:pt x="545084" y="49149"/>
                  </a:lnTo>
                  <a:lnTo>
                    <a:pt x="491997" y="61467"/>
                  </a:lnTo>
                  <a:lnTo>
                    <a:pt x="440944" y="75057"/>
                  </a:lnTo>
                  <a:lnTo>
                    <a:pt x="392049" y="89788"/>
                  </a:lnTo>
                  <a:lnTo>
                    <a:pt x="345440" y="105790"/>
                  </a:lnTo>
                  <a:lnTo>
                    <a:pt x="301244" y="122682"/>
                  </a:lnTo>
                  <a:lnTo>
                    <a:pt x="259587" y="140715"/>
                  </a:lnTo>
                  <a:lnTo>
                    <a:pt x="220599" y="159765"/>
                  </a:lnTo>
                  <a:lnTo>
                    <a:pt x="184289" y="179577"/>
                  </a:lnTo>
                  <a:lnTo>
                    <a:pt x="150901" y="200405"/>
                  </a:lnTo>
                  <a:lnTo>
                    <a:pt x="93256" y="244475"/>
                  </a:lnTo>
                  <a:lnTo>
                    <a:pt x="48577" y="291464"/>
                  </a:lnTo>
                  <a:lnTo>
                    <a:pt x="17856" y="340995"/>
                  </a:lnTo>
                  <a:lnTo>
                    <a:pt x="2019" y="392557"/>
                  </a:lnTo>
                  <a:lnTo>
                    <a:pt x="0" y="419100"/>
                  </a:lnTo>
                  <a:lnTo>
                    <a:pt x="2019" y="445642"/>
                  </a:lnTo>
                  <a:lnTo>
                    <a:pt x="17856" y="497204"/>
                  </a:lnTo>
                  <a:lnTo>
                    <a:pt x="48577" y="546735"/>
                  </a:lnTo>
                  <a:lnTo>
                    <a:pt x="93256" y="593725"/>
                  </a:lnTo>
                  <a:lnTo>
                    <a:pt x="150901" y="637794"/>
                  </a:lnTo>
                  <a:lnTo>
                    <a:pt x="184289" y="658622"/>
                  </a:lnTo>
                  <a:lnTo>
                    <a:pt x="220599" y="678434"/>
                  </a:lnTo>
                  <a:lnTo>
                    <a:pt x="259587" y="697484"/>
                  </a:lnTo>
                  <a:lnTo>
                    <a:pt x="301244" y="715517"/>
                  </a:lnTo>
                  <a:lnTo>
                    <a:pt x="345440" y="732409"/>
                  </a:lnTo>
                  <a:lnTo>
                    <a:pt x="392049" y="748411"/>
                  </a:lnTo>
                  <a:lnTo>
                    <a:pt x="440944" y="763142"/>
                  </a:lnTo>
                  <a:lnTo>
                    <a:pt x="491997" y="776732"/>
                  </a:lnTo>
                  <a:lnTo>
                    <a:pt x="545084" y="789051"/>
                  </a:lnTo>
                  <a:lnTo>
                    <a:pt x="600075" y="800226"/>
                  </a:lnTo>
                  <a:lnTo>
                    <a:pt x="656844" y="810005"/>
                  </a:lnTo>
                  <a:lnTo>
                    <a:pt x="715391" y="818388"/>
                  </a:lnTo>
                  <a:lnTo>
                    <a:pt x="775335" y="825373"/>
                  </a:lnTo>
                  <a:lnTo>
                    <a:pt x="836802" y="830961"/>
                  </a:lnTo>
                  <a:lnTo>
                    <a:pt x="899668" y="834898"/>
                  </a:lnTo>
                  <a:lnTo>
                    <a:pt x="963676" y="837438"/>
                  </a:lnTo>
                  <a:lnTo>
                    <a:pt x="1028700" y="838200"/>
                  </a:lnTo>
                  <a:lnTo>
                    <a:pt x="1093724" y="837438"/>
                  </a:lnTo>
                  <a:lnTo>
                    <a:pt x="1157732" y="834898"/>
                  </a:lnTo>
                  <a:lnTo>
                    <a:pt x="1220597" y="830961"/>
                  </a:lnTo>
                  <a:lnTo>
                    <a:pt x="1282064" y="825373"/>
                  </a:lnTo>
                  <a:lnTo>
                    <a:pt x="1342008" y="818388"/>
                  </a:lnTo>
                  <a:lnTo>
                    <a:pt x="1400556" y="810005"/>
                  </a:lnTo>
                  <a:lnTo>
                    <a:pt x="1457325" y="800226"/>
                  </a:lnTo>
                  <a:lnTo>
                    <a:pt x="1512316" y="789051"/>
                  </a:lnTo>
                  <a:lnTo>
                    <a:pt x="1565402" y="776732"/>
                  </a:lnTo>
                  <a:lnTo>
                    <a:pt x="1616456" y="763142"/>
                  </a:lnTo>
                  <a:lnTo>
                    <a:pt x="1665351" y="748411"/>
                  </a:lnTo>
                  <a:lnTo>
                    <a:pt x="1711960" y="732409"/>
                  </a:lnTo>
                  <a:lnTo>
                    <a:pt x="1756156" y="715517"/>
                  </a:lnTo>
                  <a:lnTo>
                    <a:pt x="1797812" y="697484"/>
                  </a:lnTo>
                  <a:lnTo>
                    <a:pt x="1836801" y="678434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2" y="593725"/>
                  </a:lnTo>
                  <a:lnTo>
                    <a:pt x="2008758" y="546735"/>
                  </a:lnTo>
                  <a:lnTo>
                    <a:pt x="2039493" y="497204"/>
                  </a:lnTo>
                  <a:lnTo>
                    <a:pt x="2055368" y="445642"/>
                  </a:lnTo>
                  <a:lnTo>
                    <a:pt x="2057400" y="419100"/>
                  </a:lnTo>
                  <a:lnTo>
                    <a:pt x="2055368" y="392557"/>
                  </a:lnTo>
                  <a:lnTo>
                    <a:pt x="2039493" y="340995"/>
                  </a:lnTo>
                  <a:lnTo>
                    <a:pt x="2008758" y="291464"/>
                  </a:lnTo>
                  <a:lnTo>
                    <a:pt x="1964182" y="244475"/>
                  </a:lnTo>
                  <a:lnTo>
                    <a:pt x="1906524" y="200405"/>
                  </a:lnTo>
                  <a:lnTo>
                    <a:pt x="1873123" y="179577"/>
                  </a:lnTo>
                  <a:lnTo>
                    <a:pt x="1836801" y="159765"/>
                  </a:lnTo>
                  <a:lnTo>
                    <a:pt x="1797812" y="140715"/>
                  </a:lnTo>
                  <a:lnTo>
                    <a:pt x="1756156" y="122682"/>
                  </a:lnTo>
                  <a:lnTo>
                    <a:pt x="1711960" y="105790"/>
                  </a:lnTo>
                  <a:lnTo>
                    <a:pt x="1665351" y="89788"/>
                  </a:lnTo>
                  <a:lnTo>
                    <a:pt x="1616456" y="75057"/>
                  </a:lnTo>
                  <a:lnTo>
                    <a:pt x="1565402" y="61467"/>
                  </a:lnTo>
                  <a:lnTo>
                    <a:pt x="1512316" y="49149"/>
                  </a:lnTo>
                  <a:lnTo>
                    <a:pt x="1457325" y="37973"/>
                  </a:lnTo>
                  <a:lnTo>
                    <a:pt x="1400556" y="28194"/>
                  </a:lnTo>
                  <a:lnTo>
                    <a:pt x="1342008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66800" y="16002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13" y="366522"/>
                  </a:lnTo>
                  <a:lnTo>
                    <a:pt x="31407" y="315849"/>
                  </a:lnTo>
                  <a:lnTo>
                    <a:pt x="69240" y="267588"/>
                  </a:lnTo>
                  <a:lnTo>
                    <a:pt x="120510" y="221996"/>
                  </a:lnTo>
                  <a:lnTo>
                    <a:pt x="184289" y="179577"/>
                  </a:lnTo>
                  <a:lnTo>
                    <a:pt x="220599" y="159765"/>
                  </a:lnTo>
                  <a:lnTo>
                    <a:pt x="259587" y="140715"/>
                  </a:lnTo>
                  <a:lnTo>
                    <a:pt x="301244" y="122682"/>
                  </a:lnTo>
                  <a:lnTo>
                    <a:pt x="345440" y="105790"/>
                  </a:lnTo>
                  <a:lnTo>
                    <a:pt x="392049" y="89788"/>
                  </a:lnTo>
                  <a:lnTo>
                    <a:pt x="440944" y="75057"/>
                  </a:lnTo>
                  <a:lnTo>
                    <a:pt x="491997" y="61467"/>
                  </a:lnTo>
                  <a:lnTo>
                    <a:pt x="545084" y="49149"/>
                  </a:lnTo>
                  <a:lnTo>
                    <a:pt x="600075" y="37973"/>
                  </a:lnTo>
                  <a:lnTo>
                    <a:pt x="656844" y="28194"/>
                  </a:lnTo>
                  <a:lnTo>
                    <a:pt x="715391" y="19812"/>
                  </a:lnTo>
                  <a:lnTo>
                    <a:pt x="775335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8" y="19812"/>
                  </a:lnTo>
                  <a:lnTo>
                    <a:pt x="1400556" y="28194"/>
                  </a:lnTo>
                  <a:lnTo>
                    <a:pt x="1457325" y="37973"/>
                  </a:lnTo>
                  <a:lnTo>
                    <a:pt x="1512316" y="49149"/>
                  </a:lnTo>
                  <a:lnTo>
                    <a:pt x="1565402" y="61467"/>
                  </a:lnTo>
                  <a:lnTo>
                    <a:pt x="1616456" y="75057"/>
                  </a:lnTo>
                  <a:lnTo>
                    <a:pt x="1665351" y="89788"/>
                  </a:lnTo>
                  <a:lnTo>
                    <a:pt x="1711960" y="105790"/>
                  </a:lnTo>
                  <a:lnTo>
                    <a:pt x="1756156" y="122682"/>
                  </a:lnTo>
                  <a:lnTo>
                    <a:pt x="1797812" y="140715"/>
                  </a:lnTo>
                  <a:lnTo>
                    <a:pt x="1836801" y="159765"/>
                  </a:lnTo>
                  <a:lnTo>
                    <a:pt x="1873123" y="179577"/>
                  </a:lnTo>
                  <a:lnTo>
                    <a:pt x="1906524" y="200405"/>
                  </a:lnTo>
                  <a:lnTo>
                    <a:pt x="1964182" y="244475"/>
                  </a:lnTo>
                  <a:lnTo>
                    <a:pt x="2008758" y="291464"/>
                  </a:lnTo>
                  <a:lnTo>
                    <a:pt x="2039493" y="340995"/>
                  </a:lnTo>
                  <a:lnTo>
                    <a:pt x="2055368" y="392557"/>
                  </a:lnTo>
                  <a:lnTo>
                    <a:pt x="2057400" y="419100"/>
                  </a:lnTo>
                  <a:lnTo>
                    <a:pt x="2055368" y="445642"/>
                  </a:lnTo>
                  <a:lnTo>
                    <a:pt x="2039493" y="497204"/>
                  </a:lnTo>
                  <a:lnTo>
                    <a:pt x="2008758" y="546735"/>
                  </a:lnTo>
                  <a:lnTo>
                    <a:pt x="1964182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4"/>
                  </a:lnTo>
                  <a:lnTo>
                    <a:pt x="1797812" y="697484"/>
                  </a:lnTo>
                  <a:lnTo>
                    <a:pt x="1756156" y="715517"/>
                  </a:lnTo>
                  <a:lnTo>
                    <a:pt x="1711960" y="732409"/>
                  </a:lnTo>
                  <a:lnTo>
                    <a:pt x="1665351" y="748411"/>
                  </a:lnTo>
                  <a:lnTo>
                    <a:pt x="1616456" y="763142"/>
                  </a:lnTo>
                  <a:lnTo>
                    <a:pt x="1565402" y="776732"/>
                  </a:lnTo>
                  <a:lnTo>
                    <a:pt x="1512316" y="789051"/>
                  </a:lnTo>
                  <a:lnTo>
                    <a:pt x="1457325" y="800226"/>
                  </a:lnTo>
                  <a:lnTo>
                    <a:pt x="1400556" y="810005"/>
                  </a:lnTo>
                  <a:lnTo>
                    <a:pt x="1342008" y="818388"/>
                  </a:lnTo>
                  <a:lnTo>
                    <a:pt x="1282064" y="825373"/>
                  </a:lnTo>
                  <a:lnTo>
                    <a:pt x="1220597" y="830961"/>
                  </a:lnTo>
                  <a:lnTo>
                    <a:pt x="1157732" y="834898"/>
                  </a:lnTo>
                  <a:lnTo>
                    <a:pt x="1093724" y="837438"/>
                  </a:lnTo>
                  <a:lnTo>
                    <a:pt x="1028700" y="838200"/>
                  </a:lnTo>
                  <a:lnTo>
                    <a:pt x="963676" y="837438"/>
                  </a:lnTo>
                  <a:lnTo>
                    <a:pt x="899668" y="834898"/>
                  </a:lnTo>
                  <a:lnTo>
                    <a:pt x="836802" y="830961"/>
                  </a:lnTo>
                  <a:lnTo>
                    <a:pt x="775335" y="825373"/>
                  </a:lnTo>
                  <a:lnTo>
                    <a:pt x="715391" y="818388"/>
                  </a:lnTo>
                  <a:lnTo>
                    <a:pt x="656844" y="810005"/>
                  </a:lnTo>
                  <a:lnTo>
                    <a:pt x="600075" y="800226"/>
                  </a:lnTo>
                  <a:lnTo>
                    <a:pt x="545084" y="789051"/>
                  </a:lnTo>
                  <a:lnTo>
                    <a:pt x="491997" y="776732"/>
                  </a:lnTo>
                  <a:lnTo>
                    <a:pt x="440944" y="763142"/>
                  </a:lnTo>
                  <a:lnTo>
                    <a:pt x="392049" y="748411"/>
                  </a:lnTo>
                  <a:lnTo>
                    <a:pt x="345440" y="732409"/>
                  </a:lnTo>
                  <a:lnTo>
                    <a:pt x="301244" y="715517"/>
                  </a:lnTo>
                  <a:lnTo>
                    <a:pt x="259587" y="697484"/>
                  </a:lnTo>
                  <a:lnTo>
                    <a:pt x="220599" y="678434"/>
                  </a:lnTo>
                  <a:lnTo>
                    <a:pt x="184289" y="658622"/>
                  </a:lnTo>
                  <a:lnTo>
                    <a:pt x="150901" y="637794"/>
                  </a:lnTo>
                  <a:lnTo>
                    <a:pt x="93256" y="593725"/>
                  </a:lnTo>
                  <a:lnTo>
                    <a:pt x="48577" y="546735"/>
                  </a:lnTo>
                  <a:lnTo>
                    <a:pt x="17856" y="497204"/>
                  </a:lnTo>
                  <a:lnTo>
                    <a:pt x="2019" y="445642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00377" y="1638427"/>
            <a:ext cx="11766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7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Machine </a:t>
            </a:r>
            <a:r>
              <a:rPr dirty="0" sz="2400" spc="-20">
                <a:latin typeface="Tahoma"/>
                <a:cs typeface="Tahoma"/>
              </a:rPr>
              <a:t>Learning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62637" y="1595437"/>
            <a:ext cx="2066925" cy="771525"/>
            <a:chOff x="5862637" y="1595437"/>
            <a:chExt cx="2066925" cy="771525"/>
          </a:xfrm>
        </p:grpSpPr>
        <p:sp>
          <p:nvSpPr>
            <p:cNvPr id="13" name="object 13"/>
            <p:cNvSpPr/>
            <p:nvPr/>
          </p:nvSpPr>
          <p:spPr>
            <a:xfrm>
              <a:off x="5867400" y="1600200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1028700" y="0"/>
                  </a:moveTo>
                  <a:lnTo>
                    <a:pt x="961008" y="762"/>
                  </a:lnTo>
                  <a:lnTo>
                    <a:pt x="894588" y="3175"/>
                  </a:lnTo>
                  <a:lnTo>
                    <a:pt x="829436" y="7112"/>
                  </a:lnTo>
                  <a:lnTo>
                    <a:pt x="765682" y="12573"/>
                  </a:lnTo>
                  <a:lnTo>
                    <a:pt x="703579" y="19430"/>
                  </a:lnTo>
                  <a:lnTo>
                    <a:pt x="643127" y="27686"/>
                  </a:lnTo>
                  <a:lnTo>
                    <a:pt x="584453" y="37211"/>
                  </a:lnTo>
                  <a:lnTo>
                    <a:pt x="527812" y="48133"/>
                  </a:lnTo>
                  <a:lnTo>
                    <a:pt x="473328" y="60198"/>
                  </a:lnTo>
                  <a:lnTo>
                    <a:pt x="421132" y="73533"/>
                  </a:lnTo>
                  <a:lnTo>
                    <a:pt x="371221" y="87884"/>
                  </a:lnTo>
                  <a:lnTo>
                    <a:pt x="323976" y="103377"/>
                  </a:lnTo>
                  <a:lnTo>
                    <a:pt x="279273" y="120014"/>
                  </a:lnTo>
                  <a:lnTo>
                    <a:pt x="237362" y="137540"/>
                  </a:lnTo>
                  <a:lnTo>
                    <a:pt x="198500" y="155955"/>
                  </a:lnTo>
                  <a:lnTo>
                    <a:pt x="162560" y="175387"/>
                  </a:lnTo>
                  <a:lnTo>
                    <a:pt x="129921" y="195452"/>
                  </a:lnTo>
                  <a:lnTo>
                    <a:pt x="74675" y="238125"/>
                  </a:lnTo>
                  <a:lnTo>
                    <a:pt x="33909" y="283590"/>
                  </a:lnTo>
                  <a:lnTo>
                    <a:pt x="8636" y="331342"/>
                  </a:lnTo>
                  <a:lnTo>
                    <a:pt x="0" y="381000"/>
                  </a:lnTo>
                  <a:lnTo>
                    <a:pt x="2159" y="406019"/>
                  </a:lnTo>
                  <a:lnTo>
                    <a:pt x="19303" y="454787"/>
                  </a:lnTo>
                  <a:lnTo>
                    <a:pt x="52450" y="501396"/>
                  </a:lnTo>
                  <a:lnTo>
                    <a:pt x="100584" y="545464"/>
                  </a:lnTo>
                  <a:lnTo>
                    <a:pt x="162560" y="586613"/>
                  </a:lnTo>
                  <a:lnTo>
                    <a:pt x="198500" y="606044"/>
                  </a:lnTo>
                  <a:lnTo>
                    <a:pt x="237362" y="624459"/>
                  </a:lnTo>
                  <a:lnTo>
                    <a:pt x="279273" y="641985"/>
                  </a:lnTo>
                  <a:lnTo>
                    <a:pt x="323976" y="658622"/>
                  </a:lnTo>
                  <a:lnTo>
                    <a:pt x="371221" y="674115"/>
                  </a:lnTo>
                  <a:lnTo>
                    <a:pt x="421132" y="688466"/>
                  </a:lnTo>
                  <a:lnTo>
                    <a:pt x="473328" y="701801"/>
                  </a:lnTo>
                  <a:lnTo>
                    <a:pt x="527812" y="713866"/>
                  </a:lnTo>
                  <a:lnTo>
                    <a:pt x="584453" y="724788"/>
                  </a:lnTo>
                  <a:lnTo>
                    <a:pt x="643127" y="734313"/>
                  </a:lnTo>
                  <a:lnTo>
                    <a:pt x="703579" y="742569"/>
                  </a:lnTo>
                  <a:lnTo>
                    <a:pt x="765682" y="749426"/>
                  </a:lnTo>
                  <a:lnTo>
                    <a:pt x="829436" y="754888"/>
                  </a:lnTo>
                  <a:lnTo>
                    <a:pt x="894588" y="758825"/>
                  </a:lnTo>
                  <a:lnTo>
                    <a:pt x="961008" y="761238"/>
                  </a:lnTo>
                  <a:lnTo>
                    <a:pt x="1028700" y="762000"/>
                  </a:lnTo>
                  <a:lnTo>
                    <a:pt x="1096391" y="761238"/>
                  </a:lnTo>
                  <a:lnTo>
                    <a:pt x="1162811" y="758825"/>
                  </a:lnTo>
                  <a:lnTo>
                    <a:pt x="1227963" y="754888"/>
                  </a:lnTo>
                  <a:lnTo>
                    <a:pt x="1291717" y="749426"/>
                  </a:lnTo>
                  <a:lnTo>
                    <a:pt x="1353820" y="742569"/>
                  </a:lnTo>
                  <a:lnTo>
                    <a:pt x="1414272" y="734313"/>
                  </a:lnTo>
                  <a:lnTo>
                    <a:pt x="1472819" y="724788"/>
                  </a:lnTo>
                  <a:lnTo>
                    <a:pt x="1529460" y="713866"/>
                  </a:lnTo>
                  <a:lnTo>
                    <a:pt x="1583944" y="701801"/>
                  </a:lnTo>
                  <a:lnTo>
                    <a:pt x="1636268" y="688466"/>
                  </a:lnTo>
                  <a:lnTo>
                    <a:pt x="1686052" y="674115"/>
                  </a:lnTo>
                  <a:lnTo>
                    <a:pt x="1733423" y="658622"/>
                  </a:lnTo>
                  <a:lnTo>
                    <a:pt x="1778127" y="641985"/>
                  </a:lnTo>
                  <a:lnTo>
                    <a:pt x="1819909" y="624459"/>
                  </a:lnTo>
                  <a:lnTo>
                    <a:pt x="1858899" y="606044"/>
                  </a:lnTo>
                  <a:lnTo>
                    <a:pt x="1894840" y="586613"/>
                  </a:lnTo>
                  <a:lnTo>
                    <a:pt x="1927478" y="566547"/>
                  </a:lnTo>
                  <a:lnTo>
                    <a:pt x="1982724" y="523875"/>
                  </a:lnTo>
                  <a:lnTo>
                    <a:pt x="2023491" y="478409"/>
                  </a:lnTo>
                  <a:lnTo>
                    <a:pt x="2048764" y="430657"/>
                  </a:lnTo>
                  <a:lnTo>
                    <a:pt x="2057400" y="381000"/>
                  </a:lnTo>
                  <a:lnTo>
                    <a:pt x="2055241" y="355980"/>
                  </a:lnTo>
                  <a:lnTo>
                    <a:pt x="2038096" y="307213"/>
                  </a:lnTo>
                  <a:lnTo>
                    <a:pt x="2004949" y="260603"/>
                  </a:lnTo>
                  <a:lnTo>
                    <a:pt x="1956816" y="216535"/>
                  </a:lnTo>
                  <a:lnTo>
                    <a:pt x="1894840" y="175387"/>
                  </a:lnTo>
                  <a:lnTo>
                    <a:pt x="1858899" y="155955"/>
                  </a:lnTo>
                  <a:lnTo>
                    <a:pt x="1819909" y="137540"/>
                  </a:lnTo>
                  <a:lnTo>
                    <a:pt x="1778127" y="120014"/>
                  </a:lnTo>
                  <a:lnTo>
                    <a:pt x="1733423" y="103377"/>
                  </a:lnTo>
                  <a:lnTo>
                    <a:pt x="1686052" y="87884"/>
                  </a:lnTo>
                  <a:lnTo>
                    <a:pt x="1636268" y="73533"/>
                  </a:lnTo>
                  <a:lnTo>
                    <a:pt x="1583944" y="60198"/>
                  </a:lnTo>
                  <a:lnTo>
                    <a:pt x="1529460" y="48133"/>
                  </a:lnTo>
                  <a:lnTo>
                    <a:pt x="1472819" y="37211"/>
                  </a:lnTo>
                  <a:lnTo>
                    <a:pt x="1414272" y="27686"/>
                  </a:lnTo>
                  <a:lnTo>
                    <a:pt x="1353820" y="19430"/>
                  </a:lnTo>
                  <a:lnTo>
                    <a:pt x="1291717" y="12573"/>
                  </a:lnTo>
                  <a:lnTo>
                    <a:pt x="1227963" y="7112"/>
                  </a:lnTo>
                  <a:lnTo>
                    <a:pt x="1162811" y="3175"/>
                  </a:lnTo>
                  <a:lnTo>
                    <a:pt x="1096391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67400" y="1600200"/>
              <a:ext cx="2057400" cy="762000"/>
            </a:xfrm>
            <a:custGeom>
              <a:avLst/>
              <a:gdLst/>
              <a:ahLst/>
              <a:cxnLst/>
              <a:rect l="l" t="t" r="r" b="b"/>
              <a:pathLst>
                <a:path w="2057400" h="762000">
                  <a:moveTo>
                    <a:pt x="0" y="381000"/>
                  </a:moveTo>
                  <a:lnTo>
                    <a:pt x="8636" y="331342"/>
                  </a:lnTo>
                  <a:lnTo>
                    <a:pt x="33909" y="283590"/>
                  </a:lnTo>
                  <a:lnTo>
                    <a:pt x="74675" y="238125"/>
                  </a:lnTo>
                  <a:lnTo>
                    <a:pt x="129921" y="195452"/>
                  </a:lnTo>
                  <a:lnTo>
                    <a:pt x="162560" y="175387"/>
                  </a:lnTo>
                  <a:lnTo>
                    <a:pt x="198500" y="155955"/>
                  </a:lnTo>
                  <a:lnTo>
                    <a:pt x="237362" y="137540"/>
                  </a:lnTo>
                  <a:lnTo>
                    <a:pt x="279273" y="120014"/>
                  </a:lnTo>
                  <a:lnTo>
                    <a:pt x="323976" y="103377"/>
                  </a:lnTo>
                  <a:lnTo>
                    <a:pt x="371221" y="87884"/>
                  </a:lnTo>
                  <a:lnTo>
                    <a:pt x="421132" y="73533"/>
                  </a:lnTo>
                  <a:lnTo>
                    <a:pt x="473328" y="60198"/>
                  </a:lnTo>
                  <a:lnTo>
                    <a:pt x="527812" y="48133"/>
                  </a:lnTo>
                  <a:lnTo>
                    <a:pt x="584453" y="37211"/>
                  </a:lnTo>
                  <a:lnTo>
                    <a:pt x="643127" y="27686"/>
                  </a:lnTo>
                  <a:lnTo>
                    <a:pt x="703579" y="19430"/>
                  </a:lnTo>
                  <a:lnTo>
                    <a:pt x="765682" y="12573"/>
                  </a:lnTo>
                  <a:lnTo>
                    <a:pt x="829436" y="7112"/>
                  </a:lnTo>
                  <a:lnTo>
                    <a:pt x="894588" y="3175"/>
                  </a:lnTo>
                  <a:lnTo>
                    <a:pt x="961008" y="762"/>
                  </a:lnTo>
                  <a:lnTo>
                    <a:pt x="1028700" y="0"/>
                  </a:lnTo>
                  <a:lnTo>
                    <a:pt x="1096391" y="762"/>
                  </a:lnTo>
                  <a:lnTo>
                    <a:pt x="1162811" y="3175"/>
                  </a:lnTo>
                  <a:lnTo>
                    <a:pt x="1227963" y="7112"/>
                  </a:lnTo>
                  <a:lnTo>
                    <a:pt x="1291717" y="12573"/>
                  </a:lnTo>
                  <a:lnTo>
                    <a:pt x="1353820" y="19430"/>
                  </a:lnTo>
                  <a:lnTo>
                    <a:pt x="1414272" y="27686"/>
                  </a:lnTo>
                  <a:lnTo>
                    <a:pt x="1472819" y="37211"/>
                  </a:lnTo>
                  <a:lnTo>
                    <a:pt x="1529460" y="48133"/>
                  </a:lnTo>
                  <a:lnTo>
                    <a:pt x="1583944" y="60198"/>
                  </a:lnTo>
                  <a:lnTo>
                    <a:pt x="1636268" y="73533"/>
                  </a:lnTo>
                  <a:lnTo>
                    <a:pt x="1686052" y="87884"/>
                  </a:lnTo>
                  <a:lnTo>
                    <a:pt x="1733423" y="103377"/>
                  </a:lnTo>
                  <a:lnTo>
                    <a:pt x="1778127" y="120014"/>
                  </a:lnTo>
                  <a:lnTo>
                    <a:pt x="1819909" y="137540"/>
                  </a:lnTo>
                  <a:lnTo>
                    <a:pt x="1858899" y="155955"/>
                  </a:lnTo>
                  <a:lnTo>
                    <a:pt x="1894840" y="175387"/>
                  </a:lnTo>
                  <a:lnTo>
                    <a:pt x="1927478" y="195452"/>
                  </a:lnTo>
                  <a:lnTo>
                    <a:pt x="1982724" y="238125"/>
                  </a:lnTo>
                  <a:lnTo>
                    <a:pt x="2023491" y="283590"/>
                  </a:lnTo>
                  <a:lnTo>
                    <a:pt x="2048764" y="331342"/>
                  </a:lnTo>
                  <a:lnTo>
                    <a:pt x="2057400" y="381000"/>
                  </a:lnTo>
                  <a:lnTo>
                    <a:pt x="2055241" y="406019"/>
                  </a:lnTo>
                  <a:lnTo>
                    <a:pt x="2038096" y="454787"/>
                  </a:lnTo>
                  <a:lnTo>
                    <a:pt x="2004949" y="501396"/>
                  </a:lnTo>
                  <a:lnTo>
                    <a:pt x="1956816" y="545464"/>
                  </a:lnTo>
                  <a:lnTo>
                    <a:pt x="1894840" y="586613"/>
                  </a:lnTo>
                  <a:lnTo>
                    <a:pt x="1858899" y="606044"/>
                  </a:lnTo>
                  <a:lnTo>
                    <a:pt x="1819909" y="624459"/>
                  </a:lnTo>
                  <a:lnTo>
                    <a:pt x="1778127" y="641985"/>
                  </a:lnTo>
                  <a:lnTo>
                    <a:pt x="1733423" y="658622"/>
                  </a:lnTo>
                  <a:lnTo>
                    <a:pt x="1686052" y="674115"/>
                  </a:lnTo>
                  <a:lnTo>
                    <a:pt x="1636268" y="688466"/>
                  </a:lnTo>
                  <a:lnTo>
                    <a:pt x="1583944" y="701801"/>
                  </a:lnTo>
                  <a:lnTo>
                    <a:pt x="1529460" y="713866"/>
                  </a:lnTo>
                  <a:lnTo>
                    <a:pt x="1472819" y="724788"/>
                  </a:lnTo>
                  <a:lnTo>
                    <a:pt x="1414272" y="734313"/>
                  </a:lnTo>
                  <a:lnTo>
                    <a:pt x="1353820" y="742569"/>
                  </a:lnTo>
                  <a:lnTo>
                    <a:pt x="1291717" y="749426"/>
                  </a:lnTo>
                  <a:lnTo>
                    <a:pt x="1227963" y="754888"/>
                  </a:lnTo>
                  <a:lnTo>
                    <a:pt x="1162811" y="758825"/>
                  </a:lnTo>
                  <a:lnTo>
                    <a:pt x="1096391" y="761238"/>
                  </a:lnTo>
                  <a:lnTo>
                    <a:pt x="1028700" y="762000"/>
                  </a:lnTo>
                  <a:lnTo>
                    <a:pt x="961008" y="761238"/>
                  </a:lnTo>
                  <a:lnTo>
                    <a:pt x="894588" y="758825"/>
                  </a:lnTo>
                  <a:lnTo>
                    <a:pt x="829436" y="754888"/>
                  </a:lnTo>
                  <a:lnTo>
                    <a:pt x="765682" y="749426"/>
                  </a:lnTo>
                  <a:lnTo>
                    <a:pt x="703579" y="742569"/>
                  </a:lnTo>
                  <a:lnTo>
                    <a:pt x="643127" y="734313"/>
                  </a:lnTo>
                  <a:lnTo>
                    <a:pt x="584453" y="724788"/>
                  </a:lnTo>
                  <a:lnTo>
                    <a:pt x="527812" y="713866"/>
                  </a:lnTo>
                  <a:lnTo>
                    <a:pt x="473328" y="701801"/>
                  </a:lnTo>
                  <a:lnTo>
                    <a:pt x="421132" y="688466"/>
                  </a:lnTo>
                  <a:lnTo>
                    <a:pt x="371221" y="674115"/>
                  </a:lnTo>
                  <a:lnTo>
                    <a:pt x="323976" y="658622"/>
                  </a:lnTo>
                  <a:lnTo>
                    <a:pt x="279273" y="641985"/>
                  </a:lnTo>
                  <a:lnTo>
                    <a:pt x="237362" y="624459"/>
                  </a:lnTo>
                  <a:lnTo>
                    <a:pt x="198500" y="606044"/>
                  </a:lnTo>
                  <a:lnTo>
                    <a:pt x="162560" y="586613"/>
                  </a:lnTo>
                  <a:lnTo>
                    <a:pt x="129921" y="566547"/>
                  </a:lnTo>
                  <a:lnTo>
                    <a:pt x="74675" y="523875"/>
                  </a:lnTo>
                  <a:lnTo>
                    <a:pt x="33909" y="478409"/>
                  </a:lnTo>
                  <a:lnTo>
                    <a:pt x="8636" y="430657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290309" y="1782826"/>
            <a:ext cx="1199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Statistics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0037" y="3271837"/>
            <a:ext cx="2066925" cy="847725"/>
            <a:chOff x="300037" y="3271837"/>
            <a:chExt cx="2066925" cy="847725"/>
          </a:xfrm>
        </p:grpSpPr>
        <p:sp>
          <p:nvSpPr>
            <p:cNvPr id="17" name="object 17"/>
            <p:cNvSpPr/>
            <p:nvPr/>
          </p:nvSpPr>
          <p:spPr>
            <a:xfrm>
              <a:off x="304800" y="32766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37" y="762"/>
                  </a:lnTo>
                  <a:lnTo>
                    <a:pt x="899668" y="3301"/>
                  </a:lnTo>
                  <a:lnTo>
                    <a:pt x="836879" y="7238"/>
                  </a:lnTo>
                  <a:lnTo>
                    <a:pt x="775411" y="12826"/>
                  </a:lnTo>
                  <a:lnTo>
                    <a:pt x="715378" y="19812"/>
                  </a:lnTo>
                  <a:lnTo>
                    <a:pt x="656894" y="28194"/>
                  </a:lnTo>
                  <a:lnTo>
                    <a:pt x="600100" y="37973"/>
                  </a:lnTo>
                  <a:lnTo>
                    <a:pt x="545096" y="49149"/>
                  </a:lnTo>
                  <a:lnTo>
                    <a:pt x="492023" y="61467"/>
                  </a:lnTo>
                  <a:lnTo>
                    <a:pt x="440982" y="75057"/>
                  </a:lnTo>
                  <a:lnTo>
                    <a:pt x="392099" y="89788"/>
                  </a:lnTo>
                  <a:lnTo>
                    <a:pt x="345503" y="105790"/>
                  </a:lnTo>
                  <a:lnTo>
                    <a:pt x="301294" y="122682"/>
                  </a:lnTo>
                  <a:lnTo>
                    <a:pt x="259626" y="140715"/>
                  </a:lnTo>
                  <a:lnTo>
                    <a:pt x="220586" y="159765"/>
                  </a:lnTo>
                  <a:lnTo>
                    <a:pt x="184302" y="179577"/>
                  </a:lnTo>
                  <a:lnTo>
                    <a:pt x="150914" y="200405"/>
                  </a:lnTo>
                  <a:lnTo>
                    <a:pt x="93268" y="244475"/>
                  </a:lnTo>
                  <a:lnTo>
                    <a:pt x="48590" y="291464"/>
                  </a:lnTo>
                  <a:lnTo>
                    <a:pt x="17856" y="340994"/>
                  </a:lnTo>
                  <a:lnTo>
                    <a:pt x="2019" y="392556"/>
                  </a:lnTo>
                  <a:lnTo>
                    <a:pt x="0" y="419100"/>
                  </a:lnTo>
                  <a:lnTo>
                    <a:pt x="2019" y="445643"/>
                  </a:lnTo>
                  <a:lnTo>
                    <a:pt x="17856" y="497205"/>
                  </a:lnTo>
                  <a:lnTo>
                    <a:pt x="48590" y="546735"/>
                  </a:lnTo>
                  <a:lnTo>
                    <a:pt x="93268" y="593725"/>
                  </a:lnTo>
                  <a:lnTo>
                    <a:pt x="150914" y="637794"/>
                  </a:lnTo>
                  <a:lnTo>
                    <a:pt x="184302" y="658622"/>
                  </a:lnTo>
                  <a:lnTo>
                    <a:pt x="220586" y="678433"/>
                  </a:lnTo>
                  <a:lnTo>
                    <a:pt x="259626" y="697483"/>
                  </a:lnTo>
                  <a:lnTo>
                    <a:pt x="301294" y="715518"/>
                  </a:lnTo>
                  <a:lnTo>
                    <a:pt x="345503" y="732408"/>
                  </a:lnTo>
                  <a:lnTo>
                    <a:pt x="392099" y="748411"/>
                  </a:lnTo>
                  <a:lnTo>
                    <a:pt x="440982" y="763143"/>
                  </a:lnTo>
                  <a:lnTo>
                    <a:pt x="492023" y="776732"/>
                  </a:lnTo>
                  <a:lnTo>
                    <a:pt x="545096" y="789051"/>
                  </a:lnTo>
                  <a:lnTo>
                    <a:pt x="600100" y="800226"/>
                  </a:lnTo>
                  <a:lnTo>
                    <a:pt x="656894" y="810006"/>
                  </a:lnTo>
                  <a:lnTo>
                    <a:pt x="715378" y="818388"/>
                  </a:lnTo>
                  <a:lnTo>
                    <a:pt x="775411" y="825373"/>
                  </a:lnTo>
                  <a:lnTo>
                    <a:pt x="836879" y="830961"/>
                  </a:lnTo>
                  <a:lnTo>
                    <a:pt x="899668" y="834898"/>
                  </a:lnTo>
                  <a:lnTo>
                    <a:pt x="963637" y="837311"/>
                  </a:lnTo>
                  <a:lnTo>
                    <a:pt x="1028700" y="838200"/>
                  </a:lnTo>
                  <a:lnTo>
                    <a:pt x="1093724" y="837311"/>
                  </a:lnTo>
                  <a:lnTo>
                    <a:pt x="1157732" y="834898"/>
                  </a:lnTo>
                  <a:lnTo>
                    <a:pt x="1220597" y="830961"/>
                  </a:lnTo>
                  <a:lnTo>
                    <a:pt x="1282065" y="825373"/>
                  </a:lnTo>
                  <a:lnTo>
                    <a:pt x="1342008" y="818388"/>
                  </a:lnTo>
                  <a:lnTo>
                    <a:pt x="1400556" y="810006"/>
                  </a:lnTo>
                  <a:lnTo>
                    <a:pt x="1457325" y="800226"/>
                  </a:lnTo>
                  <a:lnTo>
                    <a:pt x="1512316" y="789051"/>
                  </a:lnTo>
                  <a:lnTo>
                    <a:pt x="1565402" y="776732"/>
                  </a:lnTo>
                  <a:lnTo>
                    <a:pt x="1616456" y="763143"/>
                  </a:lnTo>
                  <a:lnTo>
                    <a:pt x="1665351" y="748411"/>
                  </a:lnTo>
                  <a:lnTo>
                    <a:pt x="1711960" y="732408"/>
                  </a:lnTo>
                  <a:lnTo>
                    <a:pt x="1756156" y="715518"/>
                  </a:lnTo>
                  <a:lnTo>
                    <a:pt x="1797812" y="697483"/>
                  </a:lnTo>
                  <a:lnTo>
                    <a:pt x="1836801" y="678433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2" y="593725"/>
                  </a:lnTo>
                  <a:lnTo>
                    <a:pt x="2008758" y="546735"/>
                  </a:lnTo>
                  <a:lnTo>
                    <a:pt x="2039493" y="497205"/>
                  </a:lnTo>
                  <a:lnTo>
                    <a:pt x="2055368" y="445643"/>
                  </a:lnTo>
                  <a:lnTo>
                    <a:pt x="2057400" y="419100"/>
                  </a:lnTo>
                  <a:lnTo>
                    <a:pt x="2055368" y="392556"/>
                  </a:lnTo>
                  <a:lnTo>
                    <a:pt x="2039493" y="340994"/>
                  </a:lnTo>
                  <a:lnTo>
                    <a:pt x="2008758" y="291464"/>
                  </a:lnTo>
                  <a:lnTo>
                    <a:pt x="1964182" y="244475"/>
                  </a:lnTo>
                  <a:lnTo>
                    <a:pt x="1906524" y="200405"/>
                  </a:lnTo>
                  <a:lnTo>
                    <a:pt x="1873123" y="179577"/>
                  </a:lnTo>
                  <a:lnTo>
                    <a:pt x="1836801" y="159765"/>
                  </a:lnTo>
                  <a:lnTo>
                    <a:pt x="1797812" y="140715"/>
                  </a:lnTo>
                  <a:lnTo>
                    <a:pt x="1756156" y="122682"/>
                  </a:lnTo>
                  <a:lnTo>
                    <a:pt x="1711960" y="105790"/>
                  </a:lnTo>
                  <a:lnTo>
                    <a:pt x="1665351" y="89788"/>
                  </a:lnTo>
                  <a:lnTo>
                    <a:pt x="1616456" y="75057"/>
                  </a:lnTo>
                  <a:lnTo>
                    <a:pt x="1565402" y="61467"/>
                  </a:lnTo>
                  <a:lnTo>
                    <a:pt x="1512316" y="49149"/>
                  </a:lnTo>
                  <a:lnTo>
                    <a:pt x="1457325" y="37973"/>
                  </a:lnTo>
                  <a:lnTo>
                    <a:pt x="1400556" y="28194"/>
                  </a:lnTo>
                  <a:lnTo>
                    <a:pt x="1342008" y="19812"/>
                  </a:lnTo>
                  <a:lnTo>
                    <a:pt x="1282065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4800" y="32766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13" y="366522"/>
                  </a:lnTo>
                  <a:lnTo>
                    <a:pt x="31419" y="315849"/>
                  </a:lnTo>
                  <a:lnTo>
                    <a:pt x="69240" y="267588"/>
                  </a:lnTo>
                  <a:lnTo>
                    <a:pt x="120523" y="221996"/>
                  </a:lnTo>
                  <a:lnTo>
                    <a:pt x="184302" y="179577"/>
                  </a:lnTo>
                  <a:lnTo>
                    <a:pt x="220586" y="159765"/>
                  </a:lnTo>
                  <a:lnTo>
                    <a:pt x="259626" y="140715"/>
                  </a:lnTo>
                  <a:lnTo>
                    <a:pt x="301294" y="122682"/>
                  </a:lnTo>
                  <a:lnTo>
                    <a:pt x="345503" y="105790"/>
                  </a:lnTo>
                  <a:lnTo>
                    <a:pt x="392099" y="89788"/>
                  </a:lnTo>
                  <a:lnTo>
                    <a:pt x="440982" y="75057"/>
                  </a:lnTo>
                  <a:lnTo>
                    <a:pt x="492023" y="61467"/>
                  </a:lnTo>
                  <a:lnTo>
                    <a:pt x="545096" y="49149"/>
                  </a:lnTo>
                  <a:lnTo>
                    <a:pt x="600100" y="37973"/>
                  </a:lnTo>
                  <a:lnTo>
                    <a:pt x="656894" y="28194"/>
                  </a:lnTo>
                  <a:lnTo>
                    <a:pt x="715378" y="19812"/>
                  </a:lnTo>
                  <a:lnTo>
                    <a:pt x="775411" y="12826"/>
                  </a:lnTo>
                  <a:lnTo>
                    <a:pt x="836879" y="7238"/>
                  </a:lnTo>
                  <a:lnTo>
                    <a:pt x="899668" y="3301"/>
                  </a:lnTo>
                  <a:lnTo>
                    <a:pt x="963637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5" y="12826"/>
                  </a:lnTo>
                  <a:lnTo>
                    <a:pt x="1342008" y="19812"/>
                  </a:lnTo>
                  <a:lnTo>
                    <a:pt x="1400556" y="28194"/>
                  </a:lnTo>
                  <a:lnTo>
                    <a:pt x="1457325" y="37973"/>
                  </a:lnTo>
                  <a:lnTo>
                    <a:pt x="1512316" y="49149"/>
                  </a:lnTo>
                  <a:lnTo>
                    <a:pt x="1565402" y="61467"/>
                  </a:lnTo>
                  <a:lnTo>
                    <a:pt x="1616456" y="75057"/>
                  </a:lnTo>
                  <a:lnTo>
                    <a:pt x="1665351" y="89788"/>
                  </a:lnTo>
                  <a:lnTo>
                    <a:pt x="1711960" y="105790"/>
                  </a:lnTo>
                  <a:lnTo>
                    <a:pt x="1756156" y="122682"/>
                  </a:lnTo>
                  <a:lnTo>
                    <a:pt x="1797812" y="140715"/>
                  </a:lnTo>
                  <a:lnTo>
                    <a:pt x="1836801" y="159765"/>
                  </a:lnTo>
                  <a:lnTo>
                    <a:pt x="1873123" y="179577"/>
                  </a:lnTo>
                  <a:lnTo>
                    <a:pt x="1906524" y="200405"/>
                  </a:lnTo>
                  <a:lnTo>
                    <a:pt x="1964182" y="244475"/>
                  </a:lnTo>
                  <a:lnTo>
                    <a:pt x="2008758" y="291464"/>
                  </a:lnTo>
                  <a:lnTo>
                    <a:pt x="2039493" y="340994"/>
                  </a:lnTo>
                  <a:lnTo>
                    <a:pt x="2055368" y="392556"/>
                  </a:lnTo>
                  <a:lnTo>
                    <a:pt x="2057400" y="419100"/>
                  </a:lnTo>
                  <a:lnTo>
                    <a:pt x="2055368" y="445643"/>
                  </a:lnTo>
                  <a:lnTo>
                    <a:pt x="2039493" y="497205"/>
                  </a:lnTo>
                  <a:lnTo>
                    <a:pt x="2008758" y="546735"/>
                  </a:lnTo>
                  <a:lnTo>
                    <a:pt x="1964182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3"/>
                  </a:lnTo>
                  <a:lnTo>
                    <a:pt x="1797812" y="697483"/>
                  </a:lnTo>
                  <a:lnTo>
                    <a:pt x="1756156" y="715518"/>
                  </a:lnTo>
                  <a:lnTo>
                    <a:pt x="1711960" y="732408"/>
                  </a:lnTo>
                  <a:lnTo>
                    <a:pt x="1665351" y="748411"/>
                  </a:lnTo>
                  <a:lnTo>
                    <a:pt x="1616456" y="763143"/>
                  </a:lnTo>
                  <a:lnTo>
                    <a:pt x="1565402" y="776732"/>
                  </a:lnTo>
                  <a:lnTo>
                    <a:pt x="1512316" y="789051"/>
                  </a:lnTo>
                  <a:lnTo>
                    <a:pt x="1457325" y="800226"/>
                  </a:lnTo>
                  <a:lnTo>
                    <a:pt x="1400556" y="810006"/>
                  </a:lnTo>
                  <a:lnTo>
                    <a:pt x="1342008" y="818388"/>
                  </a:lnTo>
                  <a:lnTo>
                    <a:pt x="1282065" y="825373"/>
                  </a:lnTo>
                  <a:lnTo>
                    <a:pt x="1220597" y="830961"/>
                  </a:lnTo>
                  <a:lnTo>
                    <a:pt x="1157732" y="834898"/>
                  </a:lnTo>
                  <a:lnTo>
                    <a:pt x="1093724" y="837311"/>
                  </a:lnTo>
                  <a:lnTo>
                    <a:pt x="1028700" y="838200"/>
                  </a:lnTo>
                  <a:lnTo>
                    <a:pt x="963637" y="837311"/>
                  </a:lnTo>
                  <a:lnTo>
                    <a:pt x="899668" y="834898"/>
                  </a:lnTo>
                  <a:lnTo>
                    <a:pt x="836879" y="830961"/>
                  </a:lnTo>
                  <a:lnTo>
                    <a:pt x="775411" y="825373"/>
                  </a:lnTo>
                  <a:lnTo>
                    <a:pt x="715378" y="818388"/>
                  </a:lnTo>
                  <a:lnTo>
                    <a:pt x="656894" y="810006"/>
                  </a:lnTo>
                  <a:lnTo>
                    <a:pt x="600100" y="800226"/>
                  </a:lnTo>
                  <a:lnTo>
                    <a:pt x="545096" y="789051"/>
                  </a:lnTo>
                  <a:lnTo>
                    <a:pt x="492023" y="776732"/>
                  </a:lnTo>
                  <a:lnTo>
                    <a:pt x="440982" y="763143"/>
                  </a:lnTo>
                  <a:lnTo>
                    <a:pt x="392099" y="748411"/>
                  </a:lnTo>
                  <a:lnTo>
                    <a:pt x="345503" y="732408"/>
                  </a:lnTo>
                  <a:lnTo>
                    <a:pt x="301294" y="715518"/>
                  </a:lnTo>
                  <a:lnTo>
                    <a:pt x="259626" y="697483"/>
                  </a:lnTo>
                  <a:lnTo>
                    <a:pt x="220586" y="678433"/>
                  </a:lnTo>
                  <a:lnTo>
                    <a:pt x="184302" y="658622"/>
                  </a:lnTo>
                  <a:lnTo>
                    <a:pt x="150914" y="637794"/>
                  </a:lnTo>
                  <a:lnTo>
                    <a:pt x="93268" y="593725"/>
                  </a:lnTo>
                  <a:lnTo>
                    <a:pt x="48590" y="546735"/>
                  </a:lnTo>
                  <a:lnTo>
                    <a:pt x="17856" y="497205"/>
                  </a:lnTo>
                  <a:lnTo>
                    <a:pt x="2019" y="445643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17042" y="3498037"/>
            <a:ext cx="16154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Applications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8637" y="4719637"/>
            <a:ext cx="2066925" cy="847725"/>
            <a:chOff x="528637" y="4719637"/>
            <a:chExt cx="2066925" cy="847725"/>
          </a:xfrm>
        </p:grpSpPr>
        <p:sp>
          <p:nvSpPr>
            <p:cNvPr id="21" name="object 21"/>
            <p:cNvSpPr/>
            <p:nvPr/>
          </p:nvSpPr>
          <p:spPr>
            <a:xfrm>
              <a:off x="533400" y="47244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930" y="7238"/>
                  </a:lnTo>
                  <a:lnTo>
                    <a:pt x="775462" y="12826"/>
                  </a:lnTo>
                  <a:lnTo>
                    <a:pt x="715378" y="19812"/>
                  </a:lnTo>
                  <a:lnTo>
                    <a:pt x="656894" y="28193"/>
                  </a:lnTo>
                  <a:lnTo>
                    <a:pt x="600100" y="37973"/>
                  </a:lnTo>
                  <a:lnTo>
                    <a:pt x="545096" y="49149"/>
                  </a:lnTo>
                  <a:lnTo>
                    <a:pt x="492023" y="61468"/>
                  </a:lnTo>
                  <a:lnTo>
                    <a:pt x="440982" y="75056"/>
                  </a:lnTo>
                  <a:lnTo>
                    <a:pt x="392099" y="89788"/>
                  </a:lnTo>
                  <a:lnTo>
                    <a:pt x="345503" y="105791"/>
                  </a:lnTo>
                  <a:lnTo>
                    <a:pt x="301294" y="122681"/>
                  </a:lnTo>
                  <a:lnTo>
                    <a:pt x="259626" y="140716"/>
                  </a:lnTo>
                  <a:lnTo>
                    <a:pt x="220586" y="159766"/>
                  </a:lnTo>
                  <a:lnTo>
                    <a:pt x="184302" y="179577"/>
                  </a:lnTo>
                  <a:lnTo>
                    <a:pt x="150914" y="200406"/>
                  </a:lnTo>
                  <a:lnTo>
                    <a:pt x="93268" y="244475"/>
                  </a:lnTo>
                  <a:lnTo>
                    <a:pt x="48590" y="291464"/>
                  </a:lnTo>
                  <a:lnTo>
                    <a:pt x="17856" y="340994"/>
                  </a:lnTo>
                  <a:lnTo>
                    <a:pt x="2019" y="392556"/>
                  </a:lnTo>
                  <a:lnTo>
                    <a:pt x="0" y="419100"/>
                  </a:lnTo>
                  <a:lnTo>
                    <a:pt x="2019" y="445643"/>
                  </a:lnTo>
                  <a:lnTo>
                    <a:pt x="17856" y="497205"/>
                  </a:lnTo>
                  <a:lnTo>
                    <a:pt x="48590" y="546735"/>
                  </a:lnTo>
                  <a:lnTo>
                    <a:pt x="93268" y="593725"/>
                  </a:lnTo>
                  <a:lnTo>
                    <a:pt x="150914" y="637794"/>
                  </a:lnTo>
                  <a:lnTo>
                    <a:pt x="184302" y="658622"/>
                  </a:lnTo>
                  <a:lnTo>
                    <a:pt x="220586" y="678434"/>
                  </a:lnTo>
                  <a:lnTo>
                    <a:pt x="259626" y="697484"/>
                  </a:lnTo>
                  <a:lnTo>
                    <a:pt x="301294" y="715518"/>
                  </a:lnTo>
                  <a:lnTo>
                    <a:pt x="345503" y="732409"/>
                  </a:lnTo>
                  <a:lnTo>
                    <a:pt x="392099" y="748411"/>
                  </a:lnTo>
                  <a:lnTo>
                    <a:pt x="440982" y="763143"/>
                  </a:lnTo>
                  <a:lnTo>
                    <a:pt x="492023" y="776732"/>
                  </a:lnTo>
                  <a:lnTo>
                    <a:pt x="545096" y="789051"/>
                  </a:lnTo>
                  <a:lnTo>
                    <a:pt x="600100" y="800227"/>
                  </a:lnTo>
                  <a:lnTo>
                    <a:pt x="656894" y="810006"/>
                  </a:lnTo>
                  <a:lnTo>
                    <a:pt x="715378" y="818388"/>
                  </a:lnTo>
                  <a:lnTo>
                    <a:pt x="775462" y="825372"/>
                  </a:lnTo>
                  <a:lnTo>
                    <a:pt x="836930" y="830961"/>
                  </a:lnTo>
                  <a:lnTo>
                    <a:pt x="899668" y="834897"/>
                  </a:lnTo>
                  <a:lnTo>
                    <a:pt x="963676" y="837438"/>
                  </a:lnTo>
                  <a:lnTo>
                    <a:pt x="1028700" y="838200"/>
                  </a:lnTo>
                  <a:lnTo>
                    <a:pt x="1093724" y="837438"/>
                  </a:lnTo>
                  <a:lnTo>
                    <a:pt x="1157732" y="834897"/>
                  </a:lnTo>
                  <a:lnTo>
                    <a:pt x="1220597" y="830961"/>
                  </a:lnTo>
                  <a:lnTo>
                    <a:pt x="1282064" y="825372"/>
                  </a:lnTo>
                  <a:lnTo>
                    <a:pt x="1342008" y="818388"/>
                  </a:lnTo>
                  <a:lnTo>
                    <a:pt x="1400556" y="810006"/>
                  </a:lnTo>
                  <a:lnTo>
                    <a:pt x="1457325" y="800227"/>
                  </a:lnTo>
                  <a:lnTo>
                    <a:pt x="1512316" y="789051"/>
                  </a:lnTo>
                  <a:lnTo>
                    <a:pt x="1565402" y="776732"/>
                  </a:lnTo>
                  <a:lnTo>
                    <a:pt x="1616456" y="763143"/>
                  </a:lnTo>
                  <a:lnTo>
                    <a:pt x="1665351" y="748411"/>
                  </a:lnTo>
                  <a:lnTo>
                    <a:pt x="1711960" y="732409"/>
                  </a:lnTo>
                  <a:lnTo>
                    <a:pt x="1756156" y="715518"/>
                  </a:lnTo>
                  <a:lnTo>
                    <a:pt x="1797812" y="697484"/>
                  </a:lnTo>
                  <a:lnTo>
                    <a:pt x="1836801" y="678434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2" y="593725"/>
                  </a:lnTo>
                  <a:lnTo>
                    <a:pt x="2008758" y="546735"/>
                  </a:lnTo>
                  <a:lnTo>
                    <a:pt x="2039493" y="497205"/>
                  </a:lnTo>
                  <a:lnTo>
                    <a:pt x="2055368" y="445643"/>
                  </a:lnTo>
                  <a:lnTo>
                    <a:pt x="2057400" y="419100"/>
                  </a:lnTo>
                  <a:lnTo>
                    <a:pt x="2055368" y="392556"/>
                  </a:lnTo>
                  <a:lnTo>
                    <a:pt x="2039493" y="340994"/>
                  </a:lnTo>
                  <a:lnTo>
                    <a:pt x="2008758" y="291464"/>
                  </a:lnTo>
                  <a:lnTo>
                    <a:pt x="1964182" y="244475"/>
                  </a:lnTo>
                  <a:lnTo>
                    <a:pt x="1906524" y="200406"/>
                  </a:lnTo>
                  <a:lnTo>
                    <a:pt x="1873123" y="179577"/>
                  </a:lnTo>
                  <a:lnTo>
                    <a:pt x="1836801" y="159766"/>
                  </a:lnTo>
                  <a:lnTo>
                    <a:pt x="1797812" y="140716"/>
                  </a:lnTo>
                  <a:lnTo>
                    <a:pt x="1756156" y="122681"/>
                  </a:lnTo>
                  <a:lnTo>
                    <a:pt x="1711960" y="105791"/>
                  </a:lnTo>
                  <a:lnTo>
                    <a:pt x="1665351" y="89788"/>
                  </a:lnTo>
                  <a:lnTo>
                    <a:pt x="1616456" y="75056"/>
                  </a:lnTo>
                  <a:lnTo>
                    <a:pt x="1565402" y="61468"/>
                  </a:lnTo>
                  <a:lnTo>
                    <a:pt x="1512316" y="49149"/>
                  </a:lnTo>
                  <a:lnTo>
                    <a:pt x="1457325" y="37973"/>
                  </a:lnTo>
                  <a:lnTo>
                    <a:pt x="1400556" y="28193"/>
                  </a:lnTo>
                  <a:lnTo>
                    <a:pt x="1342008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33400" y="47244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13" y="366522"/>
                  </a:lnTo>
                  <a:lnTo>
                    <a:pt x="31419" y="315849"/>
                  </a:lnTo>
                  <a:lnTo>
                    <a:pt x="69240" y="267588"/>
                  </a:lnTo>
                  <a:lnTo>
                    <a:pt x="120523" y="221995"/>
                  </a:lnTo>
                  <a:lnTo>
                    <a:pt x="184302" y="179577"/>
                  </a:lnTo>
                  <a:lnTo>
                    <a:pt x="220586" y="159766"/>
                  </a:lnTo>
                  <a:lnTo>
                    <a:pt x="259626" y="140716"/>
                  </a:lnTo>
                  <a:lnTo>
                    <a:pt x="301294" y="122681"/>
                  </a:lnTo>
                  <a:lnTo>
                    <a:pt x="345503" y="105791"/>
                  </a:lnTo>
                  <a:lnTo>
                    <a:pt x="392099" y="89788"/>
                  </a:lnTo>
                  <a:lnTo>
                    <a:pt x="440982" y="75056"/>
                  </a:lnTo>
                  <a:lnTo>
                    <a:pt x="492023" y="61468"/>
                  </a:lnTo>
                  <a:lnTo>
                    <a:pt x="545096" y="49149"/>
                  </a:lnTo>
                  <a:lnTo>
                    <a:pt x="600100" y="37973"/>
                  </a:lnTo>
                  <a:lnTo>
                    <a:pt x="656894" y="28193"/>
                  </a:lnTo>
                  <a:lnTo>
                    <a:pt x="715378" y="19812"/>
                  </a:lnTo>
                  <a:lnTo>
                    <a:pt x="775462" y="12826"/>
                  </a:lnTo>
                  <a:lnTo>
                    <a:pt x="836930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8" y="19812"/>
                  </a:lnTo>
                  <a:lnTo>
                    <a:pt x="1400556" y="28193"/>
                  </a:lnTo>
                  <a:lnTo>
                    <a:pt x="1457325" y="37973"/>
                  </a:lnTo>
                  <a:lnTo>
                    <a:pt x="1512316" y="49149"/>
                  </a:lnTo>
                  <a:lnTo>
                    <a:pt x="1565402" y="61468"/>
                  </a:lnTo>
                  <a:lnTo>
                    <a:pt x="1616456" y="75056"/>
                  </a:lnTo>
                  <a:lnTo>
                    <a:pt x="1665351" y="89788"/>
                  </a:lnTo>
                  <a:lnTo>
                    <a:pt x="1711960" y="105791"/>
                  </a:lnTo>
                  <a:lnTo>
                    <a:pt x="1756156" y="122681"/>
                  </a:lnTo>
                  <a:lnTo>
                    <a:pt x="1797812" y="140716"/>
                  </a:lnTo>
                  <a:lnTo>
                    <a:pt x="1836801" y="159766"/>
                  </a:lnTo>
                  <a:lnTo>
                    <a:pt x="1873123" y="179577"/>
                  </a:lnTo>
                  <a:lnTo>
                    <a:pt x="1906524" y="200406"/>
                  </a:lnTo>
                  <a:lnTo>
                    <a:pt x="1964182" y="244475"/>
                  </a:lnTo>
                  <a:lnTo>
                    <a:pt x="2008758" y="291464"/>
                  </a:lnTo>
                  <a:lnTo>
                    <a:pt x="2039493" y="340994"/>
                  </a:lnTo>
                  <a:lnTo>
                    <a:pt x="2055368" y="392556"/>
                  </a:lnTo>
                  <a:lnTo>
                    <a:pt x="2057400" y="419100"/>
                  </a:lnTo>
                  <a:lnTo>
                    <a:pt x="2055368" y="445643"/>
                  </a:lnTo>
                  <a:lnTo>
                    <a:pt x="2039493" y="497205"/>
                  </a:lnTo>
                  <a:lnTo>
                    <a:pt x="2008758" y="546735"/>
                  </a:lnTo>
                  <a:lnTo>
                    <a:pt x="1964182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4"/>
                  </a:lnTo>
                  <a:lnTo>
                    <a:pt x="1797812" y="697484"/>
                  </a:lnTo>
                  <a:lnTo>
                    <a:pt x="1756156" y="715518"/>
                  </a:lnTo>
                  <a:lnTo>
                    <a:pt x="1711960" y="732409"/>
                  </a:lnTo>
                  <a:lnTo>
                    <a:pt x="1665351" y="748411"/>
                  </a:lnTo>
                  <a:lnTo>
                    <a:pt x="1616456" y="763143"/>
                  </a:lnTo>
                  <a:lnTo>
                    <a:pt x="1565402" y="776732"/>
                  </a:lnTo>
                  <a:lnTo>
                    <a:pt x="1512316" y="789051"/>
                  </a:lnTo>
                  <a:lnTo>
                    <a:pt x="1457325" y="800227"/>
                  </a:lnTo>
                  <a:lnTo>
                    <a:pt x="1400556" y="810006"/>
                  </a:lnTo>
                  <a:lnTo>
                    <a:pt x="1342008" y="818388"/>
                  </a:lnTo>
                  <a:lnTo>
                    <a:pt x="1282064" y="825372"/>
                  </a:lnTo>
                  <a:lnTo>
                    <a:pt x="1220597" y="830961"/>
                  </a:lnTo>
                  <a:lnTo>
                    <a:pt x="1157732" y="834897"/>
                  </a:lnTo>
                  <a:lnTo>
                    <a:pt x="1093724" y="837438"/>
                  </a:lnTo>
                  <a:lnTo>
                    <a:pt x="1028700" y="838200"/>
                  </a:lnTo>
                  <a:lnTo>
                    <a:pt x="963676" y="837438"/>
                  </a:lnTo>
                  <a:lnTo>
                    <a:pt x="899668" y="834897"/>
                  </a:lnTo>
                  <a:lnTo>
                    <a:pt x="836930" y="830961"/>
                  </a:lnTo>
                  <a:lnTo>
                    <a:pt x="775462" y="825372"/>
                  </a:lnTo>
                  <a:lnTo>
                    <a:pt x="715378" y="818388"/>
                  </a:lnTo>
                  <a:lnTo>
                    <a:pt x="656894" y="810006"/>
                  </a:lnTo>
                  <a:lnTo>
                    <a:pt x="600100" y="800227"/>
                  </a:lnTo>
                  <a:lnTo>
                    <a:pt x="545096" y="789051"/>
                  </a:lnTo>
                  <a:lnTo>
                    <a:pt x="492023" y="776732"/>
                  </a:lnTo>
                  <a:lnTo>
                    <a:pt x="440982" y="763143"/>
                  </a:lnTo>
                  <a:lnTo>
                    <a:pt x="392099" y="748411"/>
                  </a:lnTo>
                  <a:lnTo>
                    <a:pt x="345503" y="732409"/>
                  </a:lnTo>
                  <a:lnTo>
                    <a:pt x="301294" y="715518"/>
                  </a:lnTo>
                  <a:lnTo>
                    <a:pt x="259626" y="697484"/>
                  </a:lnTo>
                  <a:lnTo>
                    <a:pt x="220586" y="678434"/>
                  </a:lnTo>
                  <a:lnTo>
                    <a:pt x="184302" y="658622"/>
                  </a:lnTo>
                  <a:lnTo>
                    <a:pt x="150914" y="637794"/>
                  </a:lnTo>
                  <a:lnTo>
                    <a:pt x="93268" y="593725"/>
                  </a:lnTo>
                  <a:lnTo>
                    <a:pt x="48590" y="546735"/>
                  </a:lnTo>
                  <a:lnTo>
                    <a:pt x="17856" y="497205"/>
                  </a:lnTo>
                  <a:lnTo>
                    <a:pt x="2019" y="445643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01395" y="4946396"/>
            <a:ext cx="13106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Algorithm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00437" y="1595437"/>
            <a:ext cx="2066925" cy="847725"/>
            <a:chOff x="3500437" y="1595437"/>
            <a:chExt cx="2066925" cy="847725"/>
          </a:xfrm>
        </p:grpSpPr>
        <p:sp>
          <p:nvSpPr>
            <p:cNvPr id="25" name="object 25"/>
            <p:cNvSpPr/>
            <p:nvPr/>
          </p:nvSpPr>
          <p:spPr>
            <a:xfrm>
              <a:off x="3505200" y="16002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7" y="3301"/>
                  </a:lnTo>
                  <a:lnTo>
                    <a:pt x="836802" y="7238"/>
                  </a:lnTo>
                  <a:lnTo>
                    <a:pt x="775335" y="12826"/>
                  </a:lnTo>
                  <a:lnTo>
                    <a:pt x="715390" y="19812"/>
                  </a:lnTo>
                  <a:lnTo>
                    <a:pt x="656844" y="28194"/>
                  </a:lnTo>
                  <a:lnTo>
                    <a:pt x="600075" y="37973"/>
                  </a:lnTo>
                  <a:lnTo>
                    <a:pt x="545084" y="49149"/>
                  </a:lnTo>
                  <a:lnTo>
                    <a:pt x="491998" y="61467"/>
                  </a:lnTo>
                  <a:lnTo>
                    <a:pt x="440944" y="75057"/>
                  </a:lnTo>
                  <a:lnTo>
                    <a:pt x="392049" y="89788"/>
                  </a:lnTo>
                  <a:lnTo>
                    <a:pt x="345439" y="105790"/>
                  </a:lnTo>
                  <a:lnTo>
                    <a:pt x="301244" y="122682"/>
                  </a:lnTo>
                  <a:lnTo>
                    <a:pt x="259587" y="140715"/>
                  </a:lnTo>
                  <a:lnTo>
                    <a:pt x="220599" y="159765"/>
                  </a:lnTo>
                  <a:lnTo>
                    <a:pt x="184276" y="179577"/>
                  </a:lnTo>
                  <a:lnTo>
                    <a:pt x="150875" y="200405"/>
                  </a:lnTo>
                  <a:lnTo>
                    <a:pt x="93217" y="244475"/>
                  </a:lnTo>
                  <a:lnTo>
                    <a:pt x="48640" y="291464"/>
                  </a:lnTo>
                  <a:lnTo>
                    <a:pt x="17907" y="340995"/>
                  </a:lnTo>
                  <a:lnTo>
                    <a:pt x="2032" y="392557"/>
                  </a:lnTo>
                  <a:lnTo>
                    <a:pt x="0" y="419100"/>
                  </a:lnTo>
                  <a:lnTo>
                    <a:pt x="2032" y="445642"/>
                  </a:lnTo>
                  <a:lnTo>
                    <a:pt x="17907" y="497204"/>
                  </a:lnTo>
                  <a:lnTo>
                    <a:pt x="48640" y="546735"/>
                  </a:lnTo>
                  <a:lnTo>
                    <a:pt x="93217" y="593725"/>
                  </a:lnTo>
                  <a:lnTo>
                    <a:pt x="150875" y="637794"/>
                  </a:lnTo>
                  <a:lnTo>
                    <a:pt x="184276" y="658622"/>
                  </a:lnTo>
                  <a:lnTo>
                    <a:pt x="220599" y="678434"/>
                  </a:lnTo>
                  <a:lnTo>
                    <a:pt x="259587" y="697484"/>
                  </a:lnTo>
                  <a:lnTo>
                    <a:pt x="301244" y="715517"/>
                  </a:lnTo>
                  <a:lnTo>
                    <a:pt x="345439" y="732409"/>
                  </a:lnTo>
                  <a:lnTo>
                    <a:pt x="392049" y="748411"/>
                  </a:lnTo>
                  <a:lnTo>
                    <a:pt x="440944" y="763142"/>
                  </a:lnTo>
                  <a:lnTo>
                    <a:pt x="491998" y="776732"/>
                  </a:lnTo>
                  <a:lnTo>
                    <a:pt x="545084" y="789051"/>
                  </a:lnTo>
                  <a:lnTo>
                    <a:pt x="600075" y="800226"/>
                  </a:lnTo>
                  <a:lnTo>
                    <a:pt x="656844" y="810005"/>
                  </a:lnTo>
                  <a:lnTo>
                    <a:pt x="715390" y="818388"/>
                  </a:lnTo>
                  <a:lnTo>
                    <a:pt x="775335" y="825373"/>
                  </a:lnTo>
                  <a:lnTo>
                    <a:pt x="836802" y="830961"/>
                  </a:lnTo>
                  <a:lnTo>
                    <a:pt x="899667" y="834898"/>
                  </a:lnTo>
                  <a:lnTo>
                    <a:pt x="963676" y="837438"/>
                  </a:lnTo>
                  <a:lnTo>
                    <a:pt x="1028700" y="838200"/>
                  </a:lnTo>
                  <a:lnTo>
                    <a:pt x="1093724" y="837438"/>
                  </a:lnTo>
                  <a:lnTo>
                    <a:pt x="1157732" y="834898"/>
                  </a:lnTo>
                  <a:lnTo>
                    <a:pt x="1220597" y="830961"/>
                  </a:lnTo>
                  <a:lnTo>
                    <a:pt x="1282064" y="825373"/>
                  </a:lnTo>
                  <a:lnTo>
                    <a:pt x="1342009" y="818388"/>
                  </a:lnTo>
                  <a:lnTo>
                    <a:pt x="1400555" y="810005"/>
                  </a:lnTo>
                  <a:lnTo>
                    <a:pt x="1457325" y="800226"/>
                  </a:lnTo>
                  <a:lnTo>
                    <a:pt x="1512315" y="789051"/>
                  </a:lnTo>
                  <a:lnTo>
                    <a:pt x="1565402" y="776732"/>
                  </a:lnTo>
                  <a:lnTo>
                    <a:pt x="1616455" y="763142"/>
                  </a:lnTo>
                  <a:lnTo>
                    <a:pt x="1665351" y="748411"/>
                  </a:lnTo>
                  <a:lnTo>
                    <a:pt x="1711960" y="732409"/>
                  </a:lnTo>
                  <a:lnTo>
                    <a:pt x="1756155" y="715517"/>
                  </a:lnTo>
                  <a:lnTo>
                    <a:pt x="1797812" y="697484"/>
                  </a:lnTo>
                  <a:lnTo>
                    <a:pt x="1836801" y="678434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2" y="593725"/>
                  </a:lnTo>
                  <a:lnTo>
                    <a:pt x="2008759" y="546735"/>
                  </a:lnTo>
                  <a:lnTo>
                    <a:pt x="2039492" y="497204"/>
                  </a:lnTo>
                  <a:lnTo>
                    <a:pt x="2055367" y="445642"/>
                  </a:lnTo>
                  <a:lnTo>
                    <a:pt x="2057400" y="419100"/>
                  </a:lnTo>
                  <a:lnTo>
                    <a:pt x="2055367" y="392557"/>
                  </a:lnTo>
                  <a:lnTo>
                    <a:pt x="2039492" y="340995"/>
                  </a:lnTo>
                  <a:lnTo>
                    <a:pt x="2008759" y="291464"/>
                  </a:lnTo>
                  <a:lnTo>
                    <a:pt x="1964182" y="244475"/>
                  </a:lnTo>
                  <a:lnTo>
                    <a:pt x="1906524" y="200405"/>
                  </a:lnTo>
                  <a:lnTo>
                    <a:pt x="1873123" y="179577"/>
                  </a:lnTo>
                  <a:lnTo>
                    <a:pt x="1836801" y="159765"/>
                  </a:lnTo>
                  <a:lnTo>
                    <a:pt x="1797812" y="140715"/>
                  </a:lnTo>
                  <a:lnTo>
                    <a:pt x="1756155" y="122682"/>
                  </a:lnTo>
                  <a:lnTo>
                    <a:pt x="1711960" y="105790"/>
                  </a:lnTo>
                  <a:lnTo>
                    <a:pt x="1665351" y="89788"/>
                  </a:lnTo>
                  <a:lnTo>
                    <a:pt x="1616455" y="75057"/>
                  </a:lnTo>
                  <a:lnTo>
                    <a:pt x="1565402" y="61467"/>
                  </a:lnTo>
                  <a:lnTo>
                    <a:pt x="1512315" y="49149"/>
                  </a:lnTo>
                  <a:lnTo>
                    <a:pt x="1457325" y="37973"/>
                  </a:lnTo>
                  <a:lnTo>
                    <a:pt x="1400555" y="28194"/>
                  </a:lnTo>
                  <a:lnTo>
                    <a:pt x="1342009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505200" y="16002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00" y="366522"/>
                  </a:lnTo>
                  <a:lnTo>
                    <a:pt x="31369" y="315849"/>
                  </a:lnTo>
                  <a:lnTo>
                    <a:pt x="69214" y="267588"/>
                  </a:lnTo>
                  <a:lnTo>
                    <a:pt x="120523" y="221996"/>
                  </a:lnTo>
                  <a:lnTo>
                    <a:pt x="184276" y="179577"/>
                  </a:lnTo>
                  <a:lnTo>
                    <a:pt x="220599" y="159765"/>
                  </a:lnTo>
                  <a:lnTo>
                    <a:pt x="259587" y="140715"/>
                  </a:lnTo>
                  <a:lnTo>
                    <a:pt x="301244" y="122682"/>
                  </a:lnTo>
                  <a:lnTo>
                    <a:pt x="345439" y="105790"/>
                  </a:lnTo>
                  <a:lnTo>
                    <a:pt x="392049" y="89788"/>
                  </a:lnTo>
                  <a:lnTo>
                    <a:pt x="440944" y="75057"/>
                  </a:lnTo>
                  <a:lnTo>
                    <a:pt x="491998" y="61467"/>
                  </a:lnTo>
                  <a:lnTo>
                    <a:pt x="545084" y="49149"/>
                  </a:lnTo>
                  <a:lnTo>
                    <a:pt x="600075" y="37973"/>
                  </a:lnTo>
                  <a:lnTo>
                    <a:pt x="656844" y="28194"/>
                  </a:lnTo>
                  <a:lnTo>
                    <a:pt x="715390" y="19812"/>
                  </a:lnTo>
                  <a:lnTo>
                    <a:pt x="775335" y="12826"/>
                  </a:lnTo>
                  <a:lnTo>
                    <a:pt x="836802" y="7238"/>
                  </a:lnTo>
                  <a:lnTo>
                    <a:pt x="899667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9" y="19812"/>
                  </a:lnTo>
                  <a:lnTo>
                    <a:pt x="1400555" y="28194"/>
                  </a:lnTo>
                  <a:lnTo>
                    <a:pt x="1457325" y="37973"/>
                  </a:lnTo>
                  <a:lnTo>
                    <a:pt x="1512315" y="49149"/>
                  </a:lnTo>
                  <a:lnTo>
                    <a:pt x="1565402" y="61467"/>
                  </a:lnTo>
                  <a:lnTo>
                    <a:pt x="1616455" y="75057"/>
                  </a:lnTo>
                  <a:lnTo>
                    <a:pt x="1665351" y="89788"/>
                  </a:lnTo>
                  <a:lnTo>
                    <a:pt x="1711960" y="105790"/>
                  </a:lnTo>
                  <a:lnTo>
                    <a:pt x="1756155" y="122682"/>
                  </a:lnTo>
                  <a:lnTo>
                    <a:pt x="1797812" y="140715"/>
                  </a:lnTo>
                  <a:lnTo>
                    <a:pt x="1836801" y="159765"/>
                  </a:lnTo>
                  <a:lnTo>
                    <a:pt x="1873123" y="179577"/>
                  </a:lnTo>
                  <a:lnTo>
                    <a:pt x="1906524" y="200405"/>
                  </a:lnTo>
                  <a:lnTo>
                    <a:pt x="1964182" y="244475"/>
                  </a:lnTo>
                  <a:lnTo>
                    <a:pt x="2008759" y="291464"/>
                  </a:lnTo>
                  <a:lnTo>
                    <a:pt x="2039492" y="340995"/>
                  </a:lnTo>
                  <a:lnTo>
                    <a:pt x="2055367" y="392557"/>
                  </a:lnTo>
                  <a:lnTo>
                    <a:pt x="2057400" y="419100"/>
                  </a:lnTo>
                  <a:lnTo>
                    <a:pt x="2055367" y="445642"/>
                  </a:lnTo>
                  <a:lnTo>
                    <a:pt x="2039492" y="497204"/>
                  </a:lnTo>
                  <a:lnTo>
                    <a:pt x="2008759" y="546735"/>
                  </a:lnTo>
                  <a:lnTo>
                    <a:pt x="1964182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4"/>
                  </a:lnTo>
                  <a:lnTo>
                    <a:pt x="1797812" y="697484"/>
                  </a:lnTo>
                  <a:lnTo>
                    <a:pt x="1756155" y="715517"/>
                  </a:lnTo>
                  <a:lnTo>
                    <a:pt x="1711960" y="732409"/>
                  </a:lnTo>
                  <a:lnTo>
                    <a:pt x="1665351" y="748411"/>
                  </a:lnTo>
                  <a:lnTo>
                    <a:pt x="1616455" y="763142"/>
                  </a:lnTo>
                  <a:lnTo>
                    <a:pt x="1565402" y="776732"/>
                  </a:lnTo>
                  <a:lnTo>
                    <a:pt x="1512315" y="789051"/>
                  </a:lnTo>
                  <a:lnTo>
                    <a:pt x="1457325" y="800226"/>
                  </a:lnTo>
                  <a:lnTo>
                    <a:pt x="1400555" y="810005"/>
                  </a:lnTo>
                  <a:lnTo>
                    <a:pt x="1342009" y="818388"/>
                  </a:lnTo>
                  <a:lnTo>
                    <a:pt x="1282064" y="825373"/>
                  </a:lnTo>
                  <a:lnTo>
                    <a:pt x="1220597" y="830961"/>
                  </a:lnTo>
                  <a:lnTo>
                    <a:pt x="1157732" y="834898"/>
                  </a:lnTo>
                  <a:lnTo>
                    <a:pt x="1093724" y="837438"/>
                  </a:lnTo>
                  <a:lnTo>
                    <a:pt x="1028700" y="838200"/>
                  </a:lnTo>
                  <a:lnTo>
                    <a:pt x="963676" y="837438"/>
                  </a:lnTo>
                  <a:lnTo>
                    <a:pt x="899667" y="834898"/>
                  </a:lnTo>
                  <a:lnTo>
                    <a:pt x="836802" y="830961"/>
                  </a:lnTo>
                  <a:lnTo>
                    <a:pt x="775335" y="825373"/>
                  </a:lnTo>
                  <a:lnTo>
                    <a:pt x="715390" y="818388"/>
                  </a:lnTo>
                  <a:lnTo>
                    <a:pt x="656844" y="810005"/>
                  </a:lnTo>
                  <a:lnTo>
                    <a:pt x="600075" y="800226"/>
                  </a:lnTo>
                  <a:lnTo>
                    <a:pt x="545084" y="789051"/>
                  </a:lnTo>
                  <a:lnTo>
                    <a:pt x="491998" y="776732"/>
                  </a:lnTo>
                  <a:lnTo>
                    <a:pt x="440944" y="763142"/>
                  </a:lnTo>
                  <a:lnTo>
                    <a:pt x="392049" y="748411"/>
                  </a:lnTo>
                  <a:lnTo>
                    <a:pt x="345439" y="732409"/>
                  </a:lnTo>
                  <a:lnTo>
                    <a:pt x="301244" y="715517"/>
                  </a:lnTo>
                  <a:lnTo>
                    <a:pt x="259587" y="697484"/>
                  </a:lnTo>
                  <a:lnTo>
                    <a:pt x="220599" y="678434"/>
                  </a:lnTo>
                  <a:lnTo>
                    <a:pt x="184276" y="658622"/>
                  </a:lnTo>
                  <a:lnTo>
                    <a:pt x="150875" y="637794"/>
                  </a:lnTo>
                  <a:lnTo>
                    <a:pt x="93217" y="593725"/>
                  </a:lnTo>
                  <a:lnTo>
                    <a:pt x="48640" y="546735"/>
                  </a:lnTo>
                  <a:lnTo>
                    <a:pt x="17907" y="497204"/>
                  </a:lnTo>
                  <a:lnTo>
                    <a:pt x="2032" y="445642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738117" y="1638427"/>
            <a:ext cx="15849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162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Pattern </a:t>
            </a:r>
            <a:r>
              <a:rPr dirty="0" sz="2400" spc="-20">
                <a:latin typeface="Tahoma"/>
                <a:cs typeface="Tahoma"/>
              </a:rPr>
              <a:t>Recognition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96037" y="4872037"/>
            <a:ext cx="2066925" cy="847725"/>
            <a:chOff x="6396037" y="4872037"/>
            <a:chExt cx="2066925" cy="847725"/>
          </a:xfrm>
        </p:grpSpPr>
        <p:sp>
          <p:nvSpPr>
            <p:cNvPr id="29" name="object 29"/>
            <p:cNvSpPr/>
            <p:nvPr/>
          </p:nvSpPr>
          <p:spPr>
            <a:xfrm>
              <a:off x="6400800" y="48768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4" y="12826"/>
                  </a:lnTo>
                  <a:lnTo>
                    <a:pt x="715391" y="19812"/>
                  </a:lnTo>
                  <a:lnTo>
                    <a:pt x="656844" y="28193"/>
                  </a:lnTo>
                  <a:lnTo>
                    <a:pt x="600075" y="37973"/>
                  </a:lnTo>
                  <a:lnTo>
                    <a:pt x="545083" y="49149"/>
                  </a:lnTo>
                  <a:lnTo>
                    <a:pt x="491998" y="61468"/>
                  </a:lnTo>
                  <a:lnTo>
                    <a:pt x="440944" y="75056"/>
                  </a:lnTo>
                  <a:lnTo>
                    <a:pt x="392049" y="89788"/>
                  </a:lnTo>
                  <a:lnTo>
                    <a:pt x="345440" y="105791"/>
                  </a:lnTo>
                  <a:lnTo>
                    <a:pt x="301244" y="122681"/>
                  </a:lnTo>
                  <a:lnTo>
                    <a:pt x="259588" y="140716"/>
                  </a:lnTo>
                  <a:lnTo>
                    <a:pt x="220599" y="159766"/>
                  </a:lnTo>
                  <a:lnTo>
                    <a:pt x="184276" y="179577"/>
                  </a:lnTo>
                  <a:lnTo>
                    <a:pt x="150875" y="200406"/>
                  </a:lnTo>
                  <a:lnTo>
                    <a:pt x="93217" y="244475"/>
                  </a:lnTo>
                  <a:lnTo>
                    <a:pt x="48640" y="291464"/>
                  </a:lnTo>
                  <a:lnTo>
                    <a:pt x="17907" y="340994"/>
                  </a:lnTo>
                  <a:lnTo>
                    <a:pt x="2032" y="392556"/>
                  </a:lnTo>
                  <a:lnTo>
                    <a:pt x="0" y="419100"/>
                  </a:lnTo>
                  <a:lnTo>
                    <a:pt x="2032" y="445643"/>
                  </a:lnTo>
                  <a:lnTo>
                    <a:pt x="17907" y="497205"/>
                  </a:lnTo>
                  <a:lnTo>
                    <a:pt x="48640" y="546735"/>
                  </a:lnTo>
                  <a:lnTo>
                    <a:pt x="93217" y="593725"/>
                  </a:lnTo>
                  <a:lnTo>
                    <a:pt x="150875" y="637794"/>
                  </a:lnTo>
                  <a:lnTo>
                    <a:pt x="184276" y="658622"/>
                  </a:lnTo>
                  <a:lnTo>
                    <a:pt x="220599" y="678434"/>
                  </a:lnTo>
                  <a:lnTo>
                    <a:pt x="259588" y="697484"/>
                  </a:lnTo>
                  <a:lnTo>
                    <a:pt x="301244" y="715467"/>
                  </a:lnTo>
                  <a:lnTo>
                    <a:pt x="345440" y="732447"/>
                  </a:lnTo>
                  <a:lnTo>
                    <a:pt x="392049" y="748347"/>
                  </a:lnTo>
                  <a:lnTo>
                    <a:pt x="440944" y="763130"/>
                  </a:lnTo>
                  <a:lnTo>
                    <a:pt x="491998" y="776732"/>
                  </a:lnTo>
                  <a:lnTo>
                    <a:pt x="545083" y="789101"/>
                  </a:lnTo>
                  <a:lnTo>
                    <a:pt x="600075" y="800214"/>
                  </a:lnTo>
                  <a:lnTo>
                    <a:pt x="656844" y="809993"/>
                  </a:lnTo>
                  <a:lnTo>
                    <a:pt x="715391" y="818413"/>
                  </a:lnTo>
                  <a:lnTo>
                    <a:pt x="775334" y="825398"/>
                  </a:lnTo>
                  <a:lnTo>
                    <a:pt x="836802" y="830922"/>
                  </a:lnTo>
                  <a:lnTo>
                    <a:pt x="899668" y="834936"/>
                  </a:lnTo>
                  <a:lnTo>
                    <a:pt x="963676" y="837374"/>
                  </a:lnTo>
                  <a:lnTo>
                    <a:pt x="1028700" y="838200"/>
                  </a:lnTo>
                  <a:lnTo>
                    <a:pt x="1093724" y="837374"/>
                  </a:lnTo>
                  <a:lnTo>
                    <a:pt x="1157731" y="834936"/>
                  </a:lnTo>
                  <a:lnTo>
                    <a:pt x="1220470" y="830922"/>
                  </a:lnTo>
                  <a:lnTo>
                    <a:pt x="1281938" y="825398"/>
                  </a:lnTo>
                  <a:lnTo>
                    <a:pt x="1342008" y="818413"/>
                  </a:lnTo>
                  <a:lnTo>
                    <a:pt x="1400428" y="809993"/>
                  </a:lnTo>
                  <a:lnTo>
                    <a:pt x="1457325" y="800214"/>
                  </a:lnTo>
                  <a:lnTo>
                    <a:pt x="1512316" y="789101"/>
                  </a:lnTo>
                  <a:lnTo>
                    <a:pt x="1565402" y="776732"/>
                  </a:lnTo>
                  <a:lnTo>
                    <a:pt x="1616328" y="763130"/>
                  </a:lnTo>
                  <a:lnTo>
                    <a:pt x="1665224" y="748347"/>
                  </a:lnTo>
                  <a:lnTo>
                    <a:pt x="1711832" y="732447"/>
                  </a:lnTo>
                  <a:lnTo>
                    <a:pt x="1756028" y="715467"/>
                  </a:lnTo>
                  <a:lnTo>
                    <a:pt x="1797811" y="697484"/>
                  </a:lnTo>
                  <a:lnTo>
                    <a:pt x="1836801" y="678434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1" y="593725"/>
                  </a:lnTo>
                  <a:lnTo>
                    <a:pt x="2008758" y="546735"/>
                  </a:lnTo>
                  <a:lnTo>
                    <a:pt x="2039493" y="497205"/>
                  </a:lnTo>
                  <a:lnTo>
                    <a:pt x="2055368" y="445643"/>
                  </a:lnTo>
                  <a:lnTo>
                    <a:pt x="2057400" y="419100"/>
                  </a:lnTo>
                  <a:lnTo>
                    <a:pt x="2055368" y="392556"/>
                  </a:lnTo>
                  <a:lnTo>
                    <a:pt x="2039493" y="340994"/>
                  </a:lnTo>
                  <a:lnTo>
                    <a:pt x="2008758" y="291464"/>
                  </a:lnTo>
                  <a:lnTo>
                    <a:pt x="1964181" y="244475"/>
                  </a:lnTo>
                  <a:lnTo>
                    <a:pt x="1906524" y="200406"/>
                  </a:lnTo>
                  <a:lnTo>
                    <a:pt x="1873123" y="179577"/>
                  </a:lnTo>
                  <a:lnTo>
                    <a:pt x="1836801" y="159766"/>
                  </a:lnTo>
                  <a:lnTo>
                    <a:pt x="1797811" y="140716"/>
                  </a:lnTo>
                  <a:lnTo>
                    <a:pt x="1756028" y="122681"/>
                  </a:lnTo>
                  <a:lnTo>
                    <a:pt x="1711832" y="105791"/>
                  </a:lnTo>
                  <a:lnTo>
                    <a:pt x="1665224" y="89788"/>
                  </a:lnTo>
                  <a:lnTo>
                    <a:pt x="1616328" y="75056"/>
                  </a:lnTo>
                  <a:lnTo>
                    <a:pt x="1565402" y="61468"/>
                  </a:lnTo>
                  <a:lnTo>
                    <a:pt x="1512316" y="49149"/>
                  </a:lnTo>
                  <a:lnTo>
                    <a:pt x="1457325" y="37973"/>
                  </a:lnTo>
                  <a:lnTo>
                    <a:pt x="1400428" y="28193"/>
                  </a:lnTo>
                  <a:lnTo>
                    <a:pt x="1342008" y="19812"/>
                  </a:lnTo>
                  <a:lnTo>
                    <a:pt x="1281938" y="12826"/>
                  </a:lnTo>
                  <a:lnTo>
                    <a:pt x="1220470" y="7238"/>
                  </a:lnTo>
                  <a:lnTo>
                    <a:pt x="1157731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400800" y="48768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00" y="366522"/>
                  </a:lnTo>
                  <a:lnTo>
                    <a:pt x="31369" y="315849"/>
                  </a:lnTo>
                  <a:lnTo>
                    <a:pt x="69214" y="267588"/>
                  </a:lnTo>
                  <a:lnTo>
                    <a:pt x="120523" y="221995"/>
                  </a:lnTo>
                  <a:lnTo>
                    <a:pt x="184276" y="179577"/>
                  </a:lnTo>
                  <a:lnTo>
                    <a:pt x="220599" y="159766"/>
                  </a:lnTo>
                  <a:lnTo>
                    <a:pt x="259588" y="140716"/>
                  </a:lnTo>
                  <a:lnTo>
                    <a:pt x="301244" y="122681"/>
                  </a:lnTo>
                  <a:lnTo>
                    <a:pt x="345440" y="105791"/>
                  </a:lnTo>
                  <a:lnTo>
                    <a:pt x="392049" y="89788"/>
                  </a:lnTo>
                  <a:lnTo>
                    <a:pt x="440944" y="75056"/>
                  </a:lnTo>
                  <a:lnTo>
                    <a:pt x="491998" y="61468"/>
                  </a:lnTo>
                  <a:lnTo>
                    <a:pt x="545083" y="49149"/>
                  </a:lnTo>
                  <a:lnTo>
                    <a:pt x="600075" y="37973"/>
                  </a:lnTo>
                  <a:lnTo>
                    <a:pt x="656844" y="28193"/>
                  </a:lnTo>
                  <a:lnTo>
                    <a:pt x="715391" y="19812"/>
                  </a:lnTo>
                  <a:lnTo>
                    <a:pt x="775334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1" y="3301"/>
                  </a:lnTo>
                  <a:lnTo>
                    <a:pt x="1220470" y="7238"/>
                  </a:lnTo>
                  <a:lnTo>
                    <a:pt x="1281938" y="12826"/>
                  </a:lnTo>
                  <a:lnTo>
                    <a:pt x="1342008" y="19812"/>
                  </a:lnTo>
                  <a:lnTo>
                    <a:pt x="1400428" y="28193"/>
                  </a:lnTo>
                  <a:lnTo>
                    <a:pt x="1457325" y="37973"/>
                  </a:lnTo>
                  <a:lnTo>
                    <a:pt x="1512316" y="49149"/>
                  </a:lnTo>
                  <a:lnTo>
                    <a:pt x="1565402" y="61468"/>
                  </a:lnTo>
                  <a:lnTo>
                    <a:pt x="1616328" y="75056"/>
                  </a:lnTo>
                  <a:lnTo>
                    <a:pt x="1665224" y="89788"/>
                  </a:lnTo>
                  <a:lnTo>
                    <a:pt x="1711832" y="105791"/>
                  </a:lnTo>
                  <a:lnTo>
                    <a:pt x="1756028" y="122681"/>
                  </a:lnTo>
                  <a:lnTo>
                    <a:pt x="1797811" y="140716"/>
                  </a:lnTo>
                  <a:lnTo>
                    <a:pt x="1836801" y="159766"/>
                  </a:lnTo>
                  <a:lnTo>
                    <a:pt x="1873123" y="179577"/>
                  </a:lnTo>
                  <a:lnTo>
                    <a:pt x="1906524" y="200406"/>
                  </a:lnTo>
                  <a:lnTo>
                    <a:pt x="1964181" y="244475"/>
                  </a:lnTo>
                  <a:lnTo>
                    <a:pt x="2008758" y="291464"/>
                  </a:lnTo>
                  <a:lnTo>
                    <a:pt x="2039493" y="340994"/>
                  </a:lnTo>
                  <a:lnTo>
                    <a:pt x="2055368" y="392556"/>
                  </a:lnTo>
                  <a:lnTo>
                    <a:pt x="2057400" y="419100"/>
                  </a:lnTo>
                  <a:lnTo>
                    <a:pt x="2055368" y="445643"/>
                  </a:lnTo>
                  <a:lnTo>
                    <a:pt x="2039493" y="497205"/>
                  </a:lnTo>
                  <a:lnTo>
                    <a:pt x="2008758" y="546735"/>
                  </a:lnTo>
                  <a:lnTo>
                    <a:pt x="1964181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4"/>
                  </a:lnTo>
                  <a:lnTo>
                    <a:pt x="1797811" y="697484"/>
                  </a:lnTo>
                  <a:lnTo>
                    <a:pt x="1756028" y="715467"/>
                  </a:lnTo>
                  <a:lnTo>
                    <a:pt x="1711832" y="732447"/>
                  </a:lnTo>
                  <a:lnTo>
                    <a:pt x="1665224" y="748347"/>
                  </a:lnTo>
                  <a:lnTo>
                    <a:pt x="1616328" y="763130"/>
                  </a:lnTo>
                  <a:lnTo>
                    <a:pt x="1565402" y="776732"/>
                  </a:lnTo>
                  <a:lnTo>
                    <a:pt x="1512316" y="789101"/>
                  </a:lnTo>
                  <a:lnTo>
                    <a:pt x="1457325" y="800214"/>
                  </a:lnTo>
                  <a:lnTo>
                    <a:pt x="1400428" y="809993"/>
                  </a:lnTo>
                  <a:lnTo>
                    <a:pt x="1342008" y="818413"/>
                  </a:lnTo>
                  <a:lnTo>
                    <a:pt x="1281938" y="825398"/>
                  </a:lnTo>
                  <a:lnTo>
                    <a:pt x="1220470" y="830922"/>
                  </a:lnTo>
                  <a:lnTo>
                    <a:pt x="1157731" y="834936"/>
                  </a:lnTo>
                  <a:lnTo>
                    <a:pt x="1093724" y="837374"/>
                  </a:lnTo>
                  <a:lnTo>
                    <a:pt x="1028700" y="838200"/>
                  </a:lnTo>
                  <a:lnTo>
                    <a:pt x="963676" y="837374"/>
                  </a:lnTo>
                  <a:lnTo>
                    <a:pt x="899668" y="834936"/>
                  </a:lnTo>
                  <a:lnTo>
                    <a:pt x="836802" y="830922"/>
                  </a:lnTo>
                  <a:lnTo>
                    <a:pt x="775334" y="825398"/>
                  </a:lnTo>
                  <a:lnTo>
                    <a:pt x="715391" y="818413"/>
                  </a:lnTo>
                  <a:lnTo>
                    <a:pt x="656844" y="809993"/>
                  </a:lnTo>
                  <a:lnTo>
                    <a:pt x="600075" y="800214"/>
                  </a:lnTo>
                  <a:lnTo>
                    <a:pt x="545083" y="789101"/>
                  </a:lnTo>
                  <a:lnTo>
                    <a:pt x="491998" y="776732"/>
                  </a:lnTo>
                  <a:lnTo>
                    <a:pt x="440944" y="763130"/>
                  </a:lnTo>
                  <a:lnTo>
                    <a:pt x="392049" y="748347"/>
                  </a:lnTo>
                  <a:lnTo>
                    <a:pt x="345440" y="732447"/>
                  </a:lnTo>
                  <a:lnTo>
                    <a:pt x="301244" y="715467"/>
                  </a:lnTo>
                  <a:lnTo>
                    <a:pt x="259588" y="697484"/>
                  </a:lnTo>
                  <a:lnTo>
                    <a:pt x="220599" y="678434"/>
                  </a:lnTo>
                  <a:lnTo>
                    <a:pt x="184276" y="658622"/>
                  </a:lnTo>
                  <a:lnTo>
                    <a:pt x="150875" y="637794"/>
                  </a:lnTo>
                  <a:lnTo>
                    <a:pt x="93217" y="593725"/>
                  </a:lnTo>
                  <a:lnTo>
                    <a:pt x="48640" y="546735"/>
                  </a:lnTo>
                  <a:lnTo>
                    <a:pt x="17907" y="497205"/>
                  </a:lnTo>
                  <a:lnTo>
                    <a:pt x="2032" y="445643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522211" y="5007355"/>
            <a:ext cx="181863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0840" marR="5080" indent="-35814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ahoma"/>
                <a:cs typeface="Tahoma"/>
              </a:rPr>
              <a:t>High-</a:t>
            </a:r>
            <a:r>
              <a:rPr dirty="0" sz="1800" spc="-20">
                <a:latin typeface="Tahoma"/>
                <a:cs typeface="Tahoma"/>
              </a:rPr>
              <a:t>Performance </a:t>
            </a:r>
            <a:r>
              <a:rPr dirty="0" sz="1800" spc="-10">
                <a:latin typeface="Tahoma"/>
                <a:cs typeface="Tahoma"/>
              </a:rPr>
              <a:t>Computing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77037" y="3195637"/>
            <a:ext cx="2066925" cy="847725"/>
            <a:chOff x="6777037" y="3195637"/>
            <a:chExt cx="2066925" cy="847725"/>
          </a:xfrm>
        </p:grpSpPr>
        <p:sp>
          <p:nvSpPr>
            <p:cNvPr id="33" name="object 33"/>
            <p:cNvSpPr/>
            <p:nvPr/>
          </p:nvSpPr>
          <p:spPr>
            <a:xfrm>
              <a:off x="6781800" y="32004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8" y="3301"/>
                  </a:lnTo>
                  <a:lnTo>
                    <a:pt x="836802" y="7238"/>
                  </a:lnTo>
                  <a:lnTo>
                    <a:pt x="775334" y="12826"/>
                  </a:lnTo>
                  <a:lnTo>
                    <a:pt x="715391" y="19812"/>
                  </a:lnTo>
                  <a:lnTo>
                    <a:pt x="656844" y="28194"/>
                  </a:lnTo>
                  <a:lnTo>
                    <a:pt x="600075" y="37973"/>
                  </a:lnTo>
                  <a:lnTo>
                    <a:pt x="545083" y="49149"/>
                  </a:lnTo>
                  <a:lnTo>
                    <a:pt x="491998" y="61467"/>
                  </a:lnTo>
                  <a:lnTo>
                    <a:pt x="440944" y="75057"/>
                  </a:lnTo>
                  <a:lnTo>
                    <a:pt x="392049" y="89788"/>
                  </a:lnTo>
                  <a:lnTo>
                    <a:pt x="345440" y="105790"/>
                  </a:lnTo>
                  <a:lnTo>
                    <a:pt x="301244" y="122682"/>
                  </a:lnTo>
                  <a:lnTo>
                    <a:pt x="259588" y="140715"/>
                  </a:lnTo>
                  <a:lnTo>
                    <a:pt x="220599" y="159765"/>
                  </a:lnTo>
                  <a:lnTo>
                    <a:pt x="184276" y="179577"/>
                  </a:lnTo>
                  <a:lnTo>
                    <a:pt x="150875" y="200405"/>
                  </a:lnTo>
                  <a:lnTo>
                    <a:pt x="93218" y="244475"/>
                  </a:lnTo>
                  <a:lnTo>
                    <a:pt x="48641" y="291464"/>
                  </a:lnTo>
                  <a:lnTo>
                    <a:pt x="17906" y="340995"/>
                  </a:lnTo>
                  <a:lnTo>
                    <a:pt x="2031" y="392557"/>
                  </a:lnTo>
                  <a:lnTo>
                    <a:pt x="0" y="419100"/>
                  </a:lnTo>
                  <a:lnTo>
                    <a:pt x="2031" y="445643"/>
                  </a:lnTo>
                  <a:lnTo>
                    <a:pt x="17906" y="497205"/>
                  </a:lnTo>
                  <a:lnTo>
                    <a:pt x="48641" y="546735"/>
                  </a:lnTo>
                  <a:lnTo>
                    <a:pt x="93218" y="593725"/>
                  </a:lnTo>
                  <a:lnTo>
                    <a:pt x="150875" y="637794"/>
                  </a:lnTo>
                  <a:lnTo>
                    <a:pt x="184276" y="658622"/>
                  </a:lnTo>
                  <a:lnTo>
                    <a:pt x="220599" y="678433"/>
                  </a:lnTo>
                  <a:lnTo>
                    <a:pt x="259588" y="697483"/>
                  </a:lnTo>
                  <a:lnTo>
                    <a:pt x="301244" y="715518"/>
                  </a:lnTo>
                  <a:lnTo>
                    <a:pt x="345440" y="732408"/>
                  </a:lnTo>
                  <a:lnTo>
                    <a:pt x="392049" y="748411"/>
                  </a:lnTo>
                  <a:lnTo>
                    <a:pt x="440944" y="763143"/>
                  </a:lnTo>
                  <a:lnTo>
                    <a:pt x="491998" y="776732"/>
                  </a:lnTo>
                  <a:lnTo>
                    <a:pt x="545083" y="789051"/>
                  </a:lnTo>
                  <a:lnTo>
                    <a:pt x="600075" y="800226"/>
                  </a:lnTo>
                  <a:lnTo>
                    <a:pt x="656844" y="810006"/>
                  </a:lnTo>
                  <a:lnTo>
                    <a:pt x="715391" y="818388"/>
                  </a:lnTo>
                  <a:lnTo>
                    <a:pt x="775334" y="825373"/>
                  </a:lnTo>
                  <a:lnTo>
                    <a:pt x="836802" y="830961"/>
                  </a:lnTo>
                  <a:lnTo>
                    <a:pt x="899668" y="834898"/>
                  </a:lnTo>
                  <a:lnTo>
                    <a:pt x="963676" y="837438"/>
                  </a:lnTo>
                  <a:lnTo>
                    <a:pt x="1028700" y="838200"/>
                  </a:lnTo>
                  <a:lnTo>
                    <a:pt x="1093724" y="837438"/>
                  </a:lnTo>
                  <a:lnTo>
                    <a:pt x="1157731" y="834898"/>
                  </a:lnTo>
                  <a:lnTo>
                    <a:pt x="1220470" y="830961"/>
                  </a:lnTo>
                  <a:lnTo>
                    <a:pt x="1281938" y="825373"/>
                  </a:lnTo>
                  <a:lnTo>
                    <a:pt x="1342008" y="818388"/>
                  </a:lnTo>
                  <a:lnTo>
                    <a:pt x="1400428" y="810006"/>
                  </a:lnTo>
                  <a:lnTo>
                    <a:pt x="1457325" y="800226"/>
                  </a:lnTo>
                  <a:lnTo>
                    <a:pt x="1512316" y="789051"/>
                  </a:lnTo>
                  <a:lnTo>
                    <a:pt x="1565402" y="776732"/>
                  </a:lnTo>
                  <a:lnTo>
                    <a:pt x="1616328" y="763143"/>
                  </a:lnTo>
                  <a:lnTo>
                    <a:pt x="1665224" y="748411"/>
                  </a:lnTo>
                  <a:lnTo>
                    <a:pt x="1711832" y="732408"/>
                  </a:lnTo>
                  <a:lnTo>
                    <a:pt x="1756028" y="715518"/>
                  </a:lnTo>
                  <a:lnTo>
                    <a:pt x="1797811" y="697483"/>
                  </a:lnTo>
                  <a:lnTo>
                    <a:pt x="1836801" y="678433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1" y="593725"/>
                  </a:lnTo>
                  <a:lnTo>
                    <a:pt x="2008758" y="546735"/>
                  </a:lnTo>
                  <a:lnTo>
                    <a:pt x="2039493" y="497205"/>
                  </a:lnTo>
                  <a:lnTo>
                    <a:pt x="2055368" y="445643"/>
                  </a:lnTo>
                  <a:lnTo>
                    <a:pt x="2057400" y="419100"/>
                  </a:lnTo>
                  <a:lnTo>
                    <a:pt x="2055368" y="392557"/>
                  </a:lnTo>
                  <a:lnTo>
                    <a:pt x="2039493" y="340995"/>
                  </a:lnTo>
                  <a:lnTo>
                    <a:pt x="2008758" y="291464"/>
                  </a:lnTo>
                  <a:lnTo>
                    <a:pt x="1964181" y="244475"/>
                  </a:lnTo>
                  <a:lnTo>
                    <a:pt x="1906524" y="200405"/>
                  </a:lnTo>
                  <a:lnTo>
                    <a:pt x="1873123" y="179577"/>
                  </a:lnTo>
                  <a:lnTo>
                    <a:pt x="1836801" y="159765"/>
                  </a:lnTo>
                  <a:lnTo>
                    <a:pt x="1797811" y="140715"/>
                  </a:lnTo>
                  <a:lnTo>
                    <a:pt x="1756028" y="122682"/>
                  </a:lnTo>
                  <a:lnTo>
                    <a:pt x="1711832" y="105790"/>
                  </a:lnTo>
                  <a:lnTo>
                    <a:pt x="1665224" y="89788"/>
                  </a:lnTo>
                  <a:lnTo>
                    <a:pt x="1616328" y="75057"/>
                  </a:lnTo>
                  <a:lnTo>
                    <a:pt x="1565402" y="61467"/>
                  </a:lnTo>
                  <a:lnTo>
                    <a:pt x="1512316" y="49149"/>
                  </a:lnTo>
                  <a:lnTo>
                    <a:pt x="1457325" y="37973"/>
                  </a:lnTo>
                  <a:lnTo>
                    <a:pt x="1400428" y="28194"/>
                  </a:lnTo>
                  <a:lnTo>
                    <a:pt x="1342008" y="19812"/>
                  </a:lnTo>
                  <a:lnTo>
                    <a:pt x="1281938" y="12826"/>
                  </a:lnTo>
                  <a:lnTo>
                    <a:pt x="1220470" y="7238"/>
                  </a:lnTo>
                  <a:lnTo>
                    <a:pt x="1157731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781800" y="3200400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00" y="366522"/>
                  </a:lnTo>
                  <a:lnTo>
                    <a:pt x="31369" y="315849"/>
                  </a:lnTo>
                  <a:lnTo>
                    <a:pt x="69215" y="267588"/>
                  </a:lnTo>
                  <a:lnTo>
                    <a:pt x="120523" y="221996"/>
                  </a:lnTo>
                  <a:lnTo>
                    <a:pt x="184276" y="179577"/>
                  </a:lnTo>
                  <a:lnTo>
                    <a:pt x="220599" y="159765"/>
                  </a:lnTo>
                  <a:lnTo>
                    <a:pt x="259588" y="140715"/>
                  </a:lnTo>
                  <a:lnTo>
                    <a:pt x="301244" y="122682"/>
                  </a:lnTo>
                  <a:lnTo>
                    <a:pt x="345440" y="105790"/>
                  </a:lnTo>
                  <a:lnTo>
                    <a:pt x="392049" y="89788"/>
                  </a:lnTo>
                  <a:lnTo>
                    <a:pt x="440944" y="75057"/>
                  </a:lnTo>
                  <a:lnTo>
                    <a:pt x="491998" y="61467"/>
                  </a:lnTo>
                  <a:lnTo>
                    <a:pt x="545083" y="49149"/>
                  </a:lnTo>
                  <a:lnTo>
                    <a:pt x="600075" y="37973"/>
                  </a:lnTo>
                  <a:lnTo>
                    <a:pt x="656844" y="28194"/>
                  </a:lnTo>
                  <a:lnTo>
                    <a:pt x="715391" y="19812"/>
                  </a:lnTo>
                  <a:lnTo>
                    <a:pt x="775334" y="12826"/>
                  </a:lnTo>
                  <a:lnTo>
                    <a:pt x="836802" y="7238"/>
                  </a:lnTo>
                  <a:lnTo>
                    <a:pt x="899668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1" y="3301"/>
                  </a:lnTo>
                  <a:lnTo>
                    <a:pt x="1220470" y="7238"/>
                  </a:lnTo>
                  <a:lnTo>
                    <a:pt x="1281938" y="12826"/>
                  </a:lnTo>
                  <a:lnTo>
                    <a:pt x="1342008" y="19812"/>
                  </a:lnTo>
                  <a:lnTo>
                    <a:pt x="1400428" y="28194"/>
                  </a:lnTo>
                  <a:lnTo>
                    <a:pt x="1457325" y="37973"/>
                  </a:lnTo>
                  <a:lnTo>
                    <a:pt x="1512316" y="49149"/>
                  </a:lnTo>
                  <a:lnTo>
                    <a:pt x="1565402" y="61467"/>
                  </a:lnTo>
                  <a:lnTo>
                    <a:pt x="1616328" y="75057"/>
                  </a:lnTo>
                  <a:lnTo>
                    <a:pt x="1665224" y="89788"/>
                  </a:lnTo>
                  <a:lnTo>
                    <a:pt x="1711832" y="105790"/>
                  </a:lnTo>
                  <a:lnTo>
                    <a:pt x="1756028" y="122682"/>
                  </a:lnTo>
                  <a:lnTo>
                    <a:pt x="1797811" y="140715"/>
                  </a:lnTo>
                  <a:lnTo>
                    <a:pt x="1836801" y="159765"/>
                  </a:lnTo>
                  <a:lnTo>
                    <a:pt x="1873123" y="179577"/>
                  </a:lnTo>
                  <a:lnTo>
                    <a:pt x="1906524" y="200405"/>
                  </a:lnTo>
                  <a:lnTo>
                    <a:pt x="1964181" y="244475"/>
                  </a:lnTo>
                  <a:lnTo>
                    <a:pt x="2008758" y="291464"/>
                  </a:lnTo>
                  <a:lnTo>
                    <a:pt x="2039493" y="340995"/>
                  </a:lnTo>
                  <a:lnTo>
                    <a:pt x="2055368" y="392557"/>
                  </a:lnTo>
                  <a:lnTo>
                    <a:pt x="2057400" y="419100"/>
                  </a:lnTo>
                  <a:lnTo>
                    <a:pt x="2055368" y="445643"/>
                  </a:lnTo>
                  <a:lnTo>
                    <a:pt x="2039493" y="497205"/>
                  </a:lnTo>
                  <a:lnTo>
                    <a:pt x="2008758" y="546735"/>
                  </a:lnTo>
                  <a:lnTo>
                    <a:pt x="1964181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3"/>
                  </a:lnTo>
                  <a:lnTo>
                    <a:pt x="1797811" y="697483"/>
                  </a:lnTo>
                  <a:lnTo>
                    <a:pt x="1756028" y="715518"/>
                  </a:lnTo>
                  <a:lnTo>
                    <a:pt x="1711832" y="732408"/>
                  </a:lnTo>
                  <a:lnTo>
                    <a:pt x="1665224" y="748411"/>
                  </a:lnTo>
                  <a:lnTo>
                    <a:pt x="1616328" y="763143"/>
                  </a:lnTo>
                  <a:lnTo>
                    <a:pt x="1565402" y="776732"/>
                  </a:lnTo>
                  <a:lnTo>
                    <a:pt x="1512316" y="789051"/>
                  </a:lnTo>
                  <a:lnTo>
                    <a:pt x="1457325" y="800226"/>
                  </a:lnTo>
                  <a:lnTo>
                    <a:pt x="1400428" y="810006"/>
                  </a:lnTo>
                  <a:lnTo>
                    <a:pt x="1342008" y="818388"/>
                  </a:lnTo>
                  <a:lnTo>
                    <a:pt x="1281938" y="825373"/>
                  </a:lnTo>
                  <a:lnTo>
                    <a:pt x="1220470" y="830961"/>
                  </a:lnTo>
                  <a:lnTo>
                    <a:pt x="1157731" y="834898"/>
                  </a:lnTo>
                  <a:lnTo>
                    <a:pt x="1093724" y="837438"/>
                  </a:lnTo>
                  <a:lnTo>
                    <a:pt x="1028700" y="838200"/>
                  </a:lnTo>
                  <a:lnTo>
                    <a:pt x="963676" y="837438"/>
                  </a:lnTo>
                  <a:lnTo>
                    <a:pt x="899668" y="834898"/>
                  </a:lnTo>
                  <a:lnTo>
                    <a:pt x="836802" y="830961"/>
                  </a:lnTo>
                  <a:lnTo>
                    <a:pt x="775334" y="825373"/>
                  </a:lnTo>
                  <a:lnTo>
                    <a:pt x="715391" y="818388"/>
                  </a:lnTo>
                  <a:lnTo>
                    <a:pt x="656844" y="810006"/>
                  </a:lnTo>
                  <a:lnTo>
                    <a:pt x="600075" y="800226"/>
                  </a:lnTo>
                  <a:lnTo>
                    <a:pt x="545083" y="789051"/>
                  </a:lnTo>
                  <a:lnTo>
                    <a:pt x="491998" y="776732"/>
                  </a:lnTo>
                  <a:lnTo>
                    <a:pt x="440944" y="763143"/>
                  </a:lnTo>
                  <a:lnTo>
                    <a:pt x="392049" y="748411"/>
                  </a:lnTo>
                  <a:lnTo>
                    <a:pt x="345440" y="732408"/>
                  </a:lnTo>
                  <a:lnTo>
                    <a:pt x="301244" y="715518"/>
                  </a:lnTo>
                  <a:lnTo>
                    <a:pt x="259588" y="697483"/>
                  </a:lnTo>
                  <a:lnTo>
                    <a:pt x="220599" y="678433"/>
                  </a:lnTo>
                  <a:lnTo>
                    <a:pt x="184276" y="658622"/>
                  </a:lnTo>
                  <a:lnTo>
                    <a:pt x="150875" y="637794"/>
                  </a:lnTo>
                  <a:lnTo>
                    <a:pt x="93218" y="593725"/>
                  </a:lnTo>
                  <a:lnTo>
                    <a:pt x="48641" y="546735"/>
                  </a:lnTo>
                  <a:lnTo>
                    <a:pt x="17906" y="497205"/>
                  </a:lnTo>
                  <a:lnTo>
                    <a:pt x="2031" y="445643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968490" y="3401948"/>
            <a:ext cx="16706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Visualization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500437" y="4267961"/>
            <a:ext cx="2066925" cy="1376045"/>
            <a:chOff x="3500437" y="4267961"/>
            <a:chExt cx="2066925" cy="1376045"/>
          </a:xfrm>
        </p:grpSpPr>
        <p:sp>
          <p:nvSpPr>
            <p:cNvPr id="37" name="object 37"/>
            <p:cNvSpPr/>
            <p:nvPr/>
          </p:nvSpPr>
          <p:spPr>
            <a:xfrm>
              <a:off x="4453128" y="4267961"/>
              <a:ext cx="86995" cy="838200"/>
            </a:xfrm>
            <a:custGeom>
              <a:avLst/>
              <a:gdLst/>
              <a:ahLst/>
              <a:cxnLst/>
              <a:rect l="l" t="t" r="r" b="b"/>
              <a:pathLst>
                <a:path w="86995" h="838200">
                  <a:moveTo>
                    <a:pt x="86868" y="86868"/>
                  </a:moveTo>
                  <a:lnTo>
                    <a:pt x="79629" y="72390"/>
                  </a:lnTo>
                  <a:lnTo>
                    <a:pt x="43434" y="0"/>
                  </a:lnTo>
                  <a:lnTo>
                    <a:pt x="0" y="86868"/>
                  </a:lnTo>
                  <a:lnTo>
                    <a:pt x="28956" y="86868"/>
                  </a:lnTo>
                  <a:lnTo>
                    <a:pt x="28956" y="838200"/>
                  </a:lnTo>
                  <a:lnTo>
                    <a:pt x="57912" y="838200"/>
                  </a:lnTo>
                  <a:lnTo>
                    <a:pt x="57912" y="86868"/>
                  </a:lnTo>
                  <a:lnTo>
                    <a:pt x="86868" y="868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505200" y="4800599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1028700" y="0"/>
                  </a:moveTo>
                  <a:lnTo>
                    <a:pt x="963676" y="762"/>
                  </a:lnTo>
                  <a:lnTo>
                    <a:pt x="899667" y="3301"/>
                  </a:lnTo>
                  <a:lnTo>
                    <a:pt x="836802" y="7238"/>
                  </a:lnTo>
                  <a:lnTo>
                    <a:pt x="775335" y="12826"/>
                  </a:lnTo>
                  <a:lnTo>
                    <a:pt x="715390" y="19812"/>
                  </a:lnTo>
                  <a:lnTo>
                    <a:pt x="656844" y="28193"/>
                  </a:lnTo>
                  <a:lnTo>
                    <a:pt x="600075" y="37973"/>
                  </a:lnTo>
                  <a:lnTo>
                    <a:pt x="545084" y="49149"/>
                  </a:lnTo>
                  <a:lnTo>
                    <a:pt x="491998" y="61468"/>
                  </a:lnTo>
                  <a:lnTo>
                    <a:pt x="440944" y="75056"/>
                  </a:lnTo>
                  <a:lnTo>
                    <a:pt x="392049" y="89788"/>
                  </a:lnTo>
                  <a:lnTo>
                    <a:pt x="345439" y="105791"/>
                  </a:lnTo>
                  <a:lnTo>
                    <a:pt x="301244" y="122681"/>
                  </a:lnTo>
                  <a:lnTo>
                    <a:pt x="259587" y="140716"/>
                  </a:lnTo>
                  <a:lnTo>
                    <a:pt x="220599" y="159766"/>
                  </a:lnTo>
                  <a:lnTo>
                    <a:pt x="184276" y="179577"/>
                  </a:lnTo>
                  <a:lnTo>
                    <a:pt x="150875" y="200406"/>
                  </a:lnTo>
                  <a:lnTo>
                    <a:pt x="93217" y="244475"/>
                  </a:lnTo>
                  <a:lnTo>
                    <a:pt x="48640" y="291464"/>
                  </a:lnTo>
                  <a:lnTo>
                    <a:pt x="17907" y="340868"/>
                  </a:lnTo>
                  <a:lnTo>
                    <a:pt x="2032" y="392556"/>
                  </a:lnTo>
                  <a:lnTo>
                    <a:pt x="0" y="419100"/>
                  </a:lnTo>
                  <a:lnTo>
                    <a:pt x="2032" y="445643"/>
                  </a:lnTo>
                  <a:lnTo>
                    <a:pt x="17907" y="497205"/>
                  </a:lnTo>
                  <a:lnTo>
                    <a:pt x="48640" y="546735"/>
                  </a:lnTo>
                  <a:lnTo>
                    <a:pt x="93217" y="593725"/>
                  </a:lnTo>
                  <a:lnTo>
                    <a:pt x="150875" y="637794"/>
                  </a:lnTo>
                  <a:lnTo>
                    <a:pt x="184276" y="658622"/>
                  </a:lnTo>
                  <a:lnTo>
                    <a:pt x="220599" y="678434"/>
                  </a:lnTo>
                  <a:lnTo>
                    <a:pt x="259587" y="697484"/>
                  </a:lnTo>
                  <a:lnTo>
                    <a:pt x="301244" y="715518"/>
                  </a:lnTo>
                  <a:lnTo>
                    <a:pt x="345439" y="732409"/>
                  </a:lnTo>
                  <a:lnTo>
                    <a:pt x="392049" y="748411"/>
                  </a:lnTo>
                  <a:lnTo>
                    <a:pt x="440944" y="763143"/>
                  </a:lnTo>
                  <a:lnTo>
                    <a:pt x="491998" y="776732"/>
                  </a:lnTo>
                  <a:lnTo>
                    <a:pt x="545084" y="789101"/>
                  </a:lnTo>
                  <a:lnTo>
                    <a:pt x="600075" y="800214"/>
                  </a:lnTo>
                  <a:lnTo>
                    <a:pt x="656844" y="809993"/>
                  </a:lnTo>
                  <a:lnTo>
                    <a:pt x="715390" y="818413"/>
                  </a:lnTo>
                  <a:lnTo>
                    <a:pt x="775335" y="825398"/>
                  </a:lnTo>
                  <a:lnTo>
                    <a:pt x="836802" y="830922"/>
                  </a:lnTo>
                  <a:lnTo>
                    <a:pt x="899667" y="834936"/>
                  </a:lnTo>
                  <a:lnTo>
                    <a:pt x="963676" y="837374"/>
                  </a:lnTo>
                  <a:lnTo>
                    <a:pt x="1028700" y="838200"/>
                  </a:lnTo>
                  <a:lnTo>
                    <a:pt x="1093724" y="837374"/>
                  </a:lnTo>
                  <a:lnTo>
                    <a:pt x="1157732" y="834936"/>
                  </a:lnTo>
                  <a:lnTo>
                    <a:pt x="1220597" y="830922"/>
                  </a:lnTo>
                  <a:lnTo>
                    <a:pt x="1282064" y="825398"/>
                  </a:lnTo>
                  <a:lnTo>
                    <a:pt x="1342009" y="818413"/>
                  </a:lnTo>
                  <a:lnTo>
                    <a:pt x="1400555" y="809993"/>
                  </a:lnTo>
                  <a:lnTo>
                    <a:pt x="1457325" y="800214"/>
                  </a:lnTo>
                  <a:lnTo>
                    <a:pt x="1512315" y="789101"/>
                  </a:lnTo>
                  <a:lnTo>
                    <a:pt x="1565402" y="776732"/>
                  </a:lnTo>
                  <a:lnTo>
                    <a:pt x="1616455" y="763143"/>
                  </a:lnTo>
                  <a:lnTo>
                    <a:pt x="1665351" y="748411"/>
                  </a:lnTo>
                  <a:lnTo>
                    <a:pt x="1711960" y="732409"/>
                  </a:lnTo>
                  <a:lnTo>
                    <a:pt x="1756155" y="715518"/>
                  </a:lnTo>
                  <a:lnTo>
                    <a:pt x="1797812" y="697484"/>
                  </a:lnTo>
                  <a:lnTo>
                    <a:pt x="1836801" y="678434"/>
                  </a:lnTo>
                  <a:lnTo>
                    <a:pt x="1873123" y="658622"/>
                  </a:lnTo>
                  <a:lnTo>
                    <a:pt x="1906524" y="637794"/>
                  </a:lnTo>
                  <a:lnTo>
                    <a:pt x="1964182" y="593725"/>
                  </a:lnTo>
                  <a:lnTo>
                    <a:pt x="2008759" y="546735"/>
                  </a:lnTo>
                  <a:lnTo>
                    <a:pt x="2039492" y="497205"/>
                  </a:lnTo>
                  <a:lnTo>
                    <a:pt x="2055367" y="445643"/>
                  </a:lnTo>
                  <a:lnTo>
                    <a:pt x="2057400" y="419100"/>
                  </a:lnTo>
                  <a:lnTo>
                    <a:pt x="2055367" y="392556"/>
                  </a:lnTo>
                  <a:lnTo>
                    <a:pt x="2039492" y="340868"/>
                  </a:lnTo>
                  <a:lnTo>
                    <a:pt x="2008759" y="291464"/>
                  </a:lnTo>
                  <a:lnTo>
                    <a:pt x="1964182" y="244475"/>
                  </a:lnTo>
                  <a:lnTo>
                    <a:pt x="1906524" y="200406"/>
                  </a:lnTo>
                  <a:lnTo>
                    <a:pt x="1873123" y="179577"/>
                  </a:lnTo>
                  <a:lnTo>
                    <a:pt x="1836801" y="159766"/>
                  </a:lnTo>
                  <a:lnTo>
                    <a:pt x="1797812" y="140716"/>
                  </a:lnTo>
                  <a:lnTo>
                    <a:pt x="1756155" y="122681"/>
                  </a:lnTo>
                  <a:lnTo>
                    <a:pt x="1711960" y="105791"/>
                  </a:lnTo>
                  <a:lnTo>
                    <a:pt x="1665351" y="89788"/>
                  </a:lnTo>
                  <a:lnTo>
                    <a:pt x="1616455" y="75056"/>
                  </a:lnTo>
                  <a:lnTo>
                    <a:pt x="1565402" y="61468"/>
                  </a:lnTo>
                  <a:lnTo>
                    <a:pt x="1512315" y="49149"/>
                  </a:lnTo>
                  <a:lnTo>
                    <a:pt x="1457325" y="37973"/>
                  </a:lnTo>
                  <a:lnTo>
                    <a:pt x="1400555" y="28193"/>
                  </a:lnTo>
                  <a:lnTo>
                    <a:pt x="1342009" y="19812"/>
                  </a:lnTo>
                  <a:lnTo>
                    <a:pt x="1282064" y="12826"/>
                  </a:lnTo>
                  <a:lnTo>
                    <a:pt x="1220597" y="7238"/>
                  </a:lnTo>
                  <a:lnTo>
                    <a:pt x="1157732" y="3301"/>
                  </a:lnTo>
                  <a:lnTo>
                    <a:pt x="1093724" y="762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E2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505200" y="4800599"/>
              <a:ext cx="2057400" cy="838200"/>
            </a:xfrm>
            <a:custGeom>
              <a:avLst/>
              <a:gdLst/>
              <a:ahLst/>
              <a:cxnLst/>
              <a:rect l="l" t="t" r="r" b="b"/>
              <a:pathLst>
                <a:path w="2057400" h="838200">
                  <a:moveTo>
                    <a:pt x="0" y="419100"/>
                  </a:moveTo>
                  <a:lnTo>
                    <a:pt x="8000" y="366522"/>
                  </a:lnTo>
                  <a:lnTo>
                    <a:pt x="31369" y="315849"/>
                  </a:lnTo>
                  <a:lnTo>
                    <a:pt x="69214" y="267588"/>
                  </a:lnTo>
                  <a:lnTo>
                    <a:pt x="120523" y="221995"/>
                  </a:lnTo>
                  <a:lnTo>
                    <a:pt x="184276" y="179577"/>
                  </a:lnTo>
                  <a:lnTo>
                    <a:pt x="220599" y="159766"/>
                  </a:lnTo>
                  <a:lnTo>
                    <a:pt x="259587" y="140716"/>
                  </a:lnTo>
                  <a:lnTo>
                    <a:pt x="301244" y="122681"/>
                  </a:lnTo>
                  <a:lnTo>
                    <a:pt x="345439" y="105791"/>
                  </a:lnTo>
                  <a:lnTo>
                    <a:pt x="392049" y="89788"/>
                  </a:lnTo>
                  <a:lnTo>
                    <a:pt x="440944" y="75056"/>
                  </a:lnTo>
                  <a:lnTo>
                    <a:pt x="491998" y="61468"/>
                  </a:lnTo>
                  <a:lnTo>
                    <a:pt x="545084" y="49149"/>
                  </a:lnTo>
                  <a:lnTo>
                    <a:pt x="600075" y="37973"/>
                  </a:lnTo>
                  <a:lnTo>
                    <a:pt x="656844" y="28193"/>
                  </a:lnTo>
                  <a:lnTo>
                    <a:pt x="715390" y="19812"/>
                  </a:lnTo>
                  <a:lnTo>
                    <a:pt x="775335" y="12826"/>
                  </a:lnTo>
                  <a:lnTo>
                    <a:pt x="836802" y="7238"/>
                  </a:lnTo>
                  <a:lnTo>
                    <a:pt x="899667" y="3301"/>
                  </a:lnTo>
                  <a:lnTo>
                    <a:pt x="963676" y="762"/>
                  </a:lnTo>
                  <a:lnTo>
                    <a:pt x="1028700" y="0"/>
                  </a:lnTo>
                  <a:lnTo>
                    <a:pt x="1093724" y="762"/>
                  </a:lnTo>
                  <a:lnTo>
                    <a:pt x="1157732" y="3301"/>
                  </a:lnTo>
                  <a:lnTo>
                    <a:pt x="1220597" y="7238"/>
                  </a:lnTo>
                  <a:lnTo>
                    <a:pt x="1282064" y="12826"/>
                  </a:lnTo>
                  <a:lnTo>
                    <a:pt x="1342009" y="19812"/>
                  </a:lnTo>
                  <a:lnTo>
                    <a:pt x="1400555" y="28193"/>
                  </a:lnTo>
                  <a:lnTo>
                    <a:pt x="1457325" y="37973"/>
                  </a:lnTo>
                  <a:lnTo>
                    <a:pt x="1512315" y="49149"/>
                  </a:lnTo>
                  <a:lnTo>
                    <a:pt x="1565402" y="61468"/>
                  </a:lnTo>
                  <a:lnTo>
                    <a:pt x="1616455" y="75056"/>
                  </a:lnTo>
                  <a:lnTo>
                    <a:pt x="1665351" y="89788"/>
                  </a:lnTo>
                  <a:lnTo>
                    <a:pt x="1711960" y="105791"/>
                  </a:lnTo>
                  <a:lnTo>
                    <a:pt x="1756155" y="122681"/>
                  </a:lnTo>
                  <a:lnTo>
                    <a:pt x="1797812" y="140716"/>
                  </a:lnTo>
                  <a:lnTo>
                    <a:pt x="1836801" y="159766"/>
                  </a:lnTo>
                  <a:lnTo>
                    <a:pt x="1873123" y="179577"/>
                  </a:lnTo>
                  <a:lnTo>
                    <a:pt x="1906524" y="200406"/>
                  </a:lnTo>
                  <a:lnTo>
                    <a:pt x="1964182" y="244475"/>
                  </a:lnTo>
                  <a:lnTo>
                    <a:pt x="2008759" y="291464"/>
                  </a:lnTo>
                  <a:lnTo>
                    <a:pt x="2039492" y="340868"/>
                  </a:lnTo>
                  <a:lnTo>
                    <a:pt x="2055367" y="392556"/>
                  </a:lnTo>
                  <a:lnTo>
                    <a:pt x="2057400" y="419100"/>
                  </a:lnTo>
                  <a:lnTo>
                    <a:pt x="2055367" y="445643"/>
                  </a:lnTo>
                  <a:lnTo>
                    <a:pt x="2039492" y="497205"/>
                  </a:lnTo>
                  <a:lnTo>
                    <a:pt x="2008759" y="546735"/>
                  </a:lnTo>
                  <a:lnTo>
                    <a:pt x="1964182" y="593725"/>
                  </a:lnTo>
                  <a:lnTo>
                    <a:pt x="1906524" y="637794"/>
                  </a:lnTo>
                  <a:lnTo>
                    <a:pt x="1873123" y="658622"/>
                  </a:lnTo>
                  <a:lnTo>
                    <a:pt x="1836801" y="678434"/>
                  </a:lnTo>
                  <a:lnTo>
                    <a:pt x="1797812" y="697484"/>
                  </a:lnTo>
                  <a:lnTo>
                    <a:pt x="1756155" y="715518"/>
                  </a:lnTo>
                  <a:lnTo>
                    <a:pt x="1711960" y="732409"/>
                  </a:lnTo>
                  <a:lnTo>
                    <a:pt x="1665351" y="748411"/>
                  </a:lnTo>
                  <a:lnTo>
                    <a:pt x="1616455" y="763143"/>
                  </a:lnTo>
                  <a:lnTo>
                    <a:pt x="1565402" y="776732"/>
                  </a:lnTo>
                  <a:lnTo>
                    <a:pt x="1512315" y="789101"/>
                  </a:lnTo>
                  <a:lnTo>
                    <a:pt x="1457325" y="800214"/>
                  </a:lnTo>
                  <a:lnTo>
                    <a:pt x="1400555" y="809993"/>
                  </a:lnTo>
                  <a:lnTo>
                    <a:pt x="1342009" y="818413"/>
                  </a:lnTo>
                  <a:lnTo>
                    <a:pt x="1282064" y="825398"/>
                  </a:lnTo>
                  <a:lnTo>
                    <a:pt x="1220597" y="830922"/>
                  </a:lnTo>
                  <a:lnTo>
                    <a:pt x="1157732" y="834936"/>
                  </a:lnTo>
                  <a:lnTo>
                    <a:pt x="1093724" y="837374"/>
                  </a:lnTo>
                  <a:lnTo>
                    <a:pt x="1028700" y="838200"/>
                  </a:lnTo>
                  <a:lnTo>
                    <a:pt x="963676" y="837374"/>
                  </a:lnTo>
                  <a:lnTo>
                    <a:pt x="899667" y="834936"/>
                  </a:lnTo>
                  <a:lnTo>
                    <a:pt x="836802" y="830922"/>
                  </a:lnTo>
                  <a:lnTo>
                    <a:pt x="775335" y="825398"/>
                  </a:lnTo>
                  <a:lnTo>
                    <a:pt x="715390" y="818413"/>
                  </a:lnTo>
                  <a:lnTo>
                    <a:pt x="656844" y="809993"/>
                  </a:lnTo>
                  <a:lnTo>
                    <a:pt x="600075" y="800214"/>
                  </a:lnTo>
                  <a:lnTo>
                    <a:pt x="545084" y="789101"/>
                  </a:lnTo>
                  <a:lnTo>
                    <a:pt x="491998" y="776732"/>
                  </a:lnTo>
                  <a:lnTo>
                    <a:pt x="440944" y="763143"/>
                  </a:lnTo>
                  <a:lnTo>
                    <a:pt x="392049" y="748411"/>
                  </a:lnTo>
                  <a:lnTo>
                    <a:pt x="345439" y="732409"/>
                  </a:lnTo>
                  <a:lnTo>
                    <a:pt x="301244" y="715518"/>
                  </a:lnTo>
                  <a:lnTo>
                    <a:pt x="259587" y="697484"/>
                  </a:lnTo>
                  <a:lnTo>
                    <a:pt x="220599" y="678434"/>
                  </a:lnTo>
                  <a:lnTo>
                    <a:pt x="184276" y="658622"/>
                  </a:lnTo>
                  <a:lnTo>
                    <a:pt x="150875" y="637794"/>
                  </a:lnTo>
                  <a:lnTo>
                    <a:pt x="93217" y="593725"/>
                  </a:lnTo>
                  <a:lnTo>
                    <a:pt x="48640" y="546735"/>
                  </a:lnTo>
                  <a:lnTo>
                    <a:pt x="17907" y="497205"/>
                  </a:lnTo>
                  <a:lnTo>
                    <a:pt x="2032" y="445643"/>
                  </a:lnTo>
                  <a:lnTo>
                    <a:pt x="0" y="419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847846" y="4839716"/>
            <a:ext cx="1270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Tahoma"/>
                <a:cs typeface="Tahoma"/>
              </a:rPr>
              <a:t>Database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65550" y="5205476"/>
            <a:ext cx="15417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latin typeface="Tahoma"/>
                <a:cs typeface="Tahoma"/>
              </a:rPr>
              <a:t>Technology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453128" y="2439161"/>
            <a:ext cx="86995" cy="762000"/>
          </a:xfrm>
          <a:custGeom>
            <a:avLst/>
            <a:gdLst/>
            <a:ahLst/>
            <a:cxnLst/>
            <a:rect l="l" t="t" r="r" b="b"/>
            <a:pathLst>
              <a:path w="86995" h="762000">
                <a:moveTo>
                  <a:pt x="86868" y="675132"/>
                </a:moveTo>
                <a:lnTo>
                  <a:pt x="57912" y="675132"/>
                </a:lnTo>
                <a:lnTo>
                  <a:pt x="57912" y="0"/>
                </a:lnTo>
                <a:lnTo>
                  <a:pt x="28956" y="0"/>
                </a:lnTo>
                <a:lnTo>
                  <a:pt x="28956" y="675132"/>
                </a:lnTo>
                <a:lnTo>
                  <a:pt x="0" y="675132"/>
                </a:lnTo>
                <a:lnTo>
                  <a:pt x="43434" y="762000"/>
                </a:lnTo>
                <a:lnTo>
                  <a:pt x="79629" y="689610"/>
                </a:lnTo>
                <a:lnTo>
                  <a:pt x="86868" y="675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333500"/>
            <a:ext cx="8991600" cy="4191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1469" rIns="0" bIns="0" rtlCol="0" vert="horz">
            <a:spAutoFit/>
          </a:bodyPr>
          <a:lstStyle/>
          <a:p>
            <a:pPr marL="221551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Data</a:t>
            </a:r>
            <a:r>
              <a:rPr dirty="0" sz="3600" spc="-40"/>
              <a:t> </a:t>
            </a:r>
            <a:r>
              <a:rPr dirty="0" sz="3600"/>
              <a:t>Mining</a:t>
            </a:r>
            <a:r>
              <a:rPr dirty="0" sz="3600" spc="-55"/>
              <a:t> </a:t>
            </a:r>
            <a:r>
              <a:rPr dirty="0" sz="3600" spc="-10"/>
              <a:t>Tasks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2600" y="1100455"/>
            <a:ext cx="3099307" cy="1764664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095847" y="2663380"/>
          <a:ext cx="1479550" cy="224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"/>
                <a:gridCol w="303530"/>
                <a:gridCol w="347345"/>
                <a:gridCol w="332105"/>
                <a:gridCol w="252730"/>
              </a:tblGrid>
              <a:tr h="223520">
                <a:tc>
                  <a:txBody>
                    <a:bodyPr/>
                    <a:lstStyle/>
                    <a:p>
                      <a:pPr marL="8255">
                        <a:lnSpc>
                          <a:spcPts val="640"/>
                        </a:lnSpc>
                      </a:pPr>
                      <a:r>
                        <a:rPr dirty="0" sz="55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640"/>
                        </a:lnSpc>
                      </a:pPr>
                      <a:r>
                        <a:rPr dirty="0" sz="5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Refund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8415" marR="106045">
                        <a:lnSpc>
                          <a:spcPts val="600"/>
                        </a:lnSpc>
                        <a:spcBef>
                          <a:spcPts val="25"/>
                        </a:spcBef>
                      </a:pPr>
                      <a:r>
                        <a:rPr dirty="0" sz="5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Marital</a:t>
                      </a:r>
                      <a:r>
                        <a:rPr dirty="0" sz="550" spc="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52069">
                        <a:lnSpc>
                          <a:spcPts val="600"/>
                        </a:lnSpc>
                        <a:spcBef>
                          <a:spcPts val="25"/>
                        </a:spcBef>
                      </a:pPr>
                      <a:r>
                        <a:rPr dirty="0" sz="5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Taxable</a:t>
                      </a:r>
                      <a:r>
                        <a:rPr dirty="0" sz="550" spc="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Income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5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Cheat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66675">
                    <a:lnL w="3175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2017395"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1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2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3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4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5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6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7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8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9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10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11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12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13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14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15</a:t>
                      </a:r>
                      <a:endParaRPr sz="5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3175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Yes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 marR="194310">
                        <a:lnSpc>
                          <a:spcPct val="138200"/>
                        </a:lnSpc>
                        <a:spcBef>
                          <a:spcPts val="140"/>
                        </a:spcBef>
                      </a:pPr>
                      <a:r>
                        <a:rPr dirty="0" sz="550" spc="-50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50">
                          <a:latin typeface="Arial MT"/>
                          <a:cs typeface="Arial MT"/>
                        </a:rPr>
                        <a:t>No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 marR="163195">
                        <a:lnSpc>
                          <a:spcPct val="160000"/>
                        </a:lnSpc>
                      </a:pPr>
                      <a:r>
                        <a:rPr dirty="0" sz="550" spc="-30">
                          <a:latin typeface="Arial MT"/>
                          <a:cs typeface="Arial MT"/>
                        </a:rPr>
                        <a:t>Yes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30">
                          <a:latin typeface="Arial MT"/>
                          <a:cs typeface="Arial MT"/>
                        </a:rPr>
                        <a:t>Yes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30">
                          <a:latin typeface="Arial MT"/>
                          <a:cs typeface="Arial MT"/>
                        </a:rPr>
                        <a:t>Yes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5">
                          <a:latin typeface="Arial MT"/>
                          <a:cs typeface="Arial MT"/>
                        </a:rPr>
                        <a:t>No</a:t>
                      </a:r>
                      <a:endParaRPr sz="5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3175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8415" marR="94615">
                        <a:lnSpc>
                          <a:spcPct val="138200"/>
                        </a:lnSpc>
                        <a:spcBef>
                          <a:spcPts val="140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8415" marR="54610">
                        <a:lnSpc>
                          <a:spcPct val="160000"/>
                        </a:lnSpc>
                      </a:pPr>
                      <a:r>
                        <a:rPr dirty="0" sz="550" spc="-10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0">
                          <a:latin typeface="Arial MT"/>
                          <a:cs typeface="Arial MT"/>
                        </a:rPr>
                        <a:t>Divorced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0">
                          <a:latin typeface="Arial MT"/>
                          <a:cs typeface="Arial MT"/>
                        </a:rPr>
                        <a:t>Divorced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20">
                          <a:latin typeface="Arial MT"/>
                          <a:cs typeface="Arial MT"/>
                        </a:rPr>
                        <a:t>Divorced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Married</a:t>
                      </a:r>
                      <a:r>
                        <a:rPr dirty="0" sz="5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550" spc="-10">
                          <a:latin typeface="Arial MT"/>
                          <a:cs typeface="Arial MT"/>
                        </a:rPr>
                        <a:t>Single</a:t>
                      </a:r>
                      <a:endParaRPr sz="5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3175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550" spc="-20">
                          <a:latin typeface="Arial MT"/>
                          <a:cs typeface="Arial MT"/>
                        </a:rPr>
                        <a:t>125K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0">
                          <a:latin typeface="Arial MT"/>
                          <a:cs typeface="Arial MT"/>
                        </a:rPr>
                        <a:t>100K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70K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20">
                          <a:latin typeface="Arial MT"/>
                          <a:cs typeface="Arial MT"/>
                        </a:rPr>
                        <a:t>120K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95K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60K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20">
                          <a:latin typeface="Arial MT"/>
                          <a:cs typeface="Arial MT"/>
                        </a:rPr>
                        <a:t>220K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85K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75K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90K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60K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550" spc="-20">
                          <a:latin typeface="Arial MT"/>
                          <a:cs typeface="Arial MT"/>
                        </a:rPr>
                        <a:t>220K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85K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75K</a:t>
                      </a:r>
                      <a:endParaRPr sz="550">
                        <a:latin typeface="Arial MT"/>
                        <a:cs typeface="Arial MT"/>
                      </a:endParaRPr>
                    </a:p>
                    <a:p>
                      <a:pPr marL="177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550" spc="-25">
                          <a:latin typeface="Arial MT"/>
                          <a:cs typeface="Arial MT"/>
                        </a:rPr>
                        <a:t>90K</a:t>
                      </a:r>
                      <a:endParaRPr sz="550">
                        <a:latin typeface="Arial MT"/>
                        <a:cs typeface="Arial MT"/>
                      </a:endParaRPr>
                    </a:p>
                  </a:txBody>
                  <a:tcPr marL="0" marR="0" marB="0" marT="20955">
                    <a:lnL w="3175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8415" marR="142240">
                        <a:lnSpc>
                          <a:spcPct val="138200"/>
                        </a:lnSpc>
                        <a:spcBef>
                          <a:spcPts val="140"/>
                        </a:spcBef>
                      </a:pPr>
                      <a:r>
                        <a:rPr dirty="0" sz="550" spc="-6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6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18415" marR="107314">
                        <a:lnSpc>
                          <a:spcPct val="160000"/>
                        </a:lnSpc>
                      </a:pP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550" spc="50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550" spc="-3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3175">
                      <a:solidFill>
                        <a:srgbClr val="000080"/>
                      </a:solidFill>
                      <a:prstDash val="solid"/>
                    </a:lnL>
                    <a:lnR w="3175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077717" y="4900422"/>
            <a:ext cx="31750" cy="40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7828" y="1143000"/>
            <a:ext cx="2906395" cy="2063750"/>
            <a:chOff x="147828" y="1143000"/>
            <a:chExt cx="2906395" cy="2063750"/>
          </a:xfrm>
        </p:grpSpPr>
        <p:sp>
          <p:nvSpPr>
            <p:cNvPr id="9" name="object 9"/>
            <p:cNvSpPr/>
            <p:nvPr/>
          </p:nvSpPr>
          <p:spPr>
            <a:xfrm>
              <a:off x="207264" y="1143000"/>
              <a:ext cx="1545590" cy="1295400"/>
            </a:xfrm>
            <a:custGeom>
              <a:avLst/>
              <a:gdLst/>
              <a:ahLst/>
              <a:cxnLst/>
              <a:rect l="l" t="t" r="r" b="b"/>
              <a:pathLst>
                <a:path w="1545589" h="1295400">
                  <a:moveTo>
                    <a:pt x="425195" y="0"/>
                  </a:moveTo>
                  <a:lnTo>
                    <a:pt x="425195" y="883920"/>
                  </a:lnTo>
                </a:path>
                <a:path w="1545589" h="1295400">
                  <a:moveTo>
                    <a:pt x="425195" y="883920"/>
                  </a:moveTo>
                  <a:lnTo>
                    <a:pt x="1545336" y="883920"/>
                  </a:lnTo>
                </a:path>
                <a:path w="1545589" h="1295400">
                  <a:moveTo>
                    <a:pt x="425195" y="883920"/>
                  </a:moveTo>
                  <a:lnTo>
                    <a:pt x="0" y="12954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2895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57378" y="0"/>
                  </a:moveTo>
                  <a:lnTo>
                    <a:pt x="21869" y="0"/>
                  </a:lnTo>
                  <a:lnTo>
                    <a:pt x="0" y="21844"/>
                  </a:lnTo>
                  <a:lnTo>
                    <a:pt x="0" y="52832"/>
                  </a:lnTo>
                  <a:lnTo>
                    <a:pt x="21869" y="74676"/>
                  </a:lnTo>
                  <a:lnTo>
                    <a:pt x="57378" y="74676"/>
                  </a:lnTo>
                  <a:lnTo>
                    <a:pt x="79247" y="52832"/>
                  </a:lnTo>
                  <a:lnTo>
                    <a:pt x="79247" y="21844"/>
                  </a:lnTo>
                  <a:lnTo>
                    <a:pt x="57378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2895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0" y="21844"/>
                  </a:moveTo>
                  <a:lnTo>
                    <a:pt x="21869" y="0"/>
                  </a:lnTo>
                  <a:lnTo>
                    <a:pt x="57378" y="0"/>
                  </a:lnTo>
                  <a:lnTo>
                    <a:pt x="79247" y="21844"/>
                  </a:lnTo>
                  <a:lnTo>
                    <a:pt x="79247" y="52832"/>
                  </a:lnTo>
                  <a:lnTo>
                    <a:pt x="57378" y="74676"/>
                  </a:lnTo>
                  <a:lnTo>
                    <a:pt x="21869" y="74676"/>
                  </a:lnTo>
                  <a:lnTo>
                    <a:pt x="0" y="52832"/>
                  </a:lnTo>
                  <a:lnTo>
                    <a:pt x="0" y="218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93292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57378" y="0"/>
                  </a:moveTo>
                  <a:lnTo>
                    <a:pt x="21869" y="0"/>
                  </a:lnTo>
                  <a:lnTo>
                    <a:pt x="0" y="21844"/>
                  </a:lnTo>
                  <a:lnTo>
                    <a:pt x="0" y="52832"/>
                  </a:lnTo>
                  <a:lnTo>
                    <a:pt x="21869" y="74676"/>
                  </a:lnTo>
                  <a:lnTo>
                    <a:pt x="57378" y="74676"/>
                  </a:lnTo>
                  <a:lnTo>
                    <a:pt x="79248" y="52832"/>
                  </a:lnTo>
                  <a:lnTo>
                    <a:pt x="79248" y="21844"/>
                  </a:lnTo>
                  <a:lnTo>
                    <a:pt x="57378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93292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0" y="21844"/>
                  </a:moveTo>
                  <a:lnTo>
                    <a:pt x="21869" y="0"/>
                  </a:lnTo>
                  <a:lnTo>
                    <a:pt x="57378" y="0"/>
                  </a:lnTo>
                  <a:lnTo>
                    <a:pt x="79248" y="21844"/>
                  </a:lnTo>
                  <a:lnTo>
                    <a:pt x="79248" y="52832"/>
                  </a:lnTo>
                  <a:lnTo>
                    <a:pt x="57378" y="74676"/>
                  </a:lnTo>
                  <a:lnTo>
                    <a:pt x="21869" y="74676"/>
                  </a:lnTo>
                  <a:lnTo>
                    <a:pt x="0" y="52832"/>
                  </a:lnTo>
                  <a:lnTo>
                    <a:pt x="0" y="21844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7572" y="1286255"/>
              <a:ext cx="89914" cy="8229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7572" y="1507236"/>
              <a:ext cx="89914" cy="8229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53311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57403" y="0"/>
                  </a:moveTo>
                  <a:lnTo>
                    <a:pt x="21843" y="0"/>
                  </a:lnTo>
                  <a:lnTo>
                    <a:pt x="0" y="21844"/>
                  </a:lnTo>
                  <a:lnTo>
                    <a:pt x="0" y="52832"/>
                  </a:lnTo>
                  <a:lnTo>
                    <a:pt x="21843" y="74676"/>
                  </a:lnTo>
                  <a:lnTo>
                    <a:pt x="57403" y="74676"/>
                  </a:lnTo>
                  <a:lnTo>
                    <a:pt x="79247" y="52832"/>
                  </a:lnTo>
                  <a:lnTo>
                    <a:pt x="79247" y="21844"/>
                  </a:lnTo>
                  <a:lnTo>
                    <a:pt x="5740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353311" y="1400556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0" y="21844"/>
                  </a:moveTo>
                  <a:lnTo>
                    <a:pt x="21843" y="0"/>
                  </a:lnTo>
                  <a:lnTo>
                    <a:pt x="57403" y="0"/>
                  </a:lnTo>
                  <a:lnTo>
                    <a:pt x="79247" y="21844"/>
                  </a:lnTo>
                  <a:lnTo>
                    <a:pt x="79247" y="52832"/>
                  </a:lnTo>
                  <a:lnTo>
                    <a:pt x="57403" y="74676"/>
                  </a:lnTo>
                  <a:lnTo>
                    <a:pt x="21843" y="74676"/>
                  </a:lnTo>
                  <a:lnTo>
                    <a:pt x="0" y="52832"/>
                  </a:lnTo>
                  <a:lnTo>
                    <a:pt x="0" y="2184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72539" y="1327404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59309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62" y="73151"/>
                  </a:lnTo>
                  <a:lnTo>
                    <a:pt x="59309" y="73151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72539" y="1327404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0" y="21462"/>
                  </a:moveTo>
                  <a:lnTo>
                    <a:pt x="21462" y="0"/>
                  </a:lnTo>
                  <a:lnTo>
                    <a:pt x="59309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09" y="73151"/>
                  </a:lnTo>
                  <a:lnTo>
                    <a:pt x="21462" y="73151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552" y="1286255"/>
              <a:ext cx="89914" cy="8229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72539" y="147523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59309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62" y="73151"/>
                  </a:lnTo>
                  <a:lnTo>
                    <a:pt x="59309" y="73151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272539" y="147523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0" y="21462"/>
                  </a:moveTo>
                  <a:lnTo>
                    <a:pt x="21462" y="0"/>
                  </a:lnTo>
                  <a:lnTo>
                    <a:pt x="59309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09" y="73151"/>
                  </a:lnTo>
                  <a:lnTo>
                    <a:pt x="21462" y="73151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92124" y="147523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59347" y="0"/>
                  </a:moveTo>
                  <a:lnTo>
                    <a:pt x="21424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24" y="73151"/>
                  </a:lnTo>
                  <a:lnTo>
                    <a:pt x="59347" y="73151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47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92124" y="147523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59">
                  <a:moveTo>
                    <a:pt x="0" y="21462"/>
                  </a:moveTo>
                  <a:lnTo>
                    <a:pt x="21424" y="0"/>
                  </a:lnTo>
                  <a:lnTo>
                    <a:pt x="59347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47" y="73151"/>
                  </a:lnTo>
                  <a:lnTo>
                    <a:pt x="21424" y="73151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7828" y="1691640"/>
              <a:ext cx="89914" cy="822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8223" y="1728216"/>
              <a:ext cx="88390" cy="8229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223" y="1839468"/>
              <a:ext cx="88390" cy="8229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8619" y="1728216"/>
              <a:ext cx="88392" cy="822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7848" y="1616963"/>
              <a:ext cx="89914" cy="8382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8619" y="1839468"/>
              <a:ext cx="88392" cy="822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828" y="1801368"/>
              <a:ext cx="89914" cy="838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72539" y="191719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59309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62" y="73152"/>
                  </a:lnTo>
                  <a:lnTo>
                    <a:pt x="59309" y="73152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272539" y="1917191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0" y="21462"/>
                  </a:moveTo>
                  <a:lnTo>
                    <a:pt x="21462" y="0"/>
                  </a:lnTo>
                  <a:lnTo>
                    <a:pt x="59309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09" y="73152"/>
                  </a:lnTo>
                  <a:lnTo>
                    <a:pt x="21462" y="73152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513331" y="1953768"/>
              <a:ext cx="79375" cy="73660"/>
            </a:xfrm>
            <a:custGeom>
              <a:avLst/>
              <a:gdLst/>
              <a:ahLst/>
              <a:cxnLst/>
              <a:rect l="l" t="t" r="r" b="b"/>
              <a:pathLst>
                <a:path w="79375" h="73660">
                  <a:moveTo>
                    <a:pt x="57784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9"/>
                  </a:lnTo>
                  <a:lnTo>
                    <a:pt x="21462" y="73152"/>
                  </a:lnTo>
                  <a:lnTo>
                    <a:pt x="57784" y="73152"/>
                  </a:lnTo>
                  <a:lnTo>
                    <a:pt x="79248" y="51689"/>
                  </a:lnTo>
                  <a:lnTo>
                    <a:pt x="79248" y="21462"/>
                  </a:lnTo>
                  <a:lnTo>
                    <a:pt x="57784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513331" y="1953768"/>
              <a:ext cx="79375" cy="73660"/>
            </a:xfrm>
            <a:custGeom>
              <a:avLst/>
              <a:gdLst/>
              <a:ahLst/>
              <a:cxnLst/>
              <a:rect l="l" t="t" r="r" b="b"/>
              <a:pathLst>
                <a:path w="79375" h="73660">
                  <a:moveTo>
                    <a:pt x="0" y="21462"/>
                  </a:moveTo>
                  <a:lnTo>
                    <a:pt x="21462" y="0"/>
                  </a:lnTo>
                  <a:lnTo>
                    <a:pt x="57784" y="0"/>
                  </a:lnTo>
                  <a:lnTo>
                    <a:pt x="79248" y="21462"/>
                  </a:lnTo>
                  <a:lnTo>
                    <a:pt x="79248" y="51689"/>
                  </a:lnTo>
                  <a:lnTo>
                    <a:pt x="57784" y="73152"/>
                  </a:lnTo>
                  <a:lnTo>
                    <a:pt x="21462" y="73152"/>
                  </a:lnTo>
                  <a:lnTo>
                    <a:pt x="0" y="51689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392936" y="2026919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57403" y="0"/>
                  </a:moveTo>
                  <a:lnTo>
                    <a:pt x="21843" y="0"/>
                  </a:lnTo>
                  <a:lnTo>
                    <a:pt x="0" y="21843"/>
                  </a:lnTo>
                  <a:lnTo>
                    <a:pt x="0" y="52831"/>
                  </a:lnTo>
                  <a:lnTo>
                    <a:pt x="21843" y="74675"/>
                  </a:lnTo>
                  <a:lnTo>
                    <a:pt x="57403" y="74675"/>
                  </a:lnTo>
                  <a:lnTo>
                    <a:pt x="79247" y="52831"/>
                  </a:lnTo>
                  <a:lnTo>
                    <a:pt x="79247" y="21843"/>
                  </a:lnTo>
                  <a:lnTo>
                    <a:pt x="5740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392936" y="2026919"/>
              <a:ext cx="79375" cy="74930"/>
            </a:xfrm>
            <a:custGeom>
              <a:avLst/>
              <a:gdLst/>
              <a:ahLst/>
              <a:cxnLst/>
              <a:rect l="l" t="t" r="r" b="b"/>
              <a:pathLst>
                <a:path w="79375" h="74930">
                  <a:moveTo>
                    <a:pt x="0" y="21843"/>
                  </a:moveTo>
                  <a:lnTo>
                    <a:pt x="21843" y="0"/>
                  </a:lnTo>
                  <a:lnTo>
                    <a:pt x="57403" y="0"/>
                  </a:lnTo>
                  <a:lnTo>
                    <a:pt x="79247" y="21843"/>
                  </a:lnTo>
                  <a:lnTo>
                    <a:pt x="79247" y="52831"/>
                  </a:lnTo>
                  <a:lnTo>
                    <a:pt x="57403" y="74675"/>
                  </a:lnTo>
                  <a:lnTo>
                    <a:pt x="21843" y="74675"/>
                  </a:lnTo>
                  <a:lnTo>
                    <a:pt x="0" y="52831"/>
                  </a:lnTo>
                  <a:lnTo>
                    <a:pt x="0" y="218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7967" y="2097024"/>
              <a:ext cx="89914" cy="8229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432560" y="2101596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59309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62" y="73151"/>
                  </a:lnTo>
                  <a:lnTo>
                    <a:pt x="59309" y="73151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432560" y="2101596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0" y="21462"/>
                  </a:moveTo>
                  <a:lnTo>
                    <a:pt x="21462" y="0"/>
                  </a:lnTo>
                  <a:lnTo>
                    <a:pt x="59309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09" y="73151"/>
                  </a:lnTo>
                  <a:lnTo>
                    <a:pt x="21462" y="73151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272539" y="1990344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80" h="74930">
                  <a:moveTo>
                    <a:pt x="58928" y="0"/>
                  </a:moveTo>
                  <a:lnTo>
                    <a:pt x="21843" y="0"/>
                  </a:lnTo>
                  <a:lnTo>
                    <a:pt x="0" y="21843"/>
                  </a:lnTo>
                  <a:lnTo>
                    <a:pt x="0" y="52831"/>
                  </a:lnTo>
                  <a:lnTo>
                    <a:pt x="21843" y="74675"/>
                  </a:lnTo>
                  <a:lnTo>
                    <a:pt x="58928" y="74675"/>
                  </a:lnTo>
                  <a:lnTo>
                    <a:pt x="80772" y="52831"/>
                  </a:lnTo>
                  <a:lnTo>
                    <a:pt x="80772" y="21843"/>
                  </a:lnTo>
                  <a:lnTo>
                    <a:pt x="58928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272539" y="1990344"/>
              <a:ext cx="81280" cy="74930"/>
            </a:xfrm>
            <a:custGeom>
              <a:avLst/>
              <a:gdLst/>
              <a:ahLst/>
              <a:cxnLst/>
              <a:rect l="l" t="t" r="r" b="b"/>
              <a:pathLst>
                <a:path w="81280" h="74930">
                  <a:moveTo>
                    <a:pt x="0" y="52831"/>
                  </a:moveTo>
                  <a:lnTo>
                    <a:pt x="21843" y="74675"/>
                  </a:lnTo>
                  <a:lnTo>
                    <a:pt x="58928" y="74675"/>
                  </a:lnTo>
                  <a:lnTo>
                    <a:pt x="80772" y="52831"/>
                  </a:lnTo>
                  <a:lnTo>
                    <a:pt x="80772" y="21843"/>
                  </a:lnTo>
                  <a:lnTo>
                    <a:pt x="58928" y="0"/>
                  </a:lnTo>
                  <a:lnTo>
                    <a:pt x="21843" y="0"/>
                  </a:lnTo>
                  <a:lnTo>
                    <a:pt x="0" y="21843"/>
                  </a:lnTo>
                  <a:lnTo>
                    <a:pt x="0" y="52831"/>
                  </a:lnTo>
                  <a:close/>
                </a:path>
              </a:pathLst>
            </a:custGeom>
            <a:ln w="91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432560" y="1880616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59309" y="0"/>
                  </a:moveTo>
                  <a:lnTo>
                    <a:pt x="21462" y="0"/>
                  </a:lnTo>
                  <a:lnTo>
                    <a:pt x="0" y="21462"/>
                  </a:lnTo>
                  <a:lnTo>
                    <a:pt x="0" y="51688"/>
                  </a:lnTo>
                  <a:lnTo>
                    <a:pt x="21462" y="73151"/>
                  </a:lnTo>
                  <a:lnTo>
                    <a:pt x="59309" y="73151"/>
                  </a:lnTo>
                  <a:lnTo>
                    <a:pt x="80772" y="51688"/>
                  </a:lnTo>
                  <a:lnTo>
                    <a:pt x="80772" y="21462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432560" y="1880616"/>
              <a:ext cx="81280" cy="73660"/>
            </a:xfrm>
            <a:custGeom>
              <a:avLst/>
              <a:gdLst/>
              <a:ahLst/>
              <a:cxnLst/>
              <a:rect l="l" t="t" r="r" b="b"/>
              <a:pathLst>
                <a:path w="81280" h="73660">
                  <a:moveTo>
                    <a:pt x="0" y="21462"/>
                  </a:moveTo>
                  <a:lnTo>
                    <a:pt x="21462" y="0"/>
                  </a:lnTo>
                  <a:lnTo>
                    <a:pt x="59309" y="0"/>
                  </a:lnTo>
                  <a:lnTo>
                    <a:pt x="80772" y="21462"/>
                  </a:lnTo>
                  <a:lnTo>
                    <a:pt x="80772" y="51688"/>
                  </a:lnTo>
                  <a:lnTo>
                    <a:pt x="59309" y="73151"/>
                  </a:lnTo>
                  <a:lnTo>
                    <a:pt x="21462" y="73151"/>
                  </a:lnTo>
                  <a:lnTo>
                    <a:pt x="0" y="51688"/>
                  </a:lnTo>
                  <a:lnTo>
                    <a:pt x="0" y="214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14400" y="2209800"/>
              <a:ext cx="2133600" cy="990600"/>
            </a:xfrm>
            <a:custGeom>
              <a:avLst/>
              <a:gdLst/>
              <a:ahLst/>
              <a:cxnLst/>
              <a:rect l="l" t="t" r="r" b="b"/>
              <a:pathLst>
                <a:path w="2133600" h="990600">
                  <a:moveTo>
                    <a:pt x="0" y="0"/>
                  </a:moveTo>
                  <a:lnTo>
                    <a:pt x="2133600" y="99060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768983" y="2431922"/>
              <a:ext cx="910590" cy="551180"/>
            </a:xfrm>
            <a:custGeom>
              <a:avLst/>
              <a:gdLst/>
              <a:ahLst/>
              <a:cxnLst/>
              <a:rect l="l" t="t" r="r" b="b"/>
              <a:pathLst>
                <a:path w="910589" h="551180">
                  <a:moveTo>
                    <a:pt x="138176" y="53340"/>
                  </a:moveTo>
                  <a:lnTo>
                    <a:pt x="137160" y="46990"/>
                  </a:lnTo>
                  <a:lnTo>
                    <a:pt x="135128" y="39370"/>
                  </a:lnTo>
                  <a:lnTo>
                    <a:pt x="129921" y="30480"/>
                  </a:lnTo>
                  <a:lnTo>
                    <a:pt x="125857" y="25400"/>
                  </a:lnTo>
                  <a:lnTo>
                    <a:pt x="122809" y="21590"/>
                  </a:lnTo>
                  <a:lnTo>
                    <a:pt x="113665" y="13970"/>
                  </a:lnTo>
                  <a:lnTo>
                    <a:pt x="102616" y="7620"/>
                  </a:lnTo>
                  <a:lnTo>
                    <a:pt x="88900" y="2540"/>
                  </a:lnTo>
                  <a:lnTo>
                    <a:pt x="75438" y="0"/>
                  </a:lnTo>
                  <a:lnTo>
                    <a:pt x="37465" y="11430"/>
                  </a:lnTo>
                  <a:lnTo>
                    <a:pt x="8763" y="48260"/>
                  </a:lnTo>
                  <a:lnTo>
                    <a:pt x="0" y="91440"/>
                  </a:lnTo>
                  <a:lnTo>
                    <a:pt x="2794" y="104140"/>
                  </a:lnTo>
                  <a:lnTo>
                    <a:pt x="25527" y="135890"/>
                  </a:lnTo>
                  <a:lnTo>
                    <a:pt x="67818" y="149860"/>
                  </a:lnTo>
                  <a:lnTo>
                    <a:pt x="77343" y="148590"/>
                  </a:lnTo>
                  <a:lnTo>
                    <a:pt x="112014" y="125730"/>
                  </a:lnTo>
                  <a:lnTo>
                    <a:pt x="109220" y="123190"/>
                  </a:lnTo>
                  <a:lnTo>
                    <a:pt x="90043" y="105410"/>
                  </a:lnTo>
                  <a:lnTo>
                    <a:pt x="61976" y="123190"/>
                  </a:lnTo>
                  <a:lnTo>
                    <a:pt x="54864" y="123190"/>
                  </a:lnTo>
                  <a:lnTo>
                    <a:pt x="47879" y="119380"/>
                  </a:lnTo>
                  <a:lnTo>
                    <a:pt x="28448" y="90170"/>
                  </a:lnTo>
                  <a:lnTo>
                    <a:pt x="29337" y="81280"/>
                  </a:lnTo>
                  <a:lnTo>
                    <a:pt x="48768" y="39370"/>
                  </a:lnTo>
                  <a:lnTo>
                    <a:pt x="76200" y="25400"/>
                  </a:lnTo>
                  <a:lnTo>
                    <a:pt x="83439" y="26670"/>
                  </a:lnTo>
                  <a:lnTo>
                    <a:pt x="90678" y="29210"/>
                  </a:lnTo>
                  <a:lnTo>
                    <a:pt x="109728" y="57150"/>
                  </a:lnTo>
                  <a:lnTo>
                    <a:pt x="108077" y="64770"/>
                  </a:lnTo>
                  <a:lnTo>
                    <a:pt x="137287" y="69850"/>
                  </a:lnTo>
                  <a:lnTo>
                    <a:pt x="138176" y="62230"/>
                  </a:lnTo>
                  <a:lnTo>
                    <a:pt x="138176" y="53340"/>
                  </a:lnTo>
                  <a:close/>
                </a:path>
                <a:path w="910589" h="551180">
                  <a:moveTo>
                    <a:pt x="202311" y="57150"/>
                  </a:moveTo>
                  <a:lnTo>
                    <a:pt x="177038" y="44450"/>
                  </a:lnTo>
                  <a:lnTo>
                    <a:pt x="115697" y="176530"/>
                  </a:lnTo>
                  <a:lnTo>
                    <a:pt x="140970" y="187960"/>
                  </a:lnTo>
                  <a:lnTo>
                    <a:pt x="202311" y="57150"/>
                  </a:lnTo>
                  <a:close/>
                </a:path>
                <a:path w="910589" h="551180">
                  <a:moveTo>
                    <a:pt x="297434" y="144780"/>
                  </a:moveTo>
                  <a:lnTo>
                    <a:pt x="272161" y="133350"/>
                  </a:lnTo>
                  <a:lnTo>
                    <a:pt x="253492" y="173990"/>
                  </a:lnTo>
                  <a:lnTo>
                    <a:pt x="245237" y="190500"/>
                  </a:lnTo>
                  <a:lnTo>
                    <a:pt x="242062" y="195580"/>
                  </a:lnTo>
                  <a:lnTo>
                    <a:pt x="239522" y="198120"/>
                  </a:lnTo>
                  <a:lnTo>
                    <a:pt x="236728" y="201930"/>
                  </a:lnTo>
                  <a:lnTo>
                    <a:pt x="233045" y="203200"/>
                  </a:lnTo>
                  <a:lnTo>
                    <a:pt x="224028" y="204470"/>
                  </a:lnTo>
                  <a:lnTo>
                    <a:pt x="219583" y="204470"/>
                  </a:lnTo>
                  <a:lnTo>
                    <a:pt x="215265" y="201930"/>
                  </a:lnTo>
                  <a:lnTo>
                    <a:pt x="204978" y="189230"/>
                  </a:lnTo>
                  <a:lnTo>
                    <a:pt x="205486" y="185420"/>
                  </a:lnTo>
                  <a:lnTo>
                    <a:pt x="235966" y="116840"/>
                  </a:lnTo>
                  <a:lnTo>
                    <a:pt x="210693" y="104140"/>
                  </a:lnTo>
                  <a:lnTo>
                    <a:pt x="178435" y="173990"/>
                  </a:lnTo>
                  <a:lnTo>
                    <a:pt x="176276" y="181610"/>
                  </a:lnTo>
                  <a:lnTo>
                    <a:pt x="196977" y="217170"/>
                  </a:lnTo>
                  <a:lnTo>
                    <a:pt x="209931" y="220980"/>
                  </a:lnTo>
                  <a:lnTo>
                    <a:pt x="223901" y="220980"/>
                  </a:lnTo>
                  <a:lnTo>
                    <a:pt x="230378" y="218440"/>
                  </a:lnTo>
                  <a:lnTo>
                    <a:pt x="236220" y="214630"/>
                  </a:lnTo>
                  <a:lnTo>
                    <a:pt x="229616" y="229870"/>
                  </a:lnTo>
                  <a:lnTo>
                    <a:pt x="252984" y="240030"/>
                  </a:lnTo>
                  <a:lnTo>
                    <a:pt x="264795" y="214630"/>
                  </a:lnTo>
                  <a:lnTo>
                    <a:pt x="269621" y="204470"/>
                  </a:lnTo>
                  <a:lnTo>
                    <a:pt x="297434" y="144780"/>
                  </a:lnTo>
                  <a:close/>
                </a:path>
                <a:path w="910589" h="551180">
                  <a:moveTo>
                    <a:pt x="389890" y="209550"/>
                  </a:moveTo>
                  <a:lnTo>
                    <a:pt x="389382" y="204470"/>
                  </a:lnTo>
                  <a:lnTo>
                    <a:pt x="389382" y="203200"/>
                  </a:lnTo>
                  <a:lnTo>
                    <a:pt x="387731" y="196850"/>
                  </a:lnTo>
                  <a:lnTo>
                    <a:pt x="358902" y="171450"/>
                  </a:lnTo>
                  <a:lnTo>
                    <a:pt x="331851" y="163830"/>
                  </a:lnTo>
                  <a:lnTo>
                    <a:pt x="302768" y="189230"/>
                  </a:lnTo>
                  <a:lnTo>
                    <a:pt x="302387" y="194310"/>
                  </a:lnTo>
                  <a:lnTo>
                    <a:pt x="327025" y="228600"/>
                  </a:lnTo>
                  <a:lnTo>
                    <a:pt x="339344" y="238760"/>
                  </a:lnTo>
                  <a:lnTo>
                    <a:pt x="343281" y="241300"/>
                  </a:lnTo>
                  <a:lnTo>
                    <a:pt x="345567" y="243840"/>
                  </a:lnTo>
                  <a:lnTo>
                    <a:pt x="346837" y="247650"/>
                  </a:lnTo>
                  <a:lnTo>
                    <a:pt x="346710" y="250190"/>
                  </a:lnTo>
                  <a:lnTo>
                    <a:pt x="344551" y="254000"/>
                  </a:lnTo>
                  <a:lnTo>
                    <a:pt x="342392" y="256540"/>
                  </a:lnTo>
                  <a:lnTo>
                    <a:pt x="335026" y="257810"/>
                  </a:lnTo>
                  <a:lnTo>
                    <a:pt x="329565" y="256540"/>
                  </a:lnTo>
                  <a:lnTo>
                    <a:pt x="322961" y="254000"/>
                  </a:lnTo>
                  <a:lnTo>
                    <a:pt x="313055" y="247650"/>
                  </a:lnTo>
                  <a:lnTo>
                    <a:pt x="311023" y="242570"/>
                  </a:lnTo>
                  <a:lnTo>
                    <a:pt x="308864" y="238760"/>
                  </a:lnTo>
                  <a:lnTo>
                    <a:pt x="308356" y="233680"/>
                  </a:lnTo>
                  <a:lnTo>
                    <a:pt x="309626" y="228600"/>
                  </a:lnTo>
                  <a:lnTo>
                    <a:pt x="282575" y="220980"/>
                  </a:lnTo>
                  <a:lnTo>
                    <a:pt x="281813" y="228600"/>
                  </a:lnTo>
                  <a:lnTo>
                    <a:pt x="282321" y="236220"/>
                  </a:lnTo>
                  <a:lnTo>
                    <a:pt x="284226" y="242570"/>
                  </a:lnTo>
                  <a:lnTo>
                    <a:pt x="314452" y="271780"/>
                  </a:lnTo>
                  <a:lnTo>
                    <a:pt x="334391" y="278130"/>
                  </a:lnTo>
                  <a:lnTo>
                    <a:pt x="343281" y="278130"/>
                  </a:lnTo>
                  <a:lnTo>
                    <a:pt x="373761" y="257810"/>
                  </a:lnTo>
                  <a:lnTo>
                    <a:pt x="376428" y="251460"/>
                  </a:lnTo>
                  <a:lnTo>
                    <a:pt x="376809" y="245110"/>
                  </a:lnTo>
                  <a:lnTo>
                    <a:pt x="373634" y="237490"/>
                  </a:lnTo>
                  <a:lnTo>
                    <a:pt x="370332" y="232410"/>
                  </a:lnTo>
                  <a:lnTo>
                    <a:pt x="365379" y="226060"/>
                  </a:lnTo>
                  <a:lnTo>
                    <a:pt x="358902" y="219710"/>
                  </a:lnTo>
                  <a:lnTo>
                    <a:pt x="342646" y="207010"/>
                  </a:lnTo>
                  <a:lnTo>
                    <a:pt x="329184" y="191770"/>
                  </a:lnTo>
                  <a:lnTo>
                    <a:pt x="331089" y="187960"/>
                  </a:lnTo>
                  <a:lnTo>
                    <a:pt x="332740" y="185420"/>
                  </a:lnTo>
                  <a:lnTo>
                    <a:pt x="339090" y="185420"/>
                  </a:lnTo>
                  <a:lnTo>
                    <a:pt x="364236" y="204470"/>
                  </a:lnTo>
                  <a:lnTo>
                    <a:pt x="363474" y="209550"/>
                  </a:lnTo>
                  <a:lnTo>
                    <a:pt x="389255" y="215900"/>
                  </a:lnTo>
                  <a:lnTo>
                    <a:pt x="389890" y="209550"/>
                  </a:lnTo>
                  <a:close/>
                </a:path>
                <a:path w="910589" h="551180">
                  <a:moveTo>
                    <a:pt x="469011" y="224790"/>
                  </a:moveTo>
                  <a:lnTo>
                    <a:pt x="451866" y="217170"/>
                  </a:lnTo>
                  <a:lnTo>
                    <a:pt x="457073" y="205740"/>
                  </a:lnTo>
                  <a:lnTo>
                    <a:pt x="467487" y="182880"/>
                  </a:lnTo>
                  <a:lnTo>
                    <a:pt x="435356" y="186690"/>
                  </a:lnTo>
                  <a:lnTo>
                    <a:pt x="426593" y="205740"/>
                  </a:lnTo>
                  <a:lnTo>
                    <a:pt x="414909" y="199390"/>
                  </a:lnTo>
                  <a:lnTo>
                    <a:pt x="405638" y="219710"/>
                  </a:lnTo>
                  <a:lnTo>
                    <a:pt x="417195" y="226060"/>
                  </a:lnTo>
                  <a:lnTo>
                    <a:pt x="397764" y="266700"/>
                  </a:lnTo>
                  <a:lnTo>
                    <a:pt x="388874" y="290830"/>
                  </a:lnTo>
                  <a:lnTo>
                    <a:pt x="388874" y="292100"/>
                  </a:lnTo>
                  <a:lnTo>
                    <a:pt x="405765" y="313690"/>
                  </a:lnTo>
                  <a:lnTo>
                    <a:pt x="413258" y="317500"/>
                  </a:lnTo>
                  <a:lnTo>
                    <a:pt x="420370" y="320040"/>
                  </a:lnTo>
                  <a:lnTo>
                    <a:pt x="427482" y="320040"/>
                  </a:lnTo>
                  <a:lnTo>
                    <a:pt x="434467" y="299720"/>
                  </a:lnTo>
                  <a:lnTo>
                    <a:pt x="429260" y="298450"/>
                  </a:lnTo>
                  <a:lnTo>
                    <a:pt x="425450" y="298450"/>
                  </a:lnTo>
                  <a:lnTo>
                    <a:pt x="423164" y="297180"/>
                  </a:lnTo>
                  <a:lnTo>
                    <a:pt x="421513" y="295910"/>
                  </a:lnTo>
                  <a:lnTo>
                    <a:pt x="420243" y="294640"/>
                  </a:lnTo>
                  <a:lnTo>
                    <a:pt x="418719" y="292100"/>
                  </a:lnTo>
                  <a:lnTo>
                    <a:pt x="418465" y="290830"/>
                  </a:lnTo>
                  <a:lnTo>
                    <a:pt x="418973" y="288290"/>
                  </a:lnTo>
                  <a:lnTo>
                    <a:pt x="420878" y="283210"/>
                  </a:lnTo>
                  <a:lnTo>
                    <a:pt x="442468" y="237490"/>
                  </a:lnTo>
                  <a:lnTo>
                    <a:pt x="459740" y="245110"/>
                  </a:lnTo>
                  <a:lnTo>
                    <a:pt x="463169" y="237490"/>
                  </a:lnTo>
                  <a:lnTo>
                    <a:pt x="469011" y="224790"/>
                  </a:lnTo>
                  <a:close/>
                </a:path>
                <a:path w="910589" h="551180">
                  <a:moveTo>
                    <a:pt x="552069" y="288290"/>
                  </a:moveTo>
                  <a:lnTo>
                    <a:pt x="533146" y="254000"/>
                  </a:lnTo>
                  <a:lnTo>
                    <a:pt x="528320" y="250825"/>
                  </a:lnTo>
                  <a:lnTo>
                    <a:pt x="528320" y="284480"/>
                  </a:lnTo>
                  <a:lnTo>
                    <a:pt x="527558" y="292100"/>
                  </a:lnTo>
                  <a:lnTo>
                    <a:pt x="524383" y="298450"/>
                  </a:lnTo>
                  <a:lnTo>
                    <a:pt x="521462" y="297180"/>
                  </a:lnTo>
                  <a:lnTo>
                    <a:pt x="486664" y="281940"/>
                  </a:lnTo>
                  <a:lnTo>
                    <a:pt x="489839" y="274320"/>
                  </a:lnTo>
                  <a:lnTo>
                    <a:pt x="494157" y="270510"/>
                  </a:lnTo>
                  <a:lnTo>
                    <a:pt x="505079" y="265430"/>
                  </a:lnTo>
                  <a:lnTo>
                    <a:pt x="510540" y="265430"/>
                  </a:lnTo>
                  <a:lnTo>
                    <a:pt x="521208" y="270510"/>
                  </a:lnTo>
                  <a:lnTo>
                    <a:pt x="524637" y="274320"/>
                  </a:lnTo>
                  <a:lnTo>
                    <a:pt x="526415" y="279400"/>
                  </a:lnTo>
                  <a:lnTo>
                    <a:pt x="528320" y="284480"/>
                  </a:lnTo>
                  <a:lnTo>
                    <a:pt x="528320" y="250825"/>
                  </a:lnTo>
                  <a:lnTo>
                    <a:pt x="523494" y="247650"/>
                  </a:lnTo>
                  <a:lnTo>
                    <a:pt x="514096" y="243840"/>
                  </a:lnTo>
                  <a:lnTo>
                    <a:pt x="504698" y="242570"/>
                  </a:lnTo>
                  <a:lnTo>
                    <a:pt x="469138" y="257810"/>
                  </a:lnTo>
                  <a:lnTo>
                    <a:pt x="450088" y="297180"/>
                  </a:lnTo>
                  <a:lnTo>
                    <a:pt x="449453" y="306070"/>
                  </a:lnTo>
                  <a:lnTo>
                    <a:pt x="450342" y="314960"/>
                  </a:lnTo>
                  <a:lnTo>
                    <a:pt x="479552" y="347980"/>
                  </a:lnTo>
                  <a:lnTo>
                    <a:pt x="502031" y="354330"/>
                  </a:lnTo>
                  <a:lnTo>
                    <a:pt x="515747" y="351790"/>
                  </a:lnTo>
                  <a:lnTo>
                    <a:pt x="522224" y="349250"/>
                  </a:lnTo>
                  <a:lnTo>
                    <a:pt x="528320" y="345440"/>
                  </a:lnTo>
                  <a:lnTo>
                    <a:pt x="534162" y="340360"/>
                  </a:lnTo>
                  <a:lnTo>
                    <a:pt x="523494" y="332740"/>
                  </a:lnTo>
                  <a:lnTo>
                    <a:pt x="511048" y="323850"/>
                  </a:lnTo>
                  <a:lnTo>
                    <a:pt x="507365" y="327660"/>
                  </a:lnTo>
                  <a:lnTo>
                    <a:pt x="503809" y="330200"/>
                  </a:lnTo>
                  <a:lnTo>
                    <a:pt x="496316" y="332740"/>
                  </a:lnTo>
                  <a:lnTo>
                    <a:pt x="488569" y="330200"/>
                  </a:lnTo>
                  <a:lnTo>
                    <a:pt x="482854" y="327660"/>
                  </a:lnTo>
                  <a:lnTo>
                    <a:pt x="478917" y="322580"/>
                  </a:lnTo>
                  <a:lnTo>
                    <a:pt x="477012" y="316230"/>
                  </a:lnTo>
                  <a:lnTo>
                    <a:pt x="474980" y="311150"/>
                  </a:lnTo>
                  <a:lnTo>
                    <a:pt x="475742" y="303530"/>
                  </a:lnTo>
                  <a:lnTo>
                    <a:pt x="479044" y="297180"/>
                  </a:lnTo>
                  <a:lnTo>
                    <a:pt x="542163" y="326390"/>
                  </a:lnTo>
                  <a:lnTo>
                    <a:pt x="548005" y="312420"/>
                  </a:lnTo>
                  <a:lnTo>
                    <a:pt x="551307" y="299720"/>
                  </a:lnTo>
                  <a:lnTo>
                    <a:pt x="551434" y="298450"/>
                  </a:lnTo>
                  <a:lnTo>
                    <a:pt x="551434" y="297180"/>
                  </a:lnTo>
                  <a:lnTo>
                    <a:pt x="551688" y="294640"/>
                  </a:lnTo>
                  <a:lnTo>
                    <a:pt x="551688" y="293370"/>
                  </a:lnTo>
                  <a:lnTo>
                    <a:pt x="552069" y="289560"/>
                  </a:lnTo>
                  <a:lnTo>
                    <a:pt x="552069" y="288290"/>
                  </a:lnTo>
                  <a:close/>
                </a:path>
                <a:path w="910589" h="551180">
                  <a:moveTo>
                    <a:pt x="647827" y="311150"/>
                  </a:moveTo>
                  <a:lnTo>
                    <a:pt x="643890" y="306070"/>
                  </a:lnTo>
                  <a:lnTo>
                    <a:pt x="642366" y="304800"/>
                  </a:lnTo>
                  <a:lnTo>
                    <a:pt x="639191" y="302260"/>
                  </a:lnTo>
                  <a:lnTo>
                    <a:pt x="633349" y="299720"/>
                  </a:lnTo>
                  <a:lnTo>
                    <a:pt x="629285" y="297180"/>
                  </a:lnTo>
                  <a:lnTo>
                    <a:pt x="616966" y="297180"/>
                  </a:lnTo>
                  <a:lnTo>
                    <a:pt x="611378" y="299720"/>
                  </a:lnTo>
                  <a:lnTo>
                    <a:pt x="604393" y="304800"/>
                  </a:lnTo>
                  <a:lnTo>
                    <a:pt x="610743" y="290830"/>
                  </a:lnTo>
                  <a:lnTo>
                    <a:pt x="587248" y="280670"/>
                  </a:lnTo>
                  <a:lnTo>
                    <a:pt x="542798" y="375920"/>
                  </a:lnTo>
                  <a:lnTo>
                    <a:pt x="568071" y="387350"/>
                  </a:lnTo>
                  <a:lnTo>
                    <a:pt x="587121" y="346710"/>
                  </a:lnTo>
                  <a:lnTo>
                    <a:pt x="591693" y="337820"/>
                  </a:lnTo>
                  <a:lnTo>
                    <a:pt x="609473" y="318770"/>
                  </a:lnTo>
                  <a:lnTo>
                    <a:pt x="616331" y="318770"/>
                  </a:lnTo>
                  <a:lnTo>
                    <a:pt x="623443" y="322580"/>
                  </a:lnTo>
                  <a:lnTo>
                    <a:pt x="626745" y="325120"/>
                  </a:lnTo>
                  <a:lnTo>
                    <a:pt x="629666" y="330200"/>
                  </a:lnTo>
                  <a:lnTo>
                    <a:pt x="640588" y="318770"/>
                  </a:lnTo>
                  <a:lnTo>
                    <a:pt x="647827" y="311150"/>
                  </a:lnTo>
                  <a:close/>
                </a:path>
                <a:path w="910589" h="551180">
                  <a:moveTo>
                    <a:pt x="685419" y="326390"/>
                  </a:moveTo>
                  <a:lnTo>
                    <a:pt x="660146" y="313690"/>
                  </a:lnTo>
                  <a:lnTo>
                    <a:pt x="615696" y="408940"/>
                  </a:lnTo>
                  <a:lnTo>
                    <a:pt x="640969" y="421640"/>
                  </a:lnTo>
                  <a:lnTo>
                    <a:pt x="685419" y="326390"/>
                  </a:lnTo>
                  <a:close/>
                </a:path>
                <a:path w="910589" h="551180">
                  <a:moveTo>
                    <a:pt x="702310" y="289560"/>
                  </a:moveTo>
                  <a:lnTo>
                    <a:pt x="677037" y="278130"/>
                  </a:lnTo>
                  <a:lnTo>
                    <a:pt x="666242" y="300990"/>
                  </a:lnTo>
                  <a:lnTo>
                    <a:pt x="691388" y="312420"/>
                  </a:lnTo>
                  <a:lnTo>
                    <a:pt x="702310" y="289560"/>
                  </a:lnTo>
                  <a:close/>
                </a:path>
                <a:path w="910589" h="551180">
                  <a:moveTo>
                    <a:pt x="788543" y="388620"/>
                  </a:moveTo>
                  <a:lnTo>
                    <a:pt x="786765" y="379730"/>
                  </a:lnTo>
                  <a:lnTo>
                    <a:pt x="784479" y="375920"/>
                  </a:lnTo>
                  <a:lnTo>
                    <a:pt x="782066" y="373380"/>
                  </a:lnTo>
                  <a:lnTo>
                    <a:pt x="780796" y="372110"/>
                  </a:lnTo>
                  <a:lnTo>
                    <a:pt x="777113" y="367030"/>
                  </a:lnTo>
                  <a:lnTo>
                    <a:pt x="772414" y="364490"/>
                  </a:lnTo>
                  <a:lnTo>
                    <a:pt x="769620" y="363220"/>
                  </a:lnTo>
                  <a:lnTo>
                    <a:pt x="766953" y="361950"/>
                  </a:lnTo>
                  <a:lnTo>
                    <a:pt x="757428" y="358140"/>
                  </a:lnTo>
                  <a:lnTo>
                    <a:pt x="747649" y="356870"/>
                  </a:lnTo>
                  <a:lnTo>
                    <a:pt x="737870" y="359410"/>
                  </a:lnTo>
                  <a:lnTo>
                    <a:pt x="727964" y="363220"/>
                  </a:lnTo>
                  <a:lnTo>
                    <a:pt x="734568" y="349250"/>
                  </a:lnTo>
                  <a:lnTo>
                    <a:pt x="711073" y="337820"/>
                  </a:lnTo>
                  <a:lnTo>
                    <a:pt x="666623" y="433070"/>
                  </a:lnTo>
                  <a:lnTo>
                    <a:pt x="691896" y="444500"/>
                  </a:lnTo>
                  <a:lnTo>
                    <a:pt x="716915" y="391160"/>
                  </a:lnTo>
                  <a:lnTo>
                    <a:pt x="720979" y="384810"/>
                  </a:lnTo>
                  <a:lnTo>
                    <a:pt x="727329" y="377190"/>
                  </a:lnTo>
                  <a:lnTo>
                    <a:pt x="731139" y="375920"/>
                  </a:lnTo>
                  <a:lnTo>
                    <a:pt x="740283" y="373380"/>
                  </a:lnTo>
                  <a:lnTo>
                    <a:pt x="749173" y="375920"/>
                  </a:lnTo>
                  <a:lnTo>
                    <a:pt x="752475" y="378460"/>
                  </a:lnTo>
                  <a:lnTo>
                    <a:pt x="755015" y="379730"/>
                  </a:lnTo>
                  <a:lnTo>
                    <a:pt x="758317" y="386080"/>
                  </a:lnTo>
                  <a:lnTo>
                    <a:pt x="758952" y="388620"/>
                  </a:lnTo>
                  <a:lnTo>
                    <a:pt x="758317" y="396240"/>
                  </a:lnTo>
                  <a:lnTo>
                    <a:pt x="750951" y="414020"/>
                  </a:lnTo>
                  <a:lnTo>
                    <a:pt x="728345" y="462280"/>
                  </a:lnTo>
                  <a:lnTo>
                    <a:pt x="753491" y="473710"/>
                  </a:lnTo>
                  <a:lnTo>
                    <a:pt x="781177" y="414020"/>
                  </a:lnTo>
                  <a:lnTo>
                    <a:pt x="784606" y="407670"/>
                  </a:lnTo>
                  <a:lnTo>
                    <a:pt x="786765" y="401320"/>
                  </a:lnTo>
                  <a:lnTo>
                    <a:pt x="788543" y="392430"/>
                  </a:lnTo>
                  <a:lnTo>
                    <a:pt x="788543" y="388620"/>
                  </a:lnTo>
                  <a:close/>
                </a:path>
                <a:path w="910589" h="551180">
                  <a:moveTo>
                    <a:pt x="910463" y="430530"/>
                  </a:moveTo>
                  <a:lnTo>
                    <a:pt x="886841" y="420370"/>
                  </a:lnTo>
                  <a:lnTo>
                    <a:pt x="880618" y="433070"/>
                  </a:lnTo>
                  <a:lnTo>
                    <a:pt x="877697" y="424180"/>
                  </a:lnTo>
                  <a:lnTo>
                    <a:pt x="872998" y="415290"/>
                  </a:lnTo>
                  <a:lnTo>
                    <a:pt x="869061" y="411353"/>
                  </a:lnTo>
                  <a:lnTo>
                    <a:pt x="869061" y="445770"/>
                  </a:lnTo>
                  <a:lnTo>
                    <a:pt x="868553" y="452120"/>
                  </a:lnTo>
                  <a:lnTo>
                    <a:pt x="841248" y="486410"/>
                  </a:lnTo>
                  <a:lnTo>
                    <a:pt x="834898" y="486410"/>
                  </a:lnTo>
                  <a:lnTo>
                    <a:pt x="823087" y="481330"/>
                  </a:lnTo>
                  <a:lnTo>
                    <a:pt x="819277" y="476250"/>
                  </a:lnTo>
                  <a:lnTo>
                    <a:pt x="817626" y="469900"/>
                  </a:lnTo>
                  <a:lnTo>
                    <a:pt x="816864" y="464820"/>
                  </a:lnTo>
                  <a:lnTo>
                    <a:pt x="817372" y="458470"/>
                  </a:lnTo>
                  <a:lnTo>
                    <a:pt x="819150" y="452120"/>
                  </a:lnTo>
                  <a:lnTo>
                    <a:pt x="826516" y="435610"/>
                  </a:lnTo>
                  <a:lnTo>
                    <a:pt x="831850" y="429260"/>
                  </a:lnTo>
                  <a:lnTo>
                    <a:pt x="844042" y="424180"/>
                  </a:lnTo>
                  <a:lnTo>
                    <a:pt x="850138" y="424180"/>
                  </a:lnTo>
                  <a:lnTo>
                    <a:pt x="862330" y="429260"/>
                  </a:lnTo>
                  <a:lnTo>
                    <a:pt x="866394" y="434340"/>
                  </a:lnTo>
                  <a:lnTo>
                    <a:pt x="868299" y="440690"/>
                  </a:lnTo>
                  <a:lnTo>
                    <a:pt x="869061" y="445770"/>
                  </a:lnTo>
                  <a:lnTo>
                    <a:pt x="869061" y="411353"/>
                  </a:lnTo>
                  <a:lnTo>
                    <a:pt x="866648" y="408940"/>
                  </a:lnTo>
                  <a:lnTo>
                    <a:pt x="858647" y="403860"/>
                  </a:lnTo>
                  <a:lnTo>
                    <a:pt x="850011" y="401320"/>
                  </a:lnTo>
                  <a:lnTo>
                    <a:pt x="841502" y="400050"/>
                  </a:lnTo>
                  <a:lnTo>
                    <a:pt x="801497" y="424180"/>
                  </a:lnTo>
                  <a:lnTo>
                    <a:pt x="788797" y="462280"/>
                  </a:lnTo>
                  <a:lnTo>
                    <a:pt x="789432" y="471170"/>
                  </a:lnTo>
                  <a:lnTo>
                    <a:pt x="812292" y="501650"/>
                  </a:lnTo>
                  <a:lnTo>
                    <a:pt x="820928" y="504190"/>
                  </a:lnTo>
                  <a:lnTo>
                    <a:pt x="829818" y="504190"/>
                  </a:lnTo>
                  <a:lnTo>
                    <a:pt x="838835" y="502920"/>
                  </a:lnTo>
                  <a:lnTo>
                    <a:pt x="847979" y="499110"/>
                  </a:lnTo>
                  <a:lnTo>
                    <a:pt x="841502" y="513080"/>
                  </a:lnTo>
                  <a:lnTo>
                    <a:pt x="838962" y="518160"/>
                  </a:lnTo>
                  <a:lnTo>
                    <a:pt x="836676" y="521970"/>
                  </a:lnTo>
                  <a:lnTo>
                    <a:pt x="832485" y="525780"/>
                  </a:lnTo>
                  <a:lnTo>
                    <a:pt x="829818" y="528320"/>
                  </a:lnTo>
                  <a:lnTo>
                    <a:pt x="822706" y="528320"/>
                  </a:lnTo>
                  <a:lnTo>
                    <a:pt x="817372" y="527050"/>
                  </a:lnTo>
                  <a:lnTo>
                    <a:pt x="810768" y="524510"/>
                  </a:lnTo>
                  <a:lnTo>
                    <a:pt x="805688" y="521970"/>
                  </a:lnTo>
                  <a:lnTo>
                    <a:pt x="802259" y="519430"/>
                  </a:lnTo>
                  <a:lnTo>
                    <a:pt x="799592" y="514350"/>
                  </a:lnTo>
                  <a:lnTo>
                    <a:pt x="799592" y="511810"/>
                  </a:lnTo>
                  <a:lnTo>
                    <a:pt x="800608" y="508000"/>
                  </a:lnTo>
                  <a:lnTo>
                    <a:pt x="773430" y="490220"/>
                  </a:lnTo>
                  <a:lnTo>
                    <a:pt x="771906" y="494030"/>
                  </a:lnTo>
                  <a:lnTo>
                    <a:pt x="769747" y="500380"/>
                  </a:lnTo>
                  <a:lnTo>
                    <a:pt x="768985" y="506730"/>
                  </a:lnTo>
                  <a:lnTo>
                    <a:pt x="769874" y="513080"/>
                  </a:lnTo>
                  <a:lnTo>
                    <a:pt x="802767" y="543560"/>
                  </a:lnTo>
                  <a:lnTo>
                    <a:pt x="825246" y="551180"/>
                  </a:lnTo>
                  <a:lnTo>
                    <a:pt x="837311" y="551180"/>
                  </a:lnTo>
                  <a:lnTo>
                    <a:pt x="846963" y="548640"/>
                  </a:lnTo>
                  <a:lnTo>
                    <a:pt x="855980" y="541020"/>
                  </a:lnTo>
                  <a:lnTo>
                    <a:pt x="862965" y="530860"/>
                  </a:lnTo>
                  <a:lnTo>
                    <a:pt x="864489" y="528320"/>
                  </a:lnTo>
                  <a:lnTo>
                    <a:pt x="866775" y="524510"/>
                  </a:lnTo>
                  <a:lnTo>
                    <a:pt x="870585" y="516890"/>
                  </a:lnTo>
                  <a:lnTo>
                    <a:pt x="878840" y="499110"/>
                  </a:lnTo>
                  <a:lnTo>
                    <a:pt x="884682" y="486410"/>
                  </a:lnTo>
                  <a:lnTo>
                    <a:pt x="909320" y="433070"/>
                  </a:lnTo>
                  <a:lnTo>
                    <a:pt x="910463" y="43053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94103" y="4300956"/>
            <a:ext cx="1536192" cy="836828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4489703" y="2356104"/>
            <a:ext cx="4654550" cy="4044950"/>
            <a:chOff x="4489703" y="2356104"/>
            <a:chExt cx="4654550" cy="4044950"/>
          </a:xfrm>
        </p:grpSpPr>
        <p:sp>
          <p:nvSpPr>
            <p:cNvPr id="49" name="object 49"/>
            <p:cNvSpPr/>
            <p:nvPr/>
          </p:nvSpPr>
          <p:spPr>
            <a:xfrm>
              <a:off x="4495799" y="2362200"/>
              <a:ext cx="1828800" cy="1295400"/>
            </a:xfrm>
            <a:custGeom>
              <a:avLst/>
              <a:gdLst/>
              <a:ahLst/>
              <a:cxnLst/>
              <a:rect l="l" t="t" r="r" b="b"/>
              <a:pathLst>
                <a:path w="1828800" h="1295400">
                  <a:moveTo>
                    <a:pt x="0" y="1295400"/>
                  </a:moveTo>
                  <a:lnTo>
                    <a:pt x="1828800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0701" y="2602484"/>
              <a:ext cx="1624202" cy="11949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89703" y="4182745"/>
              <a:ext cx="1612391" cy="100495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91199" y="3429000"/>
              <a:ext cx="3352800" cy="29718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69507" y="4233672"/>
              <a:ext cx="156972" cy="15392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00159" y="5678424"/>
              <a:ext cx="155448" cy="15544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47331" y="5783580"/>
              <a:ext cx="156972" cy="153924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3502" y="5438101"/>
            <a:ext cx="556679" cy="791819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91795" y="5699861"/>
            <a:ext cx="4959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C0000"/>
                </a:solidFill>
                <a:latin typeface="Tahoma"/>
                <a:cs typeface="Tahoma"/>
              </a:rPr>
              <a:t>Milk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32175" y="2224862"/>
            <a:ext cx="7874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 b="1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24000" y="5257800"/>
            <a:ext cx="1362456" cy="1109472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915161" y="5839967"/>
            <a:ext cx="533400" cy="114300"/>
            <a:chOff x="915161" y="5839967"/>
            <a:chExt cx="533400" cy="114300"/>
          </a:xfrm>
        </p:grpSpPr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34261" y="5839967"/>
              <a:ext cx="76200" cy="114300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915162" y="5878067"/>
              <a:ext cx="533400" cy="38100"/>
            </a:xfrm>
            <a:custGeom>
              <a:avLst/>
              <a:gdLst/>
              <a:ahLst/>
              <a:cxnLst/>
              <a:rect l="l" t="t" r="r" b="b"/>
              <a:pathLst>
                <a:path w="533400" h="38100">
                  <a:moveTo>
                    <a:pt x="4191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19100" y="38100"/>
                  </a:lnTo>
                  <a:lnTo>
                    <a:pt x="419100" y="0"/>
                  </a:lnTo>
                  <a:close/>
                </a:path>
                <a:path w="533400" h="38100">
                  <a:moveTo>
                    <a:pt x="533400" y="19050"/>
                  </a:moveTo>
                  <a:lnTo>
                    <a:pt x="495300" y="0"/>
                  </a:lnTo>
                  <a:lnTo>
                    <a:pt x="438150" y="0"/>
                  </a:lnTo>
                  <a:lnTo>
                    <a:pt x="438150" y="38100"/>
                  </a:lnTo>
                  <a:lnTo>
                    <a:pt x="495300" y="38100"/>
                  </a:lnTo>
                  <a:lnTo>
                    <a:pt x="5334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Data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Mining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Tasks</a:t>
            </a:r>
            <a:r>
              <a:rPr dirty="0" spc="-35">
                <a:solidFill>
                  <a:srgbClr val="000000"/>
                </a:solidFill>
              </a:rPr>
              <a:t> </a:t>
            </a:r>
            <a:r>
              <a:rPr dirty="0" spc="-5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88695" y="961390"/>
            <a:ext cx="7800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Find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model</a:t>
            </a:r>
            <a:r>
              <a:rPr dirty="0" sz="2800" spc="20">
                <a:latin typeface="Arial MT"/>
                <a:cs typeface="Arial MT"/>
              </a:rPr>
              <a:t> 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class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attribute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function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596" y="1345437"/>
            <a:ext cx="4480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values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other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attributes</a:t>
            </a:r>
            <a:endParaRPr sz="28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4993" y="2760579"/>
          <a:ext cx="4432300" cy="1867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  <a:gridCol w="942975"/>
                <a:gridCol w="1205865"/>
                <a:gridCol w="1051559"/>
                <a:gridCol w="835660"/>
              </a:tblGrid>
              <a:tr h="570865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30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Employed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02565" marR="210820" indent="86360">
                        <a:lnSpc>
                          <a:spcPts val="1500"/>
                        </a:lnSpc>
                        <a:spcBef>
                          <a:spcPts val="79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3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Education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4305" marR="135890">
                        <a:lnSpc>
                          <a:spcPts val="1500"/>
                        </a:lnSpc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3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at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present 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34620" marR="132080" indent="43815">
                        <a:lnSpc>
                          <a:spcPts val="1500"/>
                        </a:lnSpc>
                        <a:spcBef>
                          <a:spcPts val="79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Worthy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Graduate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3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School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Undergrad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3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School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55524" y="4623053"/>
            <a:ext cx="31750" cy="40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5045" y="1621663"/>
            <a:ext cx="28803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1375" marR="5080" indent="-82931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Model</a:t>
            </a:r>
            <a:r>
              <a:rPr dirty="0" sz="18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dirty="0" sz="1800" spc="-5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0000"/>
                </a:solidFill>
                <a:latin typeface="Arial"/>
                <a:cs typeface="Arial"/>
              </a:rPr>
              <a:t>predicting</a:t>
            </a:r>
            <a:r>
              <a:rPr dirty="0" sz="1800" spc="-9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credit worthiness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3175" y="2400681"/>
            <a:ext cx="6991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2A8485"/>
                </a:solidFill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1890" y="2276729"/>
            <a:ext cx="4033266" cy="40464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35141" y="2432685"/>
            <a:ext cx="8045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Employed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9534" y="3559809"/>
            <a:ext cx="2457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 MT"/>
                <a:cs typeface="Arial MT"/>
              </a:rPr>
              <a:t>No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64273" y="3626358"/>
            <a:ext cx="8077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Education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18582" y="2930093"/>
            <a:ext cx="2457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 MT"/>
                <a:cs typeface="Arial MT"/>
              </a:rPr>
              <a:t>No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63333" y="2896616"/>
            <a:ext cx="3251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Arial MT"/>
                <a:cs typeface="Arial MT"/>
              </a:rPr>
              <a:t>Yes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06770" y="4097527"/>
            <a:ext cx="758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 MT"/>
                <a:cs typeface="Arial MT"/>
              </a:rPr>
              <a:t>Graduate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78090" y="3978402"/>
            <a:ext cx="10985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{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High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school, Undergrad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}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2143" y="5948273"/>
            <a:ext cx="325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Yes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37193" y="5948273"/>
            <a:ext cx="245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No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82382" y="4714747"/>
            <a:ext cx="1558290" cy="807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46075" marR="386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years</a:t>
            </a:r>
            <a:endParaRPr sz="1400">
              <a:latin typeface="Arial MT"/>
              <a:cs typeface="Arial MT"/>
            </a:endParaRPr>
          </a:p>
          <a:p>
            <a:pPr algn="ctr" marL="151130" indent="-151130">
              <a:lnSpc>
                <a:spcPct val="100000"/>
              </a:lnSpc>
              <a:spcBef>
                <a:spcPts val="1110"/>
              </a:spcBef>
              <a:buChar char="&gt;"/>
              <a:tabLst>
                <a:tab pos="151130" algn="l"/>
                <a:tab pos="1003935" algn="l"/>
              </a:tabLst>
            </a:pPr>
            <a:r>
              <a:rPr dirty="0" sz="1400">
                <a:latin typeface="Arial MT"/>
                <a:cs typeface="Arial MT"/>
              </a:rPr>
              <a:t>7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yrs</a:t>
            </a:r>
            <a:r>
              <a:rPr dirty="0" sz="1400">
                <a:latin typeface="Arial MT"/>
                <a:cs typeface="Arial MT"/>
              </a:rPr>
              <a:t>	&lt;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7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yrs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5684" y="5935167"/>
            <a:ext cx="3251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Yes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68771" y="4717541"/>
            <a:ext cx="84328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years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0175" y="5935167"/>
            <a:ext cx="245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 MT"/>
                <a:cs typeface="Arial MT"/>
              </a:rPr>
              <a:t>No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79897" y="5317997"/>
            <a:ext cx="4591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100"/>
              </a:spcBef>
              <a:buChar char="&gt;"/>
              <a:tabLst>
                <a:tab pos="164465" algn="l"/>
              </a:tabLst>
            </a:pPr>
            <a:r>
              <a:rPr dirty="0" sz="1400">
                <a:latin typeface="Arial MT"/>
                <a:cs typeface="Arial MT"/>
              </a:rPr>
              <a:t>3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yr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83782" y="5317997"/>
            <a:ext cx="4622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Arial MT"/>
                <a:cs typeface="Arial MT"/>
              </a:rPr>
              <a:t>&lt;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3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35">
                <a:latin typeface="Arial MT"/>
                <a:cs typeface="Arial MT"/>
              </a:rPr>
              <a:t>yr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458520" y="135127"/>
            <a:ext cx="70129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Predictive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Modeling:</a:t>
            </a:r>
            <a:r>
              <a:rPr dirty="0" spc="-10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Classification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Classification</a:t>
            </a:r>
            <a:r>
              <a:rPr dirty="0" spc="-2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Example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310" y="1469389"/>
            <a:ext cx="848690" cy="7696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2310" y="1469389"/>
            <a:ext cx="848740" cy="7696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4898" y="1471675"/>
            <a:ext cx="1343278" cy="76822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690104" y="3942588"/>
            <a:ext cx="1003300" cy="698500"/>
            <a:chOff x="7690104" y="3942588"/>
            <a:chExt cx="1003300" cy="698500"/>
          </a:xfrm>
        </p:grpSpPr>
        <p:sp>
          <p:nvSpPr>
            <p:cNvPr id="10" name="object 10"/>
            <p:cNvSpPr/>
            <p:nvPr/>
          </p:nvSpPr>
          <p:spPr>
            <a:xfrm>
              <a:off x="7696200" y="4034409"/>
              <a:ext cx="990600" cy="600075"/>
            </a:xfrm>
            <a:custGeom>
              <a:avLst/>
              <a:gdLst/>
              <a:ahLst/>
              <a:cxnLst/>
              <a:rect l="l" t="t" r="r" b="b"/>
              <a:pathLst>
                <a:path w="990600" h="600075">
                  <a:moveTo>
                    <a:pt x="990600" y="0"/>
                  </a:moveTo>
                  <a:lnTo>
                    <a:pt x="944626" y="36195"/>
                  </a:lnTo>
                  <a:lnTo>
                    <a:pt x="869060" y="56261"/>
                  </a:lnTo>
                  <a:lnTo>
                    <a:pt x="820293" y="64770"/>
                  </a:lnTo>
                  <a:lnTo>
                    <a:pt x="765048" y="71882"/>
                  </a:lnTo>
                  <a:lnTo>
                    <a:pt x="704088" y="77724"/>
                  </a:lnTo>
                  <a:lnTo>
                    <a:pt x="638301" y="82042"/>
                  </a:lnTo>
                  <a:lnTo>
                    <a:pt x="568451" y="84836"/>
                  </a:lnTo>
                  <a:lnTo>
                    <a:pt x="495300" y="85725"/>
                  </a:lnTo>
                  <a:lnTo>
                    <a:pt x="422148" y="84836"/>
                  </a:lnTo>
                  <a:lnTo>
                    <a:pt x="352298" y="82042"/>
                  </a:lnTo>
                  <a:lnTo>
                    <a:pt x="286511" y="77724"/>
                  </a:lnTo>
                  <a:lnTo>
                    <a:pt x="225551" y="71882"/>
                  </a:lnTo>
                  <a:lnTo>
                    <a:pt x="170306" y="64770"/>
                  </a:lnTo>
                  <a:lnTo>
                    <a:pt x="121539" y="56261"/>
                  </a:lnTo>
                  <a:lnTo>
                    <a:pt x="79755" y="46736"/>
                  </a:lnTo>
                  <a:lnTo>
                    <a:pt x="20954" y="24765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45974" y="550545"/>
                  </a:lnTo>
                  <a:lnTo>
                    <a:pt x="121539" y="570611"/>
                  </a:lnTo>
                  <a:lnTo>
                    <a:pt x="170306" y="579120"/>
                  </a:lnTo>
                  <a:lnTo>
                    <a:pt x="225551" y="586232"/>
                  </a:lnTo>
                  <a:lnTo>
                    <a:pt x="286511" y="592074"/>
                  </a:lnTo>
                  <a:lnTo>
                    <a:pt x="352298" y="596392"/>
                  </a:lnTo>
                  <a:lnTo>
                    <a:pt x="422148" y="599186"/>
                  </a:lnTo>
                  <a:lnTo>
                    <a:pt x="495300" y="600075"/>
                  </a:lnTo>
                  <a:lnTo>
                    <a:pt x="568451" y="599186"/>
                  </a:lnTo>
                  <a:lnTo>
                    <a:pt x="638301" y="596392"/>
                  </a:lnTo>
                  <a:lnTo>
                    <a:pt x="704088" y="592074"/>
                  </a:lnTo>
                  <a:lnTo>
                    <a:pt x="765048" y="586232"/>
                  </a:lnTo>
                  <a:lnTo>
                    <a:pt x="820293" y="579120"/>
                  </a:lnTo>
                  <a:lnTo>
                    <a:pt x="869060" y="570611"/>
                  </a:lnTo>
                  <a:lnTo>
                    <a:pt x="910844" y="561086"/>
                  </a:lnTo>
                  <a:lnTo>
                    <a:pt x="969645" y="539115"/>
                  </a:lnTo>
                  <a:lnTo>
                    <a:pt x="990600" y="51435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96200" y="3948684"/>
              <a:ext cx="990600" cy="171450"/>
            </a:xfrm>
            <a:custGeom>
              <a:avLst/>
              <a:gdLst/>
              <a:ahLst/>
              <a:cxnLst/>
              <a:rect l="l" t="t" r="r" b="b"/>
              <a:pathLst>
                <a:path w="990600" h="171450">
                  <a:moveTo>
                    <a:pt x="495300" y="0"/>
                  </a:moveTo>
                  <a:lnTo>
                    <a:pt x="422148" y="889"/>
                  </a:lnTo>
                  <a:lnTo>
                    <a:pt x="352298" y="3683"/>
                  </a:lnTo>
                  <a:lnTo>
                    <a:pt x="286511" y="8001"/>
                  </a:lnTo>
                  <a:lnTo>
                    <a:pt x="225551" y="13843"/>
                  </a:lnTo>
                  <a:lnTo>
                    <a:pt x="170306" y="20955"/>
                  </a:lnTo>
                  <a:lnTo>
                    <a:pt x="121539" y="29464"/>
                  </a:lnTo>
                  <a:lnTo>
                    <a:pt x="79755" y="38989"/>
                  </a:lnTo>
                  <a:lnTo>
                    <a:pt x="20954" y="60960"/>
                  </a:lnTo>
                  <a:lnTo>
                    <a:pt x="0" y="85725"/>
                  </a:lnTo>
                  <a:lnTo>
                    <a:pt x="5333" y="98425"/>
                  </a:lnTo>
                  <a:lnTo>
                    <a:pt x="45974" y="121920"/>
                  </a:lnTo>
                  <a:lnTo>
                    <a:pt x="121539" y="141986"/>
                  </a:lnTo>
                  <a:lnTo>
                    <a:pt x="170306" y="150495"/>
                  </a:lnTo>
                  <a:lnTo>
                    <a:pt x="225551" y="157607"/>
                  </a:lnTo>
                  <a:lnTo>
                    <a:pt x="286511" y="163449"/>
                  </a:lnTo>
                  <a:lnTo>
                    <a:pt x="352298" y="167767"/>
                  </a:lnTo>
                  <a:lnTo>
                    <a:pt x="422148" y="170561"/>
                  </a:lnTo>
                  <a:lnTo>
                    <a:pt x="495300" y="171450"/>
                  </a:lnTo>
                  <a:lnTo>
                    <a:pt x="568451" y="170561"/>
                  </a:lnTo>
                  <a:lnTo>
                    <a:pt x="638301" y="167767"/>
                  </a:lnTo>
                  <a:lnTo>
                    <a:pt x="704088" y="163449"/>
                  </a:lnTo>
                  <a:lnTo>
                    <a:pt x="765048" y="157607"/>
                  </a:lnTo>
                  <a:lnTo>
                    <a:pt x="820293" y="150495"/>
                  </a:lnTo>
                  <a:lnTo>
                    <a:pt x="869060" y="141986"/>
                  </a:lnTo>
                  <a:lnTo>
                    <a:pt x="910844" y="132461"/>
                  </a:lnTo>
                  <a:lnTo>
                    <a:pt x="969645" y="110490"/>
                  </a:lnTo>
                  <a:lnTo>
                    <a:pt x="990600" y="85725"/>
                  </a:lnTo>
                  <a:lnTo>
                    <a:pt x="985266" y="73025"/>
                  </a:lnTo>
                  <a:lnTo>
                    <a:pt x="944626" y="49530"/>
                  </a:lnTo>
                  <a:lnTo>
                    <a:pt x="869060" y="29464"/>
                  </a:lnTo>
                  <a:lnTo>
                    <a:pt x="820293" y="20955"/>
                  </a:lnTo>
                  <a:lnTo>
                    <a:pt x="765048" y="13843"/>
                  </a:lnTo>
                  <a:lnTo>
                    <a:pt x="704088" y="8001"/>
                  </a:lnTo>
                  <a:lnTo>
                    <a:pt x="638301" y="3683"/>
                  </a:lnTo>
                  <a:lnTo>
                    <a:pt x="568451" y="889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DFD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96200" y="3948684"/>
              <a:ext cx="990600" cy="685800"/>
            </a:xfrm>
            <a:custGeom>
              <a:avLst/>
              <a:gdLst/>
              <a:ahLst/>
              <a:cxnLst/>
              <a:rect l="l" t="t" r="r" b="b"/>
              <a:pathLst>
                <a:path w="990600" h="685800">
                  <a:moveTo>
                    <a:pt x="990600" y="85725"/>
                  </a:moveTo>
                  <a:lnTo>
                    <a:pt x="944626" y="121920"/>
                  </a:lnTo>
                  <a:lnTo>
                    <a:pt x="869060" y="141986"/>
                  </a:lnTo>
                  <a:lnTo>
                    <a:pt x="820293" y="150495"/>
                  </a:lnTo>
                  <a:lnTo>
                    <a:pt x="765048" y="157607"/>
                  </a:lnTo>
                  <a:lnTo>
                    <a:pt x="704088" y="163449"/>
                  </a:lnTo>
                  <a:lnTo>
                    <a:pt x="638301" y="167767"/>
                  </a:lnTo>
                  <a:lnTo>
                    <a:pt x="568451" y="170561"/>
                  </a:lnTo>
                  <a:lnTo>
                    <a:pt x="495300" y="171450"/>
                  </a:lnTo>
                  <a:lnTo>
                    <a:pt x="422148" y="170561"/>
                  </a:lnTo>
                  <a:lnTo>
                    <a:pt x="352298" y="167767"/>
                  </a:lnTo>
                  <a:lnTo>
                    <a:pt x="286511" y="163449"/>
                  </a:lnTo>
                  <a:lnTo>
                    <a:pt x="225551" y="157607"/>
                  </a:lnTo>
                  <a:lnTo>
                    <a:pt x="170306" y="150495"/>
                  </a:lnTo>
                  <a:lnTo>
                    <a:pt x="121539" y="141986"/>
                  </a:lnTo>
                  <a:lnTo>
                    <a:pt x="79755" y="132461"/>
                  </a:lnTo>
                  <a:lnTo>
                    <a:pt x="20954" y="110490"/>
                  </a:lnTo>
                  <a:lnTo>
                    <a:pt x="0" y="85725"/>
                  </a:lnTo>
                  <a:lnTo>
                    <a:pt x="5333" y="73025"/>
                  </a:lnTo>
                  <a:lnTo>
                    <a:pt x="45974" y="49530"/>
                  </a:lnTo>
                  <a:lnTo>
                    <a:pt x="121539" y="29464"/>
                  </a:lnTo>
                  <a:lnTo>
                    <a:pt x="170306" y="20955"/>
                  </a:lnTo>
                  <a:lnTo>
                    <a:pt x="225551" y="13843"/>
                  </a:lnTo>
                  <a:lnTo>
                    <a:pt x="286511" y="8001"/>
                  </a:lnTo>
                  <a:lnTo>
                    <a:pt x="352298" y="3683"/>
                  </a:lnTo>
                  <a:lnTo>
                    <a:pt x="422148" y="889"/>
                  </a:lnTo>
                  <a:lnTo>
                    <a:pt x="495300" y="0"/>
                  </a:lnTo>
                  <a:lnTo>
                    <a:pt x="568451" y="889"/>
                  </a:lnTo>
                  <a:lnTo>
                    <a:pt x="638301" y="3683"/>
                  </a:lnTo>
                  <a:lnTo>
                    <a:pt x="704088" y="8001"/>
                  </a:lnTo>
                  <a:lnTo>
                    <a:pt x="765048" y="13843"/>
                  </a:lnTo>
                  <a:lnTo>
                    <a:pt x="820293" y="20955"/>
                  </a:lnTo>
                  <a:lnTo>
                    <a:pt x="869060" y="29464"/>
                  </a:lnTo>
                  <a:lnTo>
                    <a:pt x="910844" y="38989"/>
                  </a:lnTo>
                  <a:lnTo>
                    <a:pt x="969645" y="60960"/>
                  </a:lnTo>
                  <a:lnTo>
                    <a:pt x="990600" y="85725"/>
                  </a:lnTo>
                  <a:close/>
                </a:path>
                <a:path w="990600" h="685800">
                  <a:moveTo>
                    <a:pt x="990600" y="85725"/>
                  </a:moveTo>
                  <a:lnTo>
                    <a:pt x="990600" y="600075"/>
                  </a:lnTo>
                  <a:lnTo>
                    <a:pt x="985266" y="612775"/>
                  </a:lnTo>
                  <a:lnTo>
                    <a:pt x="944626" y="636270"/>
                  </a:lnTo>
                  <a:lnTo>
                    <a:pt x="869060" y="656336"/>
                  </a:lnTo>
                  <a:lnTo>
                    <a:pt x="820293" y="664845"/>
                  </a:lnTo>
                  <a:lnTo>
                    <a:pt x="765048" y="671957"/>
                  </a:lnTo>
                  <a:lnTo>
                    <a:pt x="704088" y="677799"/>
                  </a:lnTo>
                  <a:lnTo>
                    <a:pt x="638301" y="682117"/>
                  </a:lnTo>
                  <a:lnTo>
                    <a:pt x="568451" y="684911"/>
                  </a:lnTo>
                  <a:lnTo>
                    <a:pt x="495300" y="685800"/>
                  </a:lnTo>
                  <a:lnTo>
                    <a:pt x="422148" y="684911"/>
                  </a:lnTo>
                  <a:lnTo>
                    <a:pt x="352298" y="682117"/>
                  </a:lnTo>
                  <a:lnTo>
                    <a:pt x="286511" y="677799"/>
                  </a:lnTo>
                  <a:lnTo>
                    <a:pt x="225551" y="671957"/>
                  </a:lnTo>
                  <a:lnTo>
                    <a:pt x="170306" y="664845"/>
                  </a:lnTo>
                  <a:lnTo>
                    <a:pt x="121539" y="656336"/>
                  </a:lnTo>
                  <a:lnTo>
                    <a:pt x="79755" y="646811"/>
                  </a:lnTo>
                  <a:lnTo>
                    <a:pt x="20954" y="624840"/>
                  </a:lnTo>
                  <a:lnTo>
                    <a:pt x="0" y="600075"/>
                  </a:lnTo>
                  <a:lnTo>
                    <a:pt x="0" y="85725"/>
                  </a:lnTo>
                </a:path>
              </a:pathLst>
            </a:custGeom>
            <a:ln w="121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921752" y="4139184"/>
              <a:ext cx="547370" cy="474345"/>
            </a:xfrm>
            <a:custGeom>
              <a:avLst/>
              <a:gdLst/>
              <a:ahLst/>
              <a:cxnLst/>
              <a:rect l="l" t="t" r="r" b="b"/>
              <a:pathLst>
                <a:path w="547370" h="474345">
                  <a:moveTo>
                    <a:pt x="547116" y="0"/>
                  </a:moveTo>
                  <a:lnTo>
                    <a:pt x="0" y="0"/>
                  </a:lnTo>
                  <a:lnTo>
                    <a:pt x="0" y="473963"/>
                  </a:lnTo>
                  <a:lnTo>
                    <a:pt x="547116" y="473963"/>
                  </a:lnTo>
                  <a:lnTo>
                    <a:pt x="547116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009001" y="4118609"/>
            <a:ext cx="37782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</a:pPr>
            <a:r>
              <a:rPr dirty="0" sz="1400" spc="-40" b="1">
                <a:solidFill>
                  <a:srgbClr val="0000CC"/>
                </a:solidFill>
                <a:latin typeface="Arial"/>
                <a:cs typeface="Arial"/>
              </a:rPr>
              <a:t>Test </a:t>
            </a:r>
            <a:r>
              <a:rPr dirty="0" sz="1400" spc="-25" b="1">
                <a:solidFill>
                  <a:srgbClr val="0000CC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79850" y="5085334"/>
            <a:ext cx="1003300" cy="698500"/>
            <a:chOff x="3879850" y="5085334"/>
            <a:chExt cx="1003300" cy="698500"/>
          </a:xfrm>
        </p:grpSpPr>
        <p:sp>
          <p:nvSpPr>
            <p:cNvPr id="16" name="object 16"/>
            <p:cNvSpPr/>
            <p:nvPr/>
          </p:nvSpPr>
          <p:spPr>
            <a:xfrm>
              <a:off x="3886200" y="5177663"/>
              <a:ext cx="990600" cy="600075"/>
            </a:xfrm>
            <a:custGeom>
              <a:avLst/>
              <a:gdLst/>
              <a:ahLst/>
              <a:cxnLst/>
              <a:rect l="l" t="t" r="r" b="b"/>
              <a:pathLst>
                <a:path w="990600" h="600075">
                  <a:moveTo>
                    <a:pt x="990600" y="0"/>
                  </a:moveTo>
                  <a:lnTo>
                    <a:pt x="944626" y="36194"/>
                  </a:lnTo>
                  <a:lnTo>
                    <a:pt x="869061" y="56261"/>
                  </a:lnTo>
                  <a:lnTo>
                    <a:pt x="820292" y="64770"/>
                  </a:lnTo>
                  <a:lnTo>
                    <a:pt x="765048" y="72009"/>
                  </a:lnTo>
                  <a:lnTo>
                    <a:pt x="704088" y="77850"/>
                  </a:lnTo>
                  <a:lnTo>
                    <a:pt x="638301" y="82168"/>
                  </a:lnTo>
                  <a:lnTo>
                    <a:pt x="568451" y="84962"/>
                  </a:lnTo>
                  <a:lnTo>
                    <a:pt x="495300" y="85852"/>
                  </a:lnTo>
                  <a:lnTo>
                    <a:pt x="422148" y="84962"/>
                  </a:lnTo>
                  <a:lnTo>
                    <a:pt x="352298" y="82168"/>
                  </a:lnTo>
                  <a:lnTo>
                    <a:pt x="286512" y="77850"/>
                  </a:lnTo>
                  <a:lnTo>
                    <a:pt x="225551" y="72009"/>
                  </a:lnTo>
                  <a:lnTo>
                    <a:pt x="170307" y="64770"/>
                  </a:lnTo>
                  <a:lnTo>
                    <a:pt x="121538" y="56261"/>
                  </a:lnTo>
                  <a:lnTo>
                    <a:pt x="79755" y="46736"/>
                  </a:lnTo>
                  <a:lnTo>
                    <a:pt x="20954" y="24764"/>
                  </a:lnTo>
                  <a:lnTo>
                    <a:pt x="0" y="0"/>
                  </a:lnTo>
                  <a:lnTo>
                    <a:pt x="0" y="513905"/>
                  </a:lnTo>
                  <a:lnTo>
                    <a:pt x="45974" y="550125"/>
                  </a:lnTo>
                  <a:lnTo>
                    <a:pt x="121538" y="570268"/>
                  </a:lnTo>
                  <a:lnTo>
                    <a:pt x="170307" y="578751"/>
                  </a:lnTo>
                  <a:lnTo>
                    <a:pt x="225551" y="585978"/>
                  </a:lnTo>
                  <a:lnTo>
                    <a:pt x="286512" y="591832"/>
                  </a:lnTo>
                  <a:lnTo>
                    <a:pt x="352298" y="596188"/>
                  </a:lnTo>
                  <a:lnTo>
                    <a:pt x="422148" y="598893"/>
                  </a:lnTo>
                  <a:lnTo>
                    <a:pt x="495300" y="599821"/>
                  </a:lnTo>
                  <a:lnTo>
                    <a:pt x="568451" y="598893"/>
                  </a:lnTo>
                  <a:lnTo>
                    <a:pt x="638301" y="596188"/>
                  </a:lnTo>
                  <a:lnTo>
                    <a:pt x="704088" y="591832"/>
                  </a:lnTo>
                  <a:lnTo>
                    <a:pt x="765048" y="585978"/>
                  </a:lnTo>
                  <a:lnTo>
                    <a:pt x="820292" y="578751"/>
                  </a:lnTo>
                  <a:lnTo>
                    <a:pt x="869061" y="570268"/>
                  </a:lnTo>
                  <a:lnTo>
                    <a:pt x="910844" y="560679"/>
                  </a:lnTo>
                  <a:lnTo>
                    <a:pt x="969645" y="538721"/>
                  </a:lnTo>
                  <a:lnTo>
                    <a:pt x="990600" y="513905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886200" y="5091684"/>
              <a:ext cx="990600" cy="172085"/>
            </a:xfrm>
            <a:custGeom>
              <a:avLst/>
              <a:gdLst/>
              <a:ahLst/>
              <a:cxnLst/>
              <a:rect l="l" t="t" r="r" b="b"/>
              <a:pathLst>
                <a:path w="990600" h="172085">
                  <a:moveTo>
                    <a:pt x="495300" y="0"/>
                  </a:moveTo>
                  <a:lnTo>
                    <a:pt x="422148" y="889"/>
                  </a:lnTo>
                  <a:lnTo>
                    <a:pt x="352298" y="3683"/>
                  </a:lnTo>
                  <a:lnTo>
                    <a:pt x="286512" y="8001"/>
                  </a:lnTo>
                  <a:lnTo>
                    <a:pt x="225551" y="13843"/>
                  </a:lnTo>
                  <a:lnTo>
                    <a:pt x="170307" y="21082"/>
                  </a:lnTo>
                  <a:lnTo>
                    <a:pt x="121538" y="29591"/>
                  </a:lnTo>
                  <a:lnTo>
                    <a:pt x="79755" y="39116"/>
                  </a:lnTo>
                  <a:lnTo>
                    <a:pt x="20954" y="61087"/>
                  </a:lnTo>
                  <a:lnTo>
                    <a:pt x="0" y="85979"/>
                  </a:lnTo>
                  <a:lnTo>
                    <a:pt x="5334" y="98679"/>
                  </a:lnTo>
                  <a:lnTo>
                    <a:pt x="45974" y="122174"/>
                  </a:lnTo>
                  <a:lnTo>
                    <a:pt x="121538" y="142240"/>
                  </a:lnTo>
                  <a:lnTo>
                    <a:pt x="170307" y="150749"/>
                  </a:lnTo>
                  <a:lnTo>
                    <a:pt x="225551" y="157988"/>
                  </a:lnTo>
                  <a:lnTo>
                    <a:pt x="286512" y="163830"/>
                  </a:lnTo>
                  <a:lnTo>
                    <a:pt x="352298" y="168148"/>
                  </a:lnTo>
                  <a:lnTo>
                    <a:pt x="422148" y="170942"/>
                  </a:lnTo>
                  <a:lnTo>
                    <a:pt x="495300" y="171831"/>
                  </a:lnTo>
                  <a:lnTo>
                    <a:pt x="568451" y="170942"/>
                  </a:lnTo>
                  <a:lnTo>
                    <a:pt x="638301" y="168148"/>
                  </a:lnTo>
                  <a:lnTo>
                    <a:pt x="704088" y="163830"/>
                  </a:lnTo>
                  <a:lnTo>
                    <a:pt x="765048" y="157988"/>
                  </a:lnTo>
                  <a:lnTo>
                    <a:pt x="820292" y="150749"/>
                  </a:lnTo>
                  <a:lnTo>
                    <a:pt x="869061" y="142240"/>
                  </a:lnTo>
                  <a:lnTo>
                    <a:pt x="910844" y="132715"/>
                  </a:lnTo>
                  <a:lnTo>
                    <a:pt x="969645" y="110744"/>
                  </a:lnTo>
                  <a:lnTo>
                    <a:pt x="990600" y="85979"/>
                  </a:lnTo>
                  <a:lnTo>
                    <a:pt x="985265" y="73279"/>
                  </a:lnTo>
                  <a:lnTo>
                    <a:pt x="944626" y="49784"/>
                  </a:lnTo>
                  <a:lnTo>
                    <a:pt x="869061" y="29591"/>
                  </a:lnTo>
                  <a:lnTo>
                    <a:pt x="820292" y="21082"/>
                  </a:lnTo>
                  <a:lnTo>
                    <a:pt x="765048" y="13843"/>
                  </a:lnTo>
                  <a:lnTo>
                    <a:pt x="704088" y="8001"/>
                  </a:lnTo>
                  <a:lnTo>
                    <a:pt x="638301" y="3683"/>
                  </a:lnTo>
                  <a:lnTo>
                    <a:pt x="568451" y="889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66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86200" y="5091684"/>
              <a:ext cx="990600" cy="685800"/>
            </a:xfrm>
            <a:custGeom>
              <a:avLst/>
              <a:gdLst/>
              <a:ahLst/>
              <a:cxnLst/>
              <a:rect l="l" t="t" r="r" b="b"/>
              <a:pathLst>
                <a:path w="990600" h="685800">
                  <a:moveTo>
                    <a:pt x="990600" y="85979"/>
                  </a:moveTo>
                  <a:lnTo>
                    <a:pt x="944626" y="122174"/>
                  </a:lnTo>
                  <a:lnTo>
                    <a:pt x="869061" y="142240"/>
                  </a:lnTo>
                  <a:lnTo>
                    <a:pt x="820292" y="150749"/>
                  </a:lnTo>
                  <a:lnTo>
                    <a:pt x="765048" y="157988"/>
                  </a:lnTo>
                  <a:lnTo>
                    <a:pt x="704088" y="163830"/>
                  </a:lnTo>
                  <a:lnTo>
                    <a:pt x="638301" y="168148"/>
                  </a:lnTo>
                  <a:lnTo>
                    <a:pt x="568451" y="170942"/>
                  </a:lnTo>
                  <a:lnTo>
                    <a:pt x="495300" y="171831"/>
                  </a:lnTo>
                  <a:lnTo>
                    <a:pt x="422148" y="170942"/>
                  </a:lnTo>
                  <a:lnTo>
                    <a:pt x="352298" y="168148"/>
                  </a:lnTo>
                  <a:lnTo>
                    <a:pt x="286512" y="163830"/>
                  </a:lnTo>
                  <a:lnTo>
                    <a:pt x="225551" y="157988"/>
                  </a:lnTo>
                  <a:lnTo>
                    <a:pt x="170307" y="150749"/>
                  </a:lnTo>
                  <a:lnTo>
                    <a:pt x="121538" y="142240"/>
                  </a:lnTo>
                  <a:lnTo>
                    <a:pt x="79755" y="132715"/>
                  </a:lnTo>
                  <a:lnTo>
                    <a:pt x="20954" y="110744"/>
                  </a:lnTo>
                  <a:lnTo>
                    <a:pt x="0" y="85979"/>
                  </a:lnTo>
                  <a:lnTo>
                    <a:pt x="5334" y="73279"/>
                  </a:lnTo>
                  <a:lnTo>
                    <a:pt x="45974" y="49784"/>
                  </a:lnTo>
                  <a:lnTo>
                    <a:pt x="121538" y="29591"/>
                  </a:lnTo>
                  <a:lnTo>
                    <a:pt x="170307" y="21082"/>
                  </a:lnTo>
                  <a:lnTo>
                    <a:pt x="225551" y="13843"/>
                  </a:lnTo>
                  <a:lnTo>
                    <a:pt x="286512" y="8001"/>
                  </a:lnTo>
                  <a:lnTo>
                    <a:pt x="352298" y="3683"/>
                  </a:lnTo>
                  <a:lnTo>
                    <a:pt x="422148" y="889"/>
                  </a:lnTo>
                  <a:lnTo>
                    <a:pt x="495300" y="0"/>
                  </a:lnTo>
                  <a:lnTo>
                    <a:pt x="568451" y="889"/>
                  </a:lnTo>
                  <a:lnTo>
                    <a:pt x="638301" y="3683"/>
                  </a:lnTo>
                  <a:lnTo>
                    <a:pt x="704088" y="8001"/>
                  </a:lnTo>
                  <a:lnTo>
                    <a:pt x="765048" y="13843"/>
                  </a:lnTo>
                  <a:lnTo>
                    <a:pt x="820292" y="21082"/>
                  </a:lnTo>
                  <a:lnTo>
                    <a:pt x="869061" y="29591"/>
                  </a:lnTo>
                  <a:lnTo>
                    <a:pt x="910844" y="39116"/>
                  </a:lnTo>
                  <a:lnTo>
                    <a:pt x="969645" y="61087"/>
                  </a:lnTo>
                  <a:lnTo>
                    <a:pt x="990600" y="85979"/>
                  </a:lnTo>
                  <a:close/>
                </a:path>
                <a:path w="990600" h="685800">
                  <a:moveTo>
                    <a:pt x="990600" y="85979"/>
                  </a:moveTo>
                  <a:lnTo>
                    <a:pt x="990600" y="599884"/>
                  </a:lnTo>
                  <a:lnTo>
                    <a:pt x="985265" y="612584"/>
                  </a:lnTo>
                  <a:lnTo>
                    <a:pt x="944626" y="636104"/>
                  </a:lnTo>
                  <a:lnTo>
                    <a:pt x="869061" y="656247"/>
                  </a:lnTo>
                  <a:lnTo>
                    <a:pt x="820292" y="664730"/>
                  </a:lnTo>
                  <a:lnTo>
                    <a:pt x="765048" y="671957"/>
                  </a:lnTo>
                  <a:lnTo>
                    <a:pt x="704088" y="677811"/>
                  </a:lnTo>
                  <a:lnTo>
                    <a:pt x="638301" y="682167"/>
                  </a:lnTo>
                  <a:lnTo>
                    <a:pt x="568451" y="684872"/>
                  </a:lnTo>
                  <a:lnTo>
                    <a:pt x="495300" y="685800"/>
                  </a:lnTo>
                  <a:lnTo>
                    <a:pt x="422148" y="684872"/>
                  </a:lnTo>
                  <a:lnTo>
                    <a:pt x="352298" y="682167"/>
                  </a:lnTo>
                  <a:lnTo>
                    <a:pt x="286512" y="677811"/>
                  </a:lnTo>
                  <a:lnTo>
                    <a:pt x="225551" y="671957"/>
                  </a:lnTo>
                  <a:lnTo>
                    <a:pt x="170307" y="664730"/>
                  </a:lnTo>
                  <a:lnTo>
                    <a:pt x="121538" y="656247"/>
                  </a:lnTo>
                  <a:lnTo>
                    <a:pt x="79755" y="646658"/>
                  </a:lnTo>
                  <a:lnTo>
                    <a:pt x="20954" y="624700"/>
                  </a:lnTo>
                  <a:lnTo>
                    <a:pt x="0" y="599884"/>
                  </a:lnTo>
                  <a:lnTo>
                    <a:pt x="0" y="85979"/>
                  </a:lnTo>
                </a:path>
              </a:pathLst>
            </a:custGeom>
            <a:ln w="1219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972305" y="5215254"/>
            <a:ext cx="80327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130" marR="5080" indent="-26543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006B5F"/>
                </a:solidFill>
                <a:latin typeface="Arial"/>
                <a:cs typeface="Arial"/>
              </a:rPr>
              <a:t>Training </a:t>
            </a:r>
            <a:r>
              <a:rPr dirty="0" sz="1600" spc="-25" b="1">
                <a:solidFill>
                  <a:srgbClr val="006B5F"/>
                </a:solidFill>
                <a:latin typeface="Arial"/>
                <a:cs typeface="Arial"/>
              </a:rPr>
              <a:t>Set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630668" y="5081015"/>
            <a:ext cx="1138555" cy="701040"/>
            <a:chOff x="7630668" y="5081015"/>
            <a:chExt cx="1138555" cy="701040"/>
          </a:xfrm>
        </p:grpSpPr>
        <p:sp>
          <p:nvSpPr>
            <p:cNvPr id="21" name="object 21"/>
            <p:cNvSpPr/>
            <p:nvPr/>
          </p:nvSpPr>
          <p:spPr>
            <a:xfrm>
              <a:off x="7636764" y="5087619"/>
              <a:ext cx="1126490" cy="688340"/>
            </a:xfrm>
            <a:custGeom>
              <a:avLst/>
              <a:gdLst/>
              <a:ahLst/>
              <a:cxnLst/>
              <a:rect l="l" t="t" r="r" b="b"/>
              <a:pathLst>
                <a:path w="1126490" h="688339">
                  <a:moveTo>
                    <a:pt x="1126236" y="0"/>
                  </a:moveTo>
                  <a:lnTo>
                    <a:pt x="154940" y="0"/>
                  </a:lnTo>
                  <a:lnTo>
                    <a:pt x="154940" y="57150"/>
                  </a:lnTo>
                  <a:lnTo>
                    <a:pt x="1042797" y="57150"/>
                  </a:lnTo>
                  <a:lnTo>
                    <a:pt x="1042797" y="57531"/>
                  </a:lnTo>
                  <a:lnTo>
                    <a:pt x="79883" y="57531"/>
                  </a:lnTo>
                  <a:lnTo>
                    <a:pt x="79883" y="116967"/>
                  </a:lnTo>
                  <a:lnTo>
                    <a:pt x="0" y="116967"/>
                  </a:lnTo>
                  <a:lnTo>
                    <a:pt x="0" y="663714"/>
                  </a:lnTo>
                  <a:lnTo>
                    <a:pt x="60579" y="673760"/>
                  </a:lnTo>
                  <a:lnTo>
                    <a:pt x="116078" y="681012"/>
                  </a:lnTo>
                  <a:lnTo>
                    <a:pt x="167132" y="685698"/>
                  </a:lnTo>
                  <a:lnTo>
                    <a:pt x="213995" y="688047"/>
                  </a:lnTo>
                  <a:lnTo>
                    <a:pt x="257429" y="688251"/>
                  </a:lnTo>
                  <a:lnTo>
                    <a:pt x="297561" y="686549"/>
                  </a:lnTo>
                  <a:lnTo>
                    <a:pt x="370713" y="678268"/>
                  </a:lnTo>
                  <a:lnTo>
                    <a:pt x="437007" y="664946"/>
                  </a:lnTo>
                  <a:lnTo>
                    <a:pt x="500634" y="648309"/>
                  </a:lnTo>
                  <a:lnTo>
                    <a:pt x="565023" y="630110"/>
                  </a:lnTo>
                  <a:lnTo>
                    <a:pt x="598805" y="620966"/>
                  </a:lnTo>
                  <a:lnTo>
                    <a:pt x="671957" y="603681"/>
                  </a:lnTo>
                  <a:lnTo>
                    <a:pt x="712089" y="595985"/>
                  </a:lnTo>
                  <a:lnTo>
                    <a:pt x="755523" y="589191"/>
                  </a:lnTo>
                  <a:lnTo>
                    <a:pt x="802386" y="583526"/>
                  </a:lnTo>
                  <a:lnTo>
                    <a:pt x="853440" y="579208"/>
                  </a:lnTo>
                  <a:lnTo>
                    <a:pt x="908939" y="576465"/>
                  </a:lnTo>
                  <a:lnTo>
                    <a:pt x="969518" y="575500"/>
                  </a:lnTo>
                  <a:lnTo>
                    <a:pt x="969518" y="522122"/>
                  </a:lnTo>
                  <a:lnTo>
                    <a:pt x="992378" y="520522"/>
                  </a:lnTo>
                  <a:lnTo>
                    <a:pt x="1015873" y="519430"/>
                  </a:lnTo>
                  <a:lnTo>
                    <a:pt x="1042797" y="518934"/>
                  </a:lnTo>
                  <a:lnTo>
                    <a:pt x="1042797" y="462280"/>
                  </a:lnTo>
                  <a:lnTo>
                    <a:pt x="1048004" y="462280"/>
                  </a:lnTo>
                  <a:lnTo>
                    <a:pt x="1048004" y="461010"/>
                  </a:lnTo>
                  <a:lnTo>
                    <a:pt x="1077760" y="461010"/>
                  </a:lnTo>
                  <a:lnTo>
                    <a:pt x="1077760" y="459740"/>
                  </a:lnTo>
                  <a:lnTo>
                    <a:pt x="1126236" y="459740"/>
                  </a:lnTo>
                  <a:lnTo>
                    <a:pt x="1126236" y="57150"/>
                  </a:lnTo>
                  <a:lnTo>
                    <a:pt x="1126236" y="0"/>
                  </a:lnTo>
                  <a:close/>
                </a:path>
              </a:pathLst>
            </a:custGeom>
            <a:solidFill>
              <a:srgbClr val="00DF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36764" y="5087111"/>
              <a:ext cx="1126490" cy="688975"/>
            </a:xfrm>
            <a:custGeom>
              <a:avLst/>
              <a:gdLst/>
              <a:ahLst/>
              <a:cxnLst/>
              <a:rect l="l" t="t" r="r" b="b"/>
              <a:pathLst>
                <a:path w="1126490" h="688975">
                  <a:moveTo>
                    <a:pt x="0" y="117475"/>
                  </a:moveTo>
                  <a:lnTo>
                    <a:pt x="969517" y="117475"/>
                  </a:lnTo>
                  <a:lnTo>
                    <a:pt x="969517" y="576008"/>
                  </a:lnTo>
                  <a:lnTo>
                    <a:pt x="908938" y="576973"/>
                  </a:lnTo>
                  <a:lnTo>
                    <a:pt x="853439" y="579716"/>
                  </a:lnTo>
                  <a:lnTo>
                    <a:pt x="802385" y="584034"/>
                  </a:lnTo>
                  <a:lnTo>
                    <a:pt x="755522" y="589699"/>
                  </a:lnTo>
                  <a:lnTo>
                    <a:pt x="712088" y="596493"/>
                  </a:lnTo>
                  <a:lnTo>
                    <a:pt x="671956" y="604189"/>
                  </a:lnTo>
                  <a:lnTo>
                    <a:pt x="634237" y="612597"/>
                  </a:lnTo>
                  <a:lnTo>
                    <a:pt x="565022" y="630618"/>
                  </a:lnTo>
                  <a:lnTo>
                    <a:pt x="500633" y="648817"/>
                  </a:lnTo>
                  <a:lnTo>
                    <a:pt x="468883" y="657440"/>
                  </a:lnTo>
                  <a:lnTo>
                    <a:pt x="404494" y="672642"/>
                  </a:lnTo>
                  <a:lnTo>
                    <a:pt x="335279" y="683653"/>
                  </a:lnTo>
                  <a:lnTo>
                    <a:pt x="257428" y="688759"/>
                  </a:lnTo>
                  <a:lnTo>
                    <a:pt x="213994" y="688555"/>
                  </a:lnTo>
                  <a:lnTo>
                    <a:pt x="167131" y="686206"/>
                  </a:lnTo>
                  <a:lnTo>
                    <a:pt x="116077" y="681520"/>
                  </a:lnTo>
                  <a:lnTo>
                    <a:pt x="60578" y="674268"/>
                  </a:lnTo>
                  <a:lnTo>
                    <a:pt x="0" y="664222"/>
                  </a:lnTo>
                  <a:lnTo>
                    <a:pt x="0" y="117475"/>
                  </a:lnTo>
                  <a:close/>
                </a:path>
                <a:path w="1126490" h="688975">
                  <a:moveTo>
                    <a:pt x="79882" y="117475"/>
                  </a:moveTo>
                  <a:lnTo>
                    <a:pt x="79882" y="58038"/>
                  </a:lnTo>
                  <a:lnTo>
                    <a:pt x="1042796" y="58038"/>
                  </a:lnTo>
                  <a:lnTo>
                    <a:pt x="1042796" y="519442"/>
                  </a:lnTo>
                  <a:lnTo>
                    <a:pt x="1015872" y="519938"/>
                  </a:lnTo>
                  <a:lnTo>
                    <a:pt x="992377" y="521030"/>
                  </a:lnTo>
                  <a:lnTo>
                    <a:pt x="975867" y="522135"/>
                  </a:lnTo>
                  <a:lnTo>
                    <a:pt x="969517" y="522630"/>
                  </a:lnTo>
                </a:path>
                <a:path w="1126490" h="688975">
                  <a:moveTo>
                    <a:pt x="154939" y="58038"/>
                  </a:moveTo>
                  <a:lnTo>
                    <a:pt x="154939" y="0"/>
                  </a:lnTo>
                  <a:lnTo>
                    <a:pt x="1126235" y="0"/>
                  </a:lnTo>
                  <a:lnTo>
                    <a:pt x="1126235" y="459994"/>
                  </a:lnTo>
                  <a:lnTo>
                    <a:pt x="1095628" y="460375"/>
                  </a:lnTo>
                  <a:lnTo>
                    <a:pt x="1068831" y="461137"/>
                  </a:lnTo>
                  <a:lnTo>
                    <a:pt x="1050035" y="462025"/>
                  </a:lnTo>
                  <a:lnTo>
                    <a:pt x="1042796" y="462406"/>
                  </a:lnTo>
                </a:path>
              </a:pathLst>
            </a:custGeom>
            <a:ln w="12192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768590" y="5269229"/>
            <a:ext cx="7550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CC0000"/>
                </a:solidFill>
                <a:latin typeface="Arial"/>
                <a:cs typeface="Arial"/>
              </a:rPr>
              <a:t>Model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86400" y="4939284"/>
            <a:ext cx="1447800" cy="995680"/>
            <a:chOff x="5486400" y="4939284"/>
            <a:chExt cx="1447800" cy="995680"/>
          </a:xfrm>
        </p:grpSpPr>
        <p:sp>
          <p:nvSpPr>
            <p:cNvPr id="25" name="object 25"/>
            <p:cNvSpPr/>
            <p:nvPr/>
          </p:nvSpPr>
          <p:spPr>
            <a:xfrm>
              <a:off x="5486400" y="4939284"/>
              <a:ext cx="1447800" cy="124460"/>
            </a:xfrm>
            <a:custGeom>
              <a:avLst/>
              <a:gdLst/>
              <a:ahLst/>
              <a:cxnLst/>
              <a:rect l="l" t="t" r="r" b="b"/>
              <a:pathLst>
                <a:path w="1447800" h="124460">
                  <a:moveTo>
                    <a:pt x="1447800" y="0"/>
                  </a:moveTo>
                  <a:lnTo>
                    <a:pt x="0" y="0"/>
                  </a:lnTo>
                  <a:lnTo>
                    <a:pt x="124333" y="124333"/>
                  </a:lnTo>
                  <a:lnTo>
                    <a:pt x="1323467" y="124333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486400" y="5810059"/>
              <a:ext cx="1447800" cy="124460"/>
            </a:xfrm>
            <a:custGeom>
              <a:avLst/>
              <a:gdLst/>
              <a:ahLst/>
              <a:cxnLst/>
              <a:rect l="l" t="t" r="r" b="b"/>
              <a:pathLst>
                <a:path w="1447800" h="124460">
                  <a:moveTo>
                    <a:pt x="1323467" y="0"/>
                  </a:moveTo>
                  <a:lnTo>
                    <a:pt x="124333" y="0"/>
                  </a:lnTo>
                  <a:lnTo>
                    <a:pt x="0" y="124396"/>
                  </a:lnTo>
                  <a:lnTo>
                    <a:pt x="1447800" y="124396"/>
                  </a:lnTo>
                  <a:lnTo>
                    <a:pt x="1323467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486400" y="4939284"/>
              <a:ext cx="124460" cy="995680"/>
            </a:xfrm>
            <a:custGeom>
              <a:avLst/>
              <a:gdLst/>
              <a:ahLst/>
              <a:cxnLst/>
              <a:rect l="l" t="t" r="r" b="b"/>
              <a:pathLst>
                <a:path w="124460" h="995679">
                  <a:moveTo>
                    <a:pt x="0" y="0"/>
                  </a:moveTo>
                  <a:lnTo>
                    <a:pt x="0" y="995172"/>
                  </a:lnTo>
                  <a:lnTo>
                    <a:pt x="124333" y="870775"/>
                  </a:lnTo>
                  <a:lnTo>
                    <a:pt x="124333" y="124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809866" y="4939284"/>
              <a:ext cx="124460" cy="995680"/>
            </a:xfrm>
            <a:custGeom>
              <a:avLst/>
              <a:gdLst/>
              <a:ahLst/>
              <a:cxnLst/>
              <a:rect l="l" t="t" r="r" b="b"/>
              <a:pathLst>
                <a:path w="124459" h="995679">
                  <a:moveTo>
                    <a:pt x="124332" y="0"/>
                  </a:moveTo>
                  <a:lnTo>
                    <a:pt x="0" y="124333"/>
                  </a:lnTo>
                  <a:lnTo>
                    <a:pt x="0" y="870775"/>
                  </a:lnTo>
                  <a:lnTo>
                    <a:pt x="124332" y="995172"/>
                  </a:lnTo>
                  <a:lnTo>
                    <a:pt x="124332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610733" y="5063680"/>
            <a:ext cx="1199515" cy="746760"/>
          </a:xfrm>
          <a:prstGeom prst="rect">
            <a:avLst/>
          </a:prstGeom>
          <a:solidFill>
            <a:srgbClr val="C0C0C0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36195">
              <a:lnSpc>
                <a:spcPts val="2260"/>
              </a:lnSpc>
            </a:pPr>
            <a:r>
              <a:rPr dirty="0" sz="2000" spc="-10" b="1">
                <a:latin typeface="Arial"/>
                <a:cs typeface="Arial"/>
              </a:rPr>
              <a:t>Learn</a:t>
            </a:r>
            <a:endParaRPr sz="2000">
              <a:latin typeface="Arial"/>
              <a:cs typeface="Arial"/>
            </a:endParaRPr>
          </a:p>
          <a:p>
            <a:pPr algn="ctr" marL="19685">
              <a:lnSpc>
                <a:spcPct val="100000"/>
              </a:lnSpc>
              <a:spcBef>
                <a:spcPts val="490"/>
              </a:spcBef>
            </a:pPr>
            <a:r>
              <a:rPr dirty="0" sz="2000" spc="-10" b="1">
                <a:latin typeface="Arial"/>
                <a:cs typeface="Arial"/>
              </a:rPr>
              <a:t>Classifier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81955" y="5343144"/>
            <a:ext cx="497205" cy="154305"/>
            <a:chOff x="4981955" y="5343144"/>
            <a:chExt cx="497205" cy="154305"/>
          </a:xfrm>
        </p:grpSpPr>
        <p:sp>
          <p:nvSpPr>
            <p:cNvPr id="31" name="object 31"/>
            <p:cNvSpPr/>
            <p:nvPr/>
          </p:nvSpPr>
          <p:spPr>
            <a:xfrm>
              <a:off x="4988051" y="5349240"/>
              <a:ext cx="485140" cy="142240"/>
            </a:xfrm>
            <a:custGeom>
              <a:avLst/>
              <a:gdLst/>
              <a:ahLst/>
              <a:cxnLst/>
              <a:rect l="l" t="t" r="r" b="b"/>
              <a:pathLst>
                <a:path w="485139" h="142239">
                  <a:moveTo>
                    <a:pt x="363220" y="0"/>
                  </a:moveTo>
                  <a:lnTo>
                    <a:pt x="363220" y="35433"/>
                  </a:lnTo>
                  <a:lnTo>
                    <a:pt x="0" y="35433"/>
                  </a:lnTo>
                  <a:lnTo>
                    <a:pt x="0" y="106299"/>
                  </a:lnTo>
                  <a:lnTo>
                    <a:pt x="363220" y="106299"/>
                  </a:lnTo>
                  <a:lnTo>
                    <a:pt x="363220" y="141732"/>
                  </a:lnTo>
                  <a:lnTo>
                    <a:pt x="484632" y="70866"/>
                  </a:lnTo>
                  <a:lnTo>
                    <a:pt x="36322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988051" y="5349240"/>
              <a:ext cx="485140" cy="142240"/>
            </a:xfrm>
            <a:custGeom>
              <a:avLst/>
              <a:gdLst/>
              <a:ahLst/>
              <a:cxnLst/>
              <a:rect l="l" t="t" r="r" b="b"/>
              <a:pathLst>
                <a:path w="485139" h="142239">
                  <a:moveTo>
                    <a:pt x="0" y="35433"/>
                  </a:moveTo>
                  <a:lnTo>
                    <a:pt x="363220" y="35433"/>
                  </a:lnTo>
                  <a:lnTo>
                    <a:pt x="363220" y="0"/>
                  </a:lnTo>
                  <a:lnTo>
                    <a:pt x="484632" y="70866"/>
                  </a:lnTo>
                  <a:lnTo>
                    <a:pt x="363220" y="141732"/>
                  </a:lnTo>
                  <a:lnTo>
                    <a:pt x="363220" y="106299"/>
                  </a:lnTo>
                  <a:lnTo>
                    <a:pt x="0" y="106299"/>
                  </a:lnTo>
                  <a:lnTo>
                    <a:pt x="0" y="35433"/>
                  </a:lnTo>
                  <a:close/>
                </a:path>
              </a:pathLst>
            </a:custGeom>
            <a:ln w="1219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7004304" y="5309615"/>
            <a:ext cx="497205" cy="152400"/>
            <a:chOff x="7004304" y="5309615"/>
            <a:chExt cx="497205" cy="152400"/>
          </a:xfrm>
        </p:grpSpPr>
        <p:sp>
          <p:nvSpPr>
            <p:cNvPr id="34" name="object 34"/>
            <p:cNvSpPr/>
            <p:nvPr/>
          </p:nvSpPr>
          <p:spPr>
            <a:xfrm>
              <a:off x="7010400" y="5315711"/>
              <a:ext cx="485140" cy="140335"/>
            </a:xfrm>
            <a:custGeom>
              <a:avLst/>
              <a:gdLst/>
              <a:ahLst/>
              <a:cxnLst/>
              <a:rect l="l" t="t" r="r" b="b"/>
              <a:pathLst>
                <a:path w="485140" h="140335">
                  <a:moveTo>
                    <a:pt x="364490" y="0"/>
                  </a:moveTo>
                  <a:lnTo>
                    <a:pt x="364490" y="35051"/>
                  </a:lnTo>
                  <a:lnTo>
                    <a:pt x="0" y="35051"/>
                  </a:lnTo>
                  <a:lnTo>
                    <a:pt x="0" y="105156"/>
                  </a:lnTo>
                  <a:lnTo>
                    <a:pt x="364490" y="105156"/>
                  </a:lnTo>
                  <a:lnTo>
                    <a:pt x="364490" y="140207"/>
                  </a:lnTo>
                  <a:lnTo>
                    <a:pt x="484631" y="70103"/>
                  </a:lnTo>
                  <a:lnTo>
                    <a:pt x="36449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010400" y="5315711"/>
              <a:ext cx="485140" cy="140335"/>
            </a:xfrm>
            <a:custGeom>
              <a:avLst/>
              <a:gdLst/>
              <a:ahLst/>
              <a:cxnLst/>
              <a:rect l="l" t="t" r="r" b="b"/>
              <a:pathLst>
                <a:path w="485140" h="140335">
                  <a:moveTo>
                    <a:pt x="0" y="35051"/>
                  </a:moveTo>
                  <a:lnTo>
                    <a:pt x="364490" y="35051"/>
                  </a:lnTo>
                  <a:lnTo>
                    <a:pt x="364490" y="0"/>
                  </a:lnTo>
                  <a:lnTo>
                    <a:pt x="484631" y="70103"/>
                  </a:lnTo>
                  <a:lnTo>
                    <a:pt x="364490" y="140207"/>
                  </a:lnTo>
                  <a:lnTo>
                    <a:pt x="364490" y="105156"/>
                  </a:lnTo>
                  <a:lnTo>
                    <a:pt x="0" y="105156"/>
                  </a:lnTo>
                  <a:lnTo>
                    <a:pt x="0" y="35051"/>
                  </a:lnTo>
                  <a:close/>
                </a:path>
              </a:pathLst>
            </a:custGeom>
            <a:ln w="1219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8147304" y="4704588"/>
            <a:ext cx="165100" cy="325120"/>
            <a:chOff x="8147304" y="4704588"/>
            <a:chExt cx="165100" cy="325120"/>
          </a:xfrm>
        </p:grpSpPr>
        <p:sp>
          <p:nvSpPr>
            <p:cNvPr id="37" name="object 37"/>
            <p:cNvSpPr/>
            <p:nvPr/>
          </p:nvSpPr>
          <p:spPr>
            <a:xfrm>
              <a:off x="8153400" y="4710684"/>
              <a:ext cx="152400" cy="312420"/>
            </a:xfrm>
            <a:custGeom>
              <a:avLst/>
              <a:gdLst/>
              <a:ahLst/>
              <a:cxnLst/>
              <a:rect l="l" t="t" r="r" b="b"/>
              <a:pathLst>
                <a:path w="152400" h="312420">
                  <a:moveTo>
                    <a:pt x="114300" y="0"/>
                  </a:moveTo>
                  <a:lnTo>
                    <a:pt x="38100" y="0"/>
                  </a:lnTo>
                  <a:lnTo>
                    <a:pt x="38100" y="234188"/>
                  </a:lnTo>
                  <a:lnTo>
                    <a:pt x="0" y="234188"/>
                  </a:lnTo>
                  <a:lnTo>
                    <a:pt x="76200" y="312420"/>
                  </a:lnTo>
                  <a:lnTo>
                    <a:pt x="152400" y="234188"/>
                  </a:lnTo>
                  <a:lnTo>
                    <a:pt x="114300" y="234188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153400" y="4710684"/>
              <a:ext cx="152400" cy="312420"/>
            </a:xfrm>
            <a:custGeom>
              <a:avLst/>
              <a:gdLst/>
              <a:ahLst/>
              <a:cxnLst/>
              <a:rect l="l" t="t" r="r" b="b"/>
              <a:pathLst>
                <a:path w="152400" h="312420">
                  <a:moveTo>
                    <a:pt x="114300" y="0"/>
                  </a:moveTo>
                  <a:lnTo>
                    <a:pt x="114300" y="234188"/>
                  </a:lnTo>
                  <a:lnTo>
                    <a:pt x="152400" y="234188"/>
                  </a:lnTo>
                  <a:lnTo>
                    <a:pt x="76200" y="312420"/>
                  </a:lnTo>
                  <a:lnTo>
                    <a:pt x="0" y="234188"/>
                  </a:lnTo>
                  <a:lnTo>
                    <a:pt x="38100" y="234188"/>
                  </a:lnTo>
                  <a:lnTo>
                    <a:pt x="38100" y="0"/>
                  </a:lnTo>
                  <a:lnTo>
                    <a:pt x="114300" y="0"/>
                  </a:lnTo>
                  <a:close/>
                </a:path>
              </a:pathLst>
            </a:custGeom>
            <a:ln w="12192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3651884" y="4479290"/>
            <a:ext cx="310515" cy="612775"/>
            <a:chOff x="3651884" y="4479290"/>
            <a:chExt cx="310515" cy="612775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94200" y="5006467"/>
              <a:ext cx="68199" cy="8521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651884" y="4479290"/>
              <a:ext cx="282575" cy="547370"/>
            </a:xfrm>
            <a:custGeom>
              <a:avLst/>
              <a:gdLst/>
              <a:ahLst/>
              <a:cxnLst/>
              <a:rect l="l" t="t" r="r" b="b"/>
              <a:pathLst>
                <a:path w="282575" h="547370">
                  <a:moveTo>
                    <a:pt x="11429" y="0"/>
                  </a:moveTo>
                  <a:lnTo>
                    <a:pt x="0" y="5587"/>
                  </a:lnTo>
                  <a:lnTo>
                    <a:pt x="270763" y="546989"/>
                  </a:lnTo>
                  <a:lnTo>
                    <a:pt x="282066" y="541401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7766684" y="3273805"/>
            <a:ext cx="310515" cy="612775"/>
            <a:chOff x="7766684" y="3273805"/>
            <a:chExt cx="310515" cy="612775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9000" y="3800982"/>
              <a:ext cx="68199" cy="8521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766684" y="3273805"/>
              <a:ext cx="282575" cy="547370"/>
            </a:xfrm>
            <a:custGeom>
              <a:avLst/>
              <a:gdLst/>
              <a:ahLst/>
              <a:cxnLst/>
              <a:rect l="l" t="t" r="r" b="b"/>
              <a:pathLst>
                <a:path w="282575" h="547370">
                  <a:moveTo>
                    <a:pt x="11430" y="0"/>
                  </a:moveTo>
                  <a:lnTo>
                    <a:pt x="0" y="5588"/>
                  </a:lnTo>
                  <a:lnTo>
                    <a:pt x="270764" y="546989"/>
                  </a:lnTo>
                  <a:lnTo>
                    <a:pt x="282067" y="541401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46395" y="2435967"/>
          <a:ext cx="4432300" cy="1869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690"/>
                <a:gridCol w="942975"/>
                <a:gridCol w="1205865"/>
                <a:gridCol w="1051559"/>
                <a:gridCol w="835660"/>
              </a:tblGrid>
              <a:tr h="571500">
                <a:tc>
                  <a:txBody>
                    <a:bodyPr/>
                    <a:lstStyle/>
                    <a:p>
                      <a:pPr algn="ctr" marR="31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30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Employed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1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02565" marR="210820" indent="86360">
                        <a:lnSpc>
                          <a:spcPts val="1500"/>
                        </a:lnSpc>
                        <a:spcBef>
                          <a:spcPts val="795"/>
                        </a:spcBef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3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Education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4305" marR="135890">
                        <a:lnSpc>
                          <a:spcPts val="1500"/>
                        </a:lnSpc>
                      </a:pP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3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at </a:t>
                      </a: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present address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34620" marR="132080" indent="43815">
                        <a:lnSpc>
                          <a:spcPts val="1500"/>
                        </a:lnSpc>
                        <a:spcBef>
                          <a:spcPts val="795"/>
                        </a:spcBef>
                      </a:pPr>
                      <a:r>
                        <a:rPr dirty="0" sz="13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 </a:t>
                      </a:r>
                      <a:r>
                        <a:rPr dirty="0" sz="13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Worthy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Graduate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778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3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School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2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781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3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10" b="1">
                          <a:latin typeface="Arial"/>
                          <a:cs typeface="Arial"/>
                        </a:rPr>
                        <a:t>Undergrad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1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4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3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0" b="1">
                          <a:latin typeface="Arial"/>
                          <a:cs typeface="Arial"/>
                        </a:rPr>
                        <a:t>School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latin typeface="Arial"/>
                          <a:cs typeface="Arial"/>
                        </a:rPr>
                        <a:t>10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300" spc="-25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300" spc="-50" b="1"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30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2222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923" y="4299584"/>
            <a:ext cx="31750" cy="40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4743958" y="1594485"/>
          <a:ext cx="4360545" cy="15938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927100"/>
                <a:gridCol w="1186180"/>
                <a:gridCol w="1034415"/>
                <a:gridCol w="822325"/>
              </a:tblGrid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50" spc="-25" i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R="2540">
                        <a:lnSpc>
                          <a:spcPct val="100000"/>
                        </a:lnSpc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Employed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00025" marR="220979" indent="8636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250" spc="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2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Education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3670" marR="135890">
                        <a:lnSpc>
                          <a:spcPts val="1500"/>
                        </a:lnSpc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12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years</a:t>
                      </a:r>
                      <a:r>
                        <a:rPr dirty="0" sz="1250" spc="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at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present address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132080" marR="142875" indent="4381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dirty="0" sz="12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Credit </a:t>
                      </a:r>
                      <a:r>
                        <a:rPr dirty="0" sz="12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Worthy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9525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50" spc="-25" b="1"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Undergrad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7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25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?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250" spc="-25" b="1">
                          <a:latin typeface="Arial"/>
                          <a:cs typeface="Arial"/>
                        </a:rPr>
                        <a:t>No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Graduate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25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?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4130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25" b="1">
                          <a:latin typeface="Arial"/>
                          <a:cs typeface="Arial"/>
                        </a:rPr>
                        <a:t>Yes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b="1">
                          <a:latin typeface="Arial"/>
                          <a:cs typeface="Arial"/>
                        </a:rPr>
                        <a:t>High</a:t>
                      </a:r>
                      <a:r>
                        <a:rPr dirty="0" sz="1250" spc="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10" b="1">
                          <a:latin typeface="Arial"/>
                          <a:cs typeface="Arial"/>
                        </a:rPr>
                        <a:t>School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?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solidFill>
                      <a:srgbClr val="C0C0C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…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…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…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latin typeface="Arial"/>
                          <a:cs typeface="Arial"/>
                        </a:rPr>
                        <a:t>…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250" spc="-50" b="1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…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6350">
                      <a:solidFill>
                        <a:srgbClr val="000080"/>
                      </a:solidFill>
                      <a:prstDash val="solid"/>
                    </a:lnL>
                    <a:lnR w="6350">
                      <a:solidFill>
                        <a:srgbClr val="000080"/>
                      </a:solidFill>
                      <a:prstDash val="solid"/>
                    </a:lnR>
                    <a:lnB w="6350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4725161" y="3180079"/>
            <a:ext cx="31750" cy="40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" spc="-25">
                <a:latin typeface="Arial MT"/>
                <a:cs typeface="Arial MT"/>
              </a:rPr>
              <a:t>10</a:t>
            </a:r>
            <a:endParaRPr sz="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58520" y="1292478"/>
            <a:ext cx="6097905" cy="458724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55600" marR="1840864" indent="-342900">
              <a:lnSpc>
                <a:spcPct val="79500"/>
              </a:lnSpc>
              <a:spcBef>
                <a:spcPts val="595"/>
              </a:spcBef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Classifying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credit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card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transactions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legitimate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fraudulent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ts val="2300"/>
              </a:lnSpc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Classifying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covers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(water</a:t>
            </a:r>
            <a:r>
              <a:rPr dirty="0" sz="2000" spc="-10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bodies,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urban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areas,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ts val="2300"/>
              </a:lnSpc>
            </a:pPr>
            <a:r>
              <a:rPr dirty="0" sz="2000">
                <a:latin typeface="Arial MT"/>
                <a:cs typeface="Arial MT"/>
              </a:rPr>
              <a:t>forests,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etc.)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satellite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000">
              <a:latin typeface="Arial MT"/>
              <a:cs typeface="Arial MT"/>
            </a:endParaRPr>
          </a:p>
          <a:p>
            <a:pPr marL="355600" marR="1561465" indent="-342900">
              <a:lnSpc>
                <a:spcPct val="79000"/>
              </a:lnSpc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 spc="-10">
                <a:latin typeface="Arial MT"/>
                <a:cs typeface="Arial MT"/>
              </a:rPr>
              <a:t>Categorizing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stories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finance, </a:t>
            </a:r>
            <a:r>
              <a:rPr dirty="0" sz="2000">
                <a:latin typeface="Arial MT"/>
                <a:cs typeface="Arial MT"/>
              </a:rPr>
              <a:t>weather,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entertainment,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sports,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etc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Identifying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intruders</a:t>
            </a:r>
            <a:r>
              <a:rPr dirty="0" sz="2000" spc="-10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cyberspace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Predicting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tumor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cells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benign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malignant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>
              <a:latin typeface="Arial MT"/>
              <a:cs typeface="Arial MT"/>
            </a:endParaRPr>
          </a:p>
          <a:p>
            <a:pPr algn="r" marR="939165">
              <a:lnSpc>
                <a:spcPts val="2300"/>
              </a:lnSpc>
              <a:tabLst>
                <a:tab pos="3422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>
                <a:latin typeface="Arial MT"/>
                <a:cs typeface="Arial MT"/>
              </a:rPr>
              <a:t>Classifying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secondary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structures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protein</a:t>
            </a:r>
            <a:endParaRPr sz="2000">
              <a:latin typeface="Arial MT"/>
              <a:cs typeface="Arial MT"/>
            </a:endParaRPr>
          </a:p>
          <a:p>
            <a:pPr algn="r" marR="998219">
              <a:lnSpc>
                <a:spcPts val="2300"/>
              </a:lnSpc>
            </a:pP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20">
                <a:latin typeface="Arial MT"/>
                <a:cs typeface="Arial MT"/>
              </a:rPr>
              <a:t> alpha-</a:t>
            </a:r>
            <a:r>
              <a:rPr dirty="0" sz="2000">
                <a:latin typeface="Arial MT"/>
                <a:cs typeface="Arial MT"/>
              </a:rPr>
              <a:t>helix,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beta-</a:t>
            </a:r>
            <a:r>
              <a:rPr dirty="0" sz="2000">
                <a:latin typeface="Arial MT"/>
                <a:cs typeface="Arial MT"/>
              </a:rPr>
              <a:t>sheet,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75">
                <a:latin typeface="Arial MT"/>
                <a:cs typeface="Arial MT"/>
              </a:rPr>
              <a:t>  </a:t>
            </a:r>
            <a:r>
              <a:rPr dirty="0" sz="2000" spc="-20">
                <a:latin typeface="Arial MT"/>
                <a:cs typeface="Arial MT"/>
              </a:rPr>
              <a:t>coil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8000" y="1143000"/>
            <a:ext cx="2057400" cy="1417320"/>
            <a:chOff x="6858000" y="1143000"/>
            <a:chExt cx="2057400" cy="141732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9439" y="1143000"/>
              <a:ext cx="1965959" cy="14173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98513" y="1784184"/>
              <a:ext cx="634707" cy="6264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0" y="1371600"/>
              <a:ext cx="685800" cy="563879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Examples</a:t>
            </a:r>
            <a:r>
              <a:rPr dirty="0" spc="-10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Classification</a:t>
            </a:r>
            <a:r>
              <a:rPr dirty="0" spc="-10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Task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52259" y="2964179"/>
            <a:ext cx="2174748" cy="14478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79335" y="4648200"/>
            <a:ext cx="1490472" cy="19141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</a:rPr>
              <a:t>Regression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520" y="1236345"/>
            <a:ext cx="7546340" cy="412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35255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8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8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Predict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given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continuous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variable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values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variables,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assuming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linear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nonlinear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model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dependency.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8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8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Extensively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studied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statistics,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neural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network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fields.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354965" algn="l"/>
              </a:tabLst>
            </a:pPr>
            <a:r>
              <a:rPr dirty="0" sz="18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8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Examples:</a:t>
            </a:r>
            <a:endParaRPr sz="2400">
              <a:latin typeface="Arial MT"/>
              <a:cs typeface="Arial MT"/>
            </a:endParaRPr>
          </a:p>
          <a:p>
            <a:pPr marL="753110" marR="5080" indent="-283845">
              <a:lnSpc>
                <a:spcPct val="100000"/>
              </a:lnSpc>
              <a:spcBef>
                <a:spcPts val="705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2400" spc="-10">
                <a:latin typeface="Arial MT"/>
                <a:cs typeface="Arial MT"/>
              </a:rPr>
              <a:t>Predicting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sales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amounts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new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product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on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 spc="-20">
                <a:latin typeface="Arial MT"/>
                <a:cs typeface="Arial MT"/>
              </a:rPr>
              <a:t>advetising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expenditure.</a:t>
            </a:r>
            <a:endParaRPr sz="2400">
              <a:latin typeface="Arial MT"/>
              <a:cs typeface="Arial MT"/>
            </a:endParaRPr>
          </a:p>
          <a:p>
            <a:pPr marL="753110" marR="1263015" indent="-283845">
              <a:lnSpc>
                <a:spcPct val="100000"/>
              </a:lnSpc>
              <a:spcBef>
                <a:spcPts val="700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2400" spc="-10">
                <a:latin typeface="Arial MT"/>
                <a:cs typeface="Arial MT"/>
              </a:rPr>
              <a:t>Predicting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wind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velocities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function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 spc="-10">
                <a:latin typeface="Arial MT"/>
                <a:cs typeface="Arial MT"/>
              </a:rPr>
              <a:t>temperature,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humidity,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air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pressure,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etc.</a:t>
            </a:r>
            <a:endParaRPr sz="2400">
              <a:latin typeface="Arial MT"/>
              <a:cs typeface="Arial MT"/>
            </a:endParaRPr>
          </a:p>
          <a:p>
            <a:pPr marL="753745" indent="-283845">
              <a:lnSpc>
                <a:spcPct val="100000"/>
              </a:lnSpc>
              <a:spcBef>
                <a:spcPts val="695"/>
              </a:spcBef>
              <a:buClr>
                <a:srgbClr val="0C799C"/>
              </a:buClr>
              <a:buChar char="–"/>
              <a:tabLst>
                <a:tab pos="753745" algn="l"/>
              </a:tabLst>
            </a:pPr>
            <a:r>
              <a:rPr dirty="0" sz="2400">
                <a:latin typeface="Arial MT"/>
                <a:cs typeface="Arial MT"/>
              </a:rPr>
              <a:t>Time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series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prediction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stock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market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indices.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3272028" y="2654744"/>
            <a:ext cx="5047615" cy="3598545"/>
            <a:chOff x="3272028" y="2654744"/>
            <a:chExt cx="5047615" cy="3598545"/>
          </a:xfrm>
        </p:grpSpPr>
        <p:sp>
          <p:nvSpPr>
            <p:cNvPr id="6" name="object 6"/>
            <p:cNvSpPr/>
            <p:nvPr/>
          </p:nvSpPr>
          <p:spPr>
            <a:xfrm>
              <a:off x="3381756" y="3570732"/>
              <a:ext cx="2943225" cy="2677795"/>
            </a:xfrm>
            <a:custGeom>
              <a:avLst/>
              <a:gdLst/>
              <a:ahLst/>
              <a:cxnLst/>
              <a:rect l="l" t="t" r="r" b="b"/>
              <a:pathLst>
                <a:path w="2943225" h="2677795">
                  <a:moveTo>
                    <a:pt x="809244" y="0"/>
                  </a:moveTo>
                  <a:lnTo>
                    <a:pt x="809244" y="1828799"/>
                  </a:lnTo>
                </a:path>
                <a:path w="2943225" h="2677795">
                  <a:moveTo>
                    <a:pt x="809244" y="1828799"/>
                  </a:moveTo>
                  <a:lnTo>
                    <a:pt x="2942844" y="1828799"/>
                  </a:lnTo>
                </a:path>
                <a:path w="2943225" h="2677795">
                  <a:moveTo>
                    <a:pt x="809244" y="1828799"/>
                  </a:moveTo>
                  <a:lnTo>
                    <a:pt x="0" y="2677667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292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0292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578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578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7028" y="3870960"/>
              <a:ext cx="161544" cy="1615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77028" y="4328160"/>
              <a:ext cx="161544" cy="161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626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62600" y="4104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10200" y="39517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10200" y="39517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2228" y="3870960"/>
              <a:ext cx="161544" cy="1615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10200" y="4256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410200" y="4256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76800" y="4256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76800" y="4256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2028" y="4709160"/>
              <a:ext cx="161544" cy="1615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0628" y="4785360"/>
              <a:ext cx="161544" cy="1615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0628" y="5013960"/>
              <a:ext cx="161544" cy="1615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9228" y="4785360"/>
              <a:ext cx="161544" cy="1615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6828" y="4556760"/>
              <a:ext cx="161544" cy="161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9228" y="5013960"/>
              <a:ext cx="161544" cy="1615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2028" y="4937760"/>
              <a:ext cx="161544" cy="1615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410200" y="51709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410200" y="51709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867400" y="5247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867400" y="52471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638800" y="5399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638800" y="53995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05628" y="5547360"/>
              <a:ext cx="161544" cy="16154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715000" y="55519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627"/>
                  </a:lnTo>
                  <a:lnTo>
                    <a:pt x="0" y="107772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772"/>
                  </a:lnTo>
                  <a:lnTo>
                    <a:pt x="152400" y="4462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715000" y="55519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62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627"/>
                  </a:lnTo>
                  <a:lnTo>
                    <a:pt x="152400" y="107772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772"/>
                  </a:lnTo>
                  <a:lnTo>
                    <a:pt x="0" y="446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410200" y="53233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410200" y="53233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107823"/>
                  </a:move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715000" y="50947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07823" y="0"/>
                  </a:moveTo>
                  <a:lnTo>
                    <a:pt x="44576" y="0"/>
                  </a:lnTo>
                  <a:lnTo>
                    <a:pt x="0" y="44577"/>
                  </a:lnTo>
                  <a:lnTo>
                    <a:pt x="0" y="107823"/>
                  </a:lnTo>
                  <a:lnTo>
                    <a:pt x="44576" y="152400"/>
                  </a:lnTo>
                  <a:lnTo>
                    <a:pt x="107823" y="152400"/>
                  </a:lnTo>
                  <a:lnTo>
                    <a:pt x="152400" y="107823"/>
                  </a:lnTo>
                  <a:lnTo>
                    <a:pt x="152400" y="44577"/>
                  </a:lnTo>
                  <a:lnTo>
                    <a:pt x="107823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5715000" y="5094732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44577"/>
                  </a:moveTo>
                  <a:lnTo>
                    <a:pt x="44576" y="0"/>
                  </a:lnTo>
                  <a:lnTo>
                    <a:pt x="107823" y="0"/>
                  </a:lnTo>
                  <a:lnTo>
                    <a:pt x="152400" y="44577"/>
                  </a:lnTo>
                  <a:lnTo>
                    <a:pt x="152400" y="107823"/>
                  </a:lnTo>
                  <a:lnTo>
                    <a:pt x="107823" y="152400"/>
                  </a:lnTo>
                  <a:lnTo>
                    <a:pt x="44576" y="152400"/>
                  </a:lnTo>
                  <a:lnTo>
                    <a:pt x="0" y="107823"/>
                  </a:lnTo>
                  <a:lnTo>
                    <a:pt x="0" y="4457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270881" y="4566157"/>
              <a:ext cx="228600" cy="616585"/>
            </a:xfrm>
            <a:custGeom>
              <a:avLst/>
              <a:gdLst/>
              <a:ahLst/>
              <a:cxnLst/>
              <a:rect l="l" t="t" r="r" b="b"/>
              <a:pathLst>
                <a:path w="228600" h="616585">
                  <a:moveTo>
                    <a:pt x="228600" y="530225"/>
                  </a:moveTo>
                  <a:lnTo>
                    <a:pt x="203962" y="538353"/>
                  </a:lnTo>
                  <a:lnTo>
                    <a:pt x="24511" y="0"/>
                  </a:lnTo>
                  <a:lnTo>
                    <a:pt x="0" y="8128"/>
                  </a:lnTo>
                  <a:lnTo>
                    <a:pt x="179451" y="546608"/>
                  </a:lnTo>
                  <a:lnTo>
                    <a:pt x="154813" y="554736"/>
                  </a:lnTo>
                  <a:lnTo>
                    <a:pt x="216281" y="616204"/>
                  </a:lnTo>
                  <a:lnTo>
                    <a:pt x="224536" y="558800"/>
                  </a:lnTo>
                  <a:lnTo>
                    <a:pt x="228600" y="530225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46243" y="4496561"/>
              <a:ext cx="73787" cy="8597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463413" y="2667762"/>
              <a:ext cx="2843530" cy="2143125"/>
            </a:xfrm>
            <a:custGeom>
              <a:avLst/>
              <a:gdLst/>
              <a:ahLst/>
              <a:cxnLst/>
              <a:rect l="l" t="t" r="r" b="b"/>
              <a:pathLst>
                <a:path w="2843529" h="2143125">
                  <a:moveTo>
                    <a:pt x="2843148" y="0"/>
                  </a:moveTo>
                  <a:lnTo>
                    <a:pt x="861949" y="0"/>
                  </a:lnTo>
                  <a:lnTo>
                    <a:pt x="861949" y="1066800"/>
                  </a:lnTo>
                  <a:lnTo>
                    <a:pt x="1192148" y="1066800"/>
                  </a:lnTo>
                  <a:lnTo>
                    <a:pt x="0" y="2143125"/>
                  </a:lnTo>
                  <a:lnTo>
                    <a:pt x="1687448" y="1066800"/>
                  </a:lnTo>
                  <a:lnTo>
                    <a:pt x="2843148" y="1066800"/>
                  </a:lnTo>
                  <a:lnTo>
                    <a:pt x="2843148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463413" y="2667762"/>
              <a:ext cx="2843530" cy="2143125"/>
            </a:xfrm>
            <a:custGeom>
              <a:avLst/>
              <a:gdLst/>
              <a:ahLst/>
              <a:cxnLst/>
              <a:rect l="l" t="t" r="r" b="b"/>
              <a:pathLst>
                <a:path w="2843529" h="2143125">
                  <a:moveTo>
                    <a:pt x="861949" y="0"/>
                  </a:moveTo>
                  <a:lnTo>
                    <a:pt x="1192148" y="0"/>
                  </a:lnTo>
                  <a:lnTo>
                    <a:pt x="1687448" y="0"/>
                  </a:lnTo>
                  <a:lnTo>
                    <a:pt x="2843148" y="0"/>
                  </a:lnTo>
                  <a:lnTo>
                    <a:pt x="2843148" y="622300"/>
                  </a:lnTo>
                  <a:lnTo>
                    <a:pt x="2843148" y="889000"/>
                  </a:lnTo>
                  <a:lnTo>
                    <a:pt x="2843148" y="1066800"/>
                  </a:lnTo>
                  <a:lnTo>
                    <a:pt x="1687448" y="1066800"/>
                  </a:lnTo>
                  <a:lnTo>
                    <a:pt x="0" y="2143125"/>
                  </a:lnTo>
                  <a:lnTo>
                    <a:pt x="1192148" y="1066800"/>
                  </a:lnTo>
                  <a:lnTo>
                    <a:pt x="861949" y="1066800"/>
                  </a:lnTo>
                  <a:lnTo>
                    <a:pt x="861949" y="889000"/>
                  </a:lnTo>
                  <a:lnTo>
                    <a:pt x="861949" y="622300"/>
                  </a:lnTo>
                  <a:lnTo>
                    <a:pt x="861949" y="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63320" y="1236345"/>
            <a:ext cx="7264400" cy="1786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5244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8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8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Finding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groups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objects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group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similar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(or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related)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another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different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unrelated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other groups</a:t>
            </a:r>
            <a:endParaRPr sz="2400">
              <a:latin typeface="Arial MT"/>
              <a:cs typeface="Arial MT"/>
            </a:endParaRPr>
          </a:p>
          <a:p>
            <a:pPr algn="r" marR="5080">
              <a:lnSpc>
                <a:spcPts val="2345"/>
              </a:lnSpc>
            </a:pPr>
            <a:r>
              <a:rPr dirty="0" sz="2000" spc="-40">
                <a:latin typeface="Tahoma"/>
                <a:cs typeface="Tahoma"/>
              </a:rPr>
              <a:t>Inter-</a:t>
            </a:r>
            <a:r>
              <a:rPr dirty="0" sz="2000" spc="-10">
                <a:latin typeface="Tahoma"/>
                <a:cs typeface="Tahoma"/>
              </a:rPr>
              <a:t>cluster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67043" y="3003550"/>
            <a:ext cx="148399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distances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are </a:t>
            </a:r>
            <a:r>
              <a:rPr dirty="0" sz="2000" spc="-10">
                <a:latin typeface="Tahoma"/>
                <a:cs typeface="Tahoma"/>
              </a:rPr>
              <a:t>maximized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283208" y="2959607"/>
            <a:ext cx="4902835" cy="2997835"/>
            <a:chOff x="1283208" y="2959607"/>
            <a:chExt cx="4902835" cy="2997835"/>
          </a:xfrm>
        </p:grpSpPr>
        <p:sp>
          <p:nvSpPr>
            <p:cNvPr id="49" name="object 49"/>
            <p:cNvSpPr/>
            <p:nvPr/>
          </p:nvSpPr>
          <p:spPr>
            <a:xfrm>
              <a:off x="2896361" y="3658361"/>
              <a:ext cx="3276600" cy="2286000"/>
            </a:xfrm>
            <a:custGeom>
              <a:avLst/>
              <a:gdLst/>
              <a:ahLst/>
              <a:cxnLst/>
              <a:rect l="l" t="t" r="r" b="b"/>
              <a:pathLst>
                <a:path w="3276600" h="2286000">
                  <a:moveTo>
                    <a:pt x="0" y="1181100"/>
                  </a:moveTo>
                  <a:lnTo>
                    <a:pt x="1905" y="1136395"/>
                  </a:lnTo>
                  <a:lnTo>
                    <a:pt x="7746" y="1092708"/>
                  </a:lnTo>
                  <a:lnTo>
                    <a:pt x="17144" y="1050036"/>
                  </a:lnTo>
                  <a:lnTo>
                    <a:pt x="29971" y="1008633"/>
                  </a:lnTo>
                  <a:lnTo>
                    <a:pt x="46355" y="968501"/>
                  </a:lnTo>
                  <a:lnTo>
                    <a:pt x="65786" y="929767"/>
                  </a:lnTo>
                  <a:lnTo>
                    <a:pt x="88392" y="892682"/>
                  </a:lnTo>
                  <a:lnTo>
                    <a:pt x="113918" y="857250"/>
                  </a:lnTo>
                  <a:lnTo>
                    <a:pt x="142239" y="823721"/>
                  </a:lnTo>
                  <a:lnTo>
                    <a:pt x="173227" y="792099"/>
                  </a:lnTo>
                  <a:lnTo>
                    <a:pt x="206756" y="762507"/>
                  </a:lnTo>
                  <a:lnTo>
                    <a:pt x="242569" y="735202"/>
                  </a:lnTo>
                  <a:lnTo>
                    <a:pt x="280669" y="710183"/>
                  </a:lnTo>
                  <a:lnTo>
                    <a:pt x="320801" y="687577"/>
                  </a:lnTo>
                  <a:lnTo>
                    <a:pt x="362838" y="667638"/>
                  </a:lnTo>
                  <a:lnTo>
                    <a:pt x="406653" y="650494"/>
                  </a:lnTo>
                  <a:lnTo>
                    <a:pt x="452120" y="636143"/>
                  </a:lnTo>
                  <a:lnTo>
                    <a:pt x="499110" y="624713"/>
                  </a:lnTo>
                  <a:lnTo>
                    <a:pt x="547497" y="616331"/>
                  </a:lnTo>
                  <a:lnTo>
                    <a:pt x="597026" y="611377"/>
                  </a:lnTo>
                  <a:lnTo>
                    <a:pt x="647700" y="609600"/>
                  </a:lnTo>
                  <a:lnTo>
                    <a:pt x="698373" y="611377"/>
                  </a:lnTo>
                  <a:lnTo>
                    <a:pt x="747902" y="616331"/>
                  </a:lnTo>
                  <a:lnTo>
                    <a:pt x="796163" y="624713"/>
                  </a:lnTo>
                  <a:lnTo>
                    <a:pt x="843152" y="636143"/>
                  </a:lnTo>
                  <a:lnTo>
                    <a:pt x="888746" y="650494"/>
                  </a:lnTo>
                  <a:lnTo>
                    <a:pt x="932561" y="667638"/>
                  </a:lnTo>
                  <a:lnTo>
                    <a:pt x="974598" y="687577"/>
                  </a:lnTo>
                  <a:lnTo>
                    <a:pt x="1014729" y="710183"/>
                  </a:lnTo>
                  <a:lnTo>
                    <a:pt x="1052829" y="735202"/>
                  </a:lnTo>
                  <a:lnTo>
                    <a:pt x="1088643" y="762507"/>
                  </a:lnTo>
                  <a:lnTo>
                    <a:pt x="1122172" y="792099"/>
                  </a:lnTo>
                  <a:lnTo>
                    <a:pt x="1153160" y="823721"/>
                  </a:lnTo>
                  <a:lnTo>
                    <a:pt x="1181480" y="857250"/>
                  </a:lnTo>
                  <a:lnTo>
                    <a:pt x="1207008" y="892682"/>
                  </a:lnTo>
                  <a:lnTo>
                    <a:pt x="1229614" y="929767"/>
                  </a:lnTo>
                  <a:lnTo>
                    <a:pt x="1249045" y="968501"/>
                  </a:lnTo>
                  <a:lnTo>
                    <a:pt x="1265427" y="1008633"/>
                  </a:lnTo>
                  <a:lnTo>
                    <a:pt x="1278254" y="1050036"/>
                  </a:lnTo>
                  <a:lnTo>
                    <a:pt x="1287652" y="1092708"/>
                  </a:lnTo>
                  <a:lnTo>
                    <a:pt x="1293495" y="1136395"/>
                  </a:lnTo>
                  <a:lnTo>
                    <a:pt x="1295400" y="1181100"/>
                  </a:lnTo>
                  <a:lnTo>
                    <a:pt x="1293495" y="1225804"/>
                  </a:lnTo>
                  <a:lnTo>
                    <a:pt x="1287652" y="1269492"/>
                  </a:lnTo>
                  <a:lnTo>
                    <a:pt x="1278254" y="1312164"/>
                  </a:lnTo>
                  <a:lnTo>
                    <a:pt x="1265427" y="1353565"/>
                  </a:lnTo>
                  <a:lnTo>
                    <a:pt x="1249045" y="1393698"/>
                  </a:lnTo>
                  <a:lnTo>
                    <a:pt x="1229614" y="1432433"/>
                  </a:lnTo>
                  <a:lnTo>
                    <a:pt x="1207008" y="1469517"/>
                  </a:lnTo>
                  <a:lnTo>
                    <a:pt x="1181480" y="1504950"/>
                  </a:lnTo>
                  <a:lnTo>
                    <a:pt x="1153160" y="1538477"/>
                  </a:lnTo>
                  <a:lnTo>
                    <a:pt x="1122172" y="1570101"/>
                  </a:lnTo>
                  <a:lnTo>
                    <a:pt x="1088643" y="1599692"/>
                  </a:lnTo>
                  <a:lnTo>
                    <a:pt x="1052829" y="1626997"/>
                  </a:lnTo>
                  <a:lnTo>
                    <a:pt x="1014729" y="1652015"/>
                  </a:lnTo>
                  <a:lnTo>
                    <a:pt x="974598" y="1674622"/>
                  </a:lnTo>
                  <a:lnTo>
                    <a:pt x="932561" y="1694561"/>
                  </a:lnTo>
                  <a:lnTo>
                    <a:pt x="888746" y="1711706"/>
                  </a:lnTo>
                  <a:lnTo>
                    <a:pt x="843152" y="1726057"/>
                  </a:lnTo>
                  <a:lnTo>
                    <a:pt x="796163" y="1737487"/>
                  </a:lnTo>
                  <a:lnTo>
                    <a:pt x="747902" y="1745741"/>
                  </a:lnTo>
                  <a:lnTo>
                    <a:pt x="698373" y="1750822"/>
                  </a:lnTo>
                  <a:lnTo>
                    <a:pt x="647700" y="1752600"/>
                  </a:lnTo>
                  <a:lnTo>
                    <a:pt x="597026" y="1750822"/>
                  </a:lnTo>
                  <a:lnTo>
                    <a:pt x="547497" y="1745741"/>
                  </a:lnTo>
                  <a:lnTo>
                    <a:pt x="499110" y="1737487"/>
                  </a:lnTo>
                  <a:lnTo>
                    <a:pt x="452120" y="1726057"/>
                  </a:lnTo>
                  <a:lnTo>
                    <a:pt x="406653" y="1711706"/>
                  </a:lnTo>
                  <a:lnTo>
                    <a:pt x="362838" y="1694561"/>
                  </a:lnTo>
                  <a:lnTo>
                    <a:pt x="320801" y="1674622"/>
                  </a:lnTo>
                  <a:lnTo>
                    <a:pt x="280669" y="1652015"/>
                  </a:lnTo>
                  <a:lnTo>
                    <a:pt x="242569" y="1626997"/>
                  </a:lnTo>
                  <a:lnTo>
                    <a:pt x="206756" y="1599692"/>
                  </a:lnTo>
                  <a:lnTo>
                    <a:pt x="173227" y="1570101"/>
                  </a:lnTo>
                  <a:lnTo>
                    <a:pt x="142239" y="1538477"/>
                  </a:lnTo>
                  <a:lnTo>
                    <a:pt x="113918" y="1504950"/>
                  </a:lnTo>
                  <a:lnTo>
                    <a:pt x="88392" y="1469517"/>
                  </a:lnTo>
                  <a:lnTo>
                    <a:pt x="65786" y="1432433"/>
                  </a:lnTo>
                  <a:lnTo>
                    <a:pt x="46355" y="1393698"/>
                  </a:lnTo>
                  <a:lnTo>
                    <a:pt x="29971" y="1353565"/>
                  </a:lnTo>
                  <a:lnTo>
                    <a:pt x="17144" y="1312164"/>
                  </a:lnTo>
                  <a:lnTo>
                    <a:pt x="7746" y="1269492"/>
                  </a:lnTo>
                  <a:lnTo>
                    <a:pt x="1905" y="1225804"/>
                  </a:lnTo>
                  <a:lnTo>
                    <a:pt x="0" y="1181100"/>
                  </a:lnTo>
                  <a:close/>
                </a:path>
                <a:path w="3276600" h="2286000">
                  <a:moveTo>
                    <a:pt x="1752600" y="495300"/>
                  </a:moveTo>
                  <a:lnTo>
                    <a:pt x="1754886" y="450214"/>
                  </a:lnTo>
                  <a:lnTo>
                    <a:pt x="1761743" y="406273"/>
                  </a:lnTo>
                  <a:lnTo>
                    <a:pt x="1773047" y="363600"/>
                  </a:lnTo>
                  <a:lnTo>
                    <a:pt x="1788414" y="322452"/>
                  </a:lnTo>
                  <a:lnTo>
                    <a:pt x="1807590" y="282956"/>
                  </a:lnTo>
                  <a:lnTo>
                    <a:pt x="1830577" y="245363"/>
                  </a:lnTo>
                  <a:lnTo>
                    <a:pt x="1857121" y="209676"/>
                  </a:lnTo>
                  <a:lnTo>
                    <a:pt x="1886965" y="176149"/>
                  </a:lnTo>
                  <a:lnTo>
                    <a:pt x="1919986" y="145033"/>
                  </a:lnTo>
                  <a:lnTo>
                    <a:pt x="1955927" y="116458"/>
                  </a:lnTo>
                  <a:lnTo>
                    <a:pt x="1994535" y="90550"/>
                  </a:lnTo>
                  <a:lnTo>
                    <a:pt x="2035683" y="67563"/>
                  </a:lnTo>
                  <a:lnTo>
                    <a:pt x="2079116" y="47625"/>
                  </a:lnTo>
                  <a:lnTo>
                    <a:pt x="2124710" y="30987"/>
                  </a:lnTo>
                  <a:lnTo>
                    <a:pt x="2172208" y="17652"/>
                  </a:lnTo>
                  <a:lnTo>
                    <a:pt x="2221357" y="8000"/>
                  </a:lnTo>
                  <a:lnTo>
                    <a:pt x="2272029" y="2031"/>
                  </a:lnTo>
                  <a:lnTo>
                    <a:pt x="2324100" y="0"/>
                  </a:lnTo>
                  <a:lnTo>
                    <a:pt x="2376170" y="2031"/>
                  </a:lnTo>
                  <a:lnTo>
                    <a:pt x="2426842" y="8000"/>
                  </a:lnTo>
                  <a:lnTo>
                    <a:pt x="2475991" y="17652"/>
                  </a:lnTo>
                  <a:lnTo>
                    <a:pt x="2523490" y="30987"/>
                  </a:lnTo>
                  <a:lnTo>
                    <a:pt x="2569083" y="47625"/>
                  </a:lnTo>
                  <a:lnTo>
                    <a:pt x="2612516" y="67563"/>
                  </a:lnTo>
                  <a:lnTo>
                    <a:pt x="2653665" y="90550"/>
                  </a:lnTo>
                  <a:lnTo>
                    <a:pt x="2692273" y="116458"/>
                  </a:lnTo>
                  <a:lnTo>
                    <a:pt x="2728214" y="145033"/>
                  </a:lnTo>
                  <a:lnTo>
                    <a:pt x="2761234" y="176149"/>
                  </a:lnTo>
                  <a:lnTo>
                    <a:pt x="2791079" y="209676"/>
                  </a:lnTo>
                  <a:lnTo>
                    <a:pt x="2817622" y="245363"/>
                  </a:lnTo>
                  <a:lnTo>
                    <a:pt x="2840609" y="282956"/>
                  </a:lnTo>
                  <a:lnTo>
                    <a:pt x="2859786" y="322452"/>
                  </a:lnTo>
                  <a:lnTo>
                    <a:pt x="2875153" y="363600"/>
                  </a:lnTo>
                  <a:lnTo>
                    <a:pt x="2886329" y="406273"/>
                  </a:lnTo>
                  <a:lnTo>
                    <a:pt x="2893314" y="450214"/>
                  </a:lnTo>
                  <a:lnTo>
                    <a:pt x="2895600" y="495300"/>
                  </a:lnTo>
                  <a:lnTo>
                    <a:pt x="2893314" y="540385"/>
                  </a:lnTo>
                  <a:lnTo>
                    <a:pt x="2886329" y="584326"/>
                  </a:lnTo>
                  <a:lnTo>
                    <a:pt x="2875153" y="626999"/>
                  </a:lnTo>
                  <a:lnTo>
                    <a:pt x="2859786" y="668146"/>
                  </a:lnTo>
                  <a:lnTo>
                    <a:pt x="2840609" y="707644"/>
                  </a:lnTo>
                  <a:lnTo>
                    <a:pt x="2817622" y="745236"/>
                  </a:lnTo>
                  <a:lnTo>
                    <a:pt x="2791079" y="780923"/>
                  </a:lnTo>
                  <a:lnTo>
                    <a:pt x="2761234" y="814451"/>
                  </a:lnTo>
                  <a:lnTo>
                    <a:pt x="2728214" y="845565"/>
                  </a:lnTo>
                  <a:lnTo>
                    <a:pt x="2692273" y="874140"/>
                  </a:lnTo>
                  <a:lnTo>
                    <a:pt x="2653665" y="900049"/>
                  </a:lnTo>
                  <a:lnTo>
                    <a:pt x="2612516" y="923036"/>
                  </a:lnTo>
                  <a:lnTo>
                    <a:pt x="2569083" y="942848"/>
                  </a:lnTo>
                  <a:lnTo>
                    <a:pt x="2523490" y="959612"/>
                  </a:lnTo>
                  <a:lnTo>
                    <a:pt x="2475991" y="972946"/>
                  </a:lnTo>
                  <a:lnTo>
                    <a:pt x="2426842" y="982599"/>
                  </a:lnTo>
                  <a:lnTo>
                    <a:pt x="2376170" y="988568"/>
                  </a:lnTo>
                  <a:lnTo>
                    <a:pt x="2324100" y="990600"/>
                  </a:lnTo>
                  <a:lnTo>
                    <a:pt x="2272029" y="988568"/>
                  </a:lnTo>
                  <a:lnTo>
                    <a:pt x="2221357" y="982599"/>
                  </a:lnTo>
                  <a:lnTo>
                    <a:pt x="2172208" y="972946"/>
                  </a:lnTo>
                  <a:lnTo>
                    <a:pt x="2124710" y="959612"/>
                  </a:lnTo>
                  <a:lnTo>
                    <a:pt x="2079116" y="942848"/>
                  </a:lnTo>
                  <a:lnTo>
                    <a:pt x="2035683" y="923036"/>
                  </a:lnTo>
                  <a:lnTo>
                    <a:pt x="1994535" y="900049"/>
                  </a:lnTo>
                  <a:lnTo>
                    <a:pt x="1955927" y="874140"/>
                  </a:lnTo>
                  <a:lnTo>
                    <a:pt x="1919986" y="845565"/>
                  </a:lnTo>
                  <a:lnTo>
                    <a:pt x="1886965" y="814451"/>
                  </a:lnTo>
                  <a:lnTo>
                    <a:pt x="1857121" y="780923"/>
                  </a:lnTo>
                  <a:lnTo>
                    <a:pt x="1830577" y="745236"/>
                  </a:lnTo>
                  <a:lnTo>
                    <a:pt x="1807590" y="707644"/>
                  </a:lnTo>
                  <a:lnTo>
                    <a:pt x="1788414" y="668146"/>
                  </a:lnTo>
                  <a:lnTo>
                    <a:pt x="1773047" y="626999"/>
                  </a:lnTo>
                  <a:lnTo>
                    <a:pt x="1761743" y="584326"/>
                  </a:lnTo>
                  <a:lnTo>
                    <a:pt x="1754886" y="540385"/>
                  </a:lnTo>
                  <a:lnTo>
                    <a:pt x="1752600" y="495300"/>
                  </a:lnTo>
                  <a:close/>
                </a:path>
                <a:path w="3276600" h="2286000">
                  <a:moveTo>
                    <a:pt x="2209800" y="1790700"/>
                  </a:moveTo>
                  <a:lnTo>
                    <a:pt x="2211959" y="1745614"/>
                  </a:lnTo>
                  <a:lnTo>
                    <a:pt x="2218436" y="1701673"/>
                  </a:lnTo>
                  <a:lnTo>
                    <a:pt x="2228850" y="1659001"/>
                  </a:lnTo>
                  <a:lnTo>
                    <a:pt x="2243201" y="1617853"/>
                  </a:lnTo>
                  <a:lnTo>
                    <a:pt x="2261108" y="1578356"/>
                  </a:lnTo>
                  <a:lnTo>
                    <a:pt x="2282571" y="1540764"/>
                  </a:lnTo>
                  <a:lnTo>
                    <a:pt x="2307336" y="1505077"/>
                  </a:lnTo>
                  <a:lnTo>
                    <a:pt x="2335276" y="1471549"/>
                  </a:lnTo>
                  <a:lnTo>
                    <a:pt x="2366010" y="1440433"/>
                  </a:lnTo>
                  <a:lnTo>
                    <a:pt x="2399538" y="1411858"/>
                  </a:lnTo>
                  <a:lnTo>
                    <a:pt x="2435605" y="1385951"/>
                  </a:lnTo>
                  <a:lnTo>
                    <a:pt x="2473960" y="1362964"/>
                  </a:lnTo>
                  <a:lnTo>
                    <a:pt x="2514473" y="1343025"/>
                  </a:lnTo>
                  <a:lnTo>
                    <a:pt x="2557017" y="1326388"/>
                  </a:lnTo>
                  <a:lnTo>
                    <a:pt x="2601341" y="1313052"/>
                  </a:lnTo>
                  <a:lnTo>
                    <a:pt x="2647315" y="1303401"/>
                  </a:lnTo>
                  <a:lnTo>
                    <a:pt x="2694686" y="1297432"/>
                  </a:lnTo>
                  <a:lnTo>
                    <a:pt x="2743200" y="1295400"/>
                  </a:lnTo>
                  <a:lnTo>
                    <a:pt x="2791714" y="1297432"/>
                  </a:lnTo>
                  <a:lnTo>
                    <a:pt x="2839085" y="1303401"/>
                  </a:lnTo>
                  <a:lnTo>
                    <a:pt x="2885059" y="1313052"/>
                  </a:lnTo>
                  <a:lnTo>
                    <a:pt x="2929382" y="1326388"/>
                  </a:lnTo>
                  <a:lnTo>
                    <a:pt x="2971927" y="1343025"/>
                  </a:lnTo>
                  <a:lnTo>
                    <a:pt x="3012440" y="1362964"/>
                  </a:lnTo>
                  <a:lnTo>
                    <a:pt x="3050793" y="1385951"/>
                  </a:lnTo>
                  <a:lnTo>
                    <a:pt x="3086862" y="1411858"/>
                  </a:lnTo>
                  <a:lnTo>
                    <a:pt x="3120390" y="1440433"/>
                  </a:lnTo>
                  <a:lnTo>
                    <a:pt x="3151124" y="1471549"/>
                  </a:lnTo>
                  <a:lnTo>
                    <a:pt x="3179064" y="1505077"/>
                  </a:lnTo>
                  <a:lnTo>
                    <a:pt x="3203829" y="1540764"/>
                  </a:lnTo>
                  <a:lnTo>
                    <a:pt x="3225291" y="1578356"/>
                  </a:lnTo>
                  <a:lnTo>
                    <a:pt x="3243199" y="1617853"/>
                  </a:lnTo>
                  <a:lnTo>
                    <a:pt x="3257550" y="1659001"/>
                  </a:lnTo>
                  <a:lnTo>
                    <a:pt x="3267964" y="1701673"/>
                  </a:lnTo>
                  <a:lnTo>
                    <a:pt x="3274441" y="1745614"/>
                  </a:lnTo>
                  <a:lnTo>
                    <a:pt x="3276600" y="1790700"/>
                  </a:lnTo>
                  <a:lnTo>
                    <a:pt x="3274441" y="1835785"/>
                  </a:lnTo>
                  <a:lnTo>
                    <a:pt x="3267964" y="1879727"/>
                  </a:lnTo>
                  <a:lnTo>
                    <a:pt x="3257550" y="1922399"/>
                  </a:lnTo>
                  <a:lnTo>
                    <a:pt x="3243199" y="1963521"/>
                  </a:lnTo>
                  <a:lnTo>
                    <a:pt x="3225291" y="2003018"/>
                  </a:lnTo>
                  <a:lnTo>
                    <a:pt x="3203829" y="2040686"/>
                  </a:lnTo>
                  <a:lnTo>
                    <a:pt x="3179064" y="2076335"/>
                  </a:lnTo>
                  <a:lnTo>
                    <a:pt x="3151124" y="2109812"/>
                  </a:lnTo>
                  <a:lnTo>
                    <a:pt x="3120390" y="2140927"/>
                  </a:lnTo>
                  <a:lnTo>
                    <a:pt x="3086862" y="2169515"/>
                  </a:lnTo>
                  <a:lnTo>
                    <a:pt x="3050793" y="2195385"/>
                  </a:lnTo>
                  <a:lnTo>
                    <a:pt x="3012440" y="2218372"/>
                  </a:lnTo>
                  <a:lnTo>
                    <a:pt x="2971927" y="2238311"/>
                  </a:lnTo>
                  <a:lnTo>
                    <a:pt x="2929382" y="2255012"/>
                  </a:lnTo>
                  <a:lnTo>
                    <a:pt x="2885059" y="2268308"/>
                  </a:lnTo>
                  <a:lnTo>
                    <a:pt x="2839085" y="2278024"/>
                  </a:lnTo>
                  <a:lnTo>
                    <a:pt x="2791714" y="2283968"/>
                  </a:lnTo>
                  <a:lnTo>
                    <a:pt x="2743200" y="2286000"/>
                  </a:lnTo>
                  <a:lnTo>
                    <a:pt x="2694686" y="2283968"/>
                  </a:lnTo>
                  <a:lnTo>
                    <a:pt x="2647315" y="2278024"/>
                  </a:lnTo>
                  <a:lnTo>
                    <a:pt x="2601341" y="2268308"/>
                  </a:lnTo>
                  <a:lnTo>
                    <a:pt x="2557017" y="2255012"/>
                  </a:lnTo>
                  <a:lnTo>
                    <a:pt x="2514473" y="2238311"/>
                  </a:lnTo>
                  <a:lnTo>
                    <a:pt x="2473960" y="2218372"/>
                  </a:lnTo>
                  <a:lnTo>
                    <a:pt x="2435605" y="2195385"/>
                  </a:lnTo>
                  <a:lnTo>
                    <a:pt x="2399538" y="2169515"/>
                  </a:lnTo>
                  <a:lnTo>
                    <a:pt x="2366010" y="2140927"/>
                  </a:lnTo>
                  <a:lnTo>
                    <a:pt x="2335276" y="2109812"/>
                  </a:lnTo>
                  <a:lnTo>
                    <a:pt x="2307336" y="2076335"/>
                  </a:lnTo>
                  <a:lnTo>
                    <a:pt x="2282571" y="2040686"/>
                  </a:lnTo>
                  <a:lnTo>
                    <a:pt x="2261108" y="2003018"/>
                  </a:lnTo>
                  <a:lnTo>
                    <a:pt x="2243201" y="1963521"/>
                  </a:lnTo>
                  <a:lnTo>
                    <a:pt x="2228850" y="1922399"/>
                  </a:lnTo>
                  <a:lnTo>
                    <a:pt x="2218436" y="1879727"/>
                  </a:lnTo>
                  <a:lnTo>
                    <a:pt x="2211959" y="1835785"/>
                  </a:lnTo>
                  <a:lnTo>
                    <a:pt x="2209800" y="1790700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77362" y="4496561"/>
              <a:ext cx="304800" cy="1524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96162" y="2972561"/>
              <a:ext cx="2105025" cy="1524000"/>
            </a:xfrm>
            <a:custGeom>
              <a:avLst/>
              <a:gdLst/>
              <a:ahLst/>
              <a:cxnLst/>
              <a:rect l="l" t="t" r="r" b="b"/>
              <a:pathLst>
                <a:path w="2105025" h="1524000">
                  <a:moveTo>
                    <a:pt x="19812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155700" y="1066800"/>
                  </a:lnTo>
                  <a:lnTo>
                    <a:pt x="2105025" y="1524000"/>
                  </a:lnTo>
                  <a:lnTo>
                    <a:pt x="1651000" y="1066800"/>
                  </a:lnTo>
                  <a:lnTo>
                    <a:pt x="1981200" y="1066800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296162" y="2972561"/>
              <a:ext cx="2105025" cy="1524000"/>
            </a:xfrm>
            <a:custGeom>
              <a:avLst/>
              <a:gdLst/>
              <a:ahLst/>
              <a:cxnLst/>
              <a:rect l="l" t="t" r="r" b="b"/>
              <a:pathLst>
                <a:path w="2105025" h="1524000">
                  <a:moveTo>
                    <a:pt x="0" y="0"/>
                  </a:moveTo>
                  <a:lnTo>
                    <a:pt x="1155700" y="0"/>
                  </a:lnTo>
                  <a:lnTo>
                    <a:pt x="1651000" y="0"/>
                  </a:lnTo>
                  <a:lnTo>
                    <a:pt x="1981200" y="0"/>
                  </a:lnTo>
                  <a:lnTo>
                    <a:pt x="1981200" y="622300"/>
                  </a:lnTo>
                  <a:lnTo>
                    <a:pt x="1981200" y="889000"/>
                  </a:lnTo>
                  <a:lnTo>
                    <a:pt x="1981200" y="1066800"/>
                  </a:lnTo>
                  <a:lnTo>
                    <a:pt x="1651000" y="1066800"/>
                  </a:lnTo>
                  <a:lnTo>
                    <a:pt x="2105025" y="1524000"/>
                  </a:lnTo>
                  <a:lnTo>
                    <a:pt x="1155700" y="1066800"/>
                  </a:lnTo>
                  <a:lnTo>
                    <a:pt x="0" y="1066800"/>
                  </a:lnTo>
                  <a:lnTo>
                    <a:pt x="0" y="8890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548511" y="3003550"/>
            <a:ext cx="148399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3175">
              <a:lnSpc>
                <a:spcPct val="100000"/>
              </a:lnSpc>
              <a:spcBef>
                <a:spcPts val="105"/>
              </a:spcBef>
            </a:pPr>
            <a:r>
              <a:rPr dirty="0" sz="2000" spc="-35">
                <a:latin typeface="Tahoma"/>
                <a:cs typeface="Tahoma"/>
              </a:rPr>
              <a:t>Intra-</a:t>
            </a:r>
            <a:r>
              <a:rPr dirty="0" sz="2000" spc="-10">
                <a:latin typeface="Tahoma"/>
                <a:cs typeface="Tahoma"/>
              </a:rPr>
              <a:t>cluster </a:t>
            </a:r>
            <a:r>
              <a:rPr dirty="0" sz="2000">
                <a:latin typeface="Tahoma"/>
                <a:cs typeface="Tahoma"/>
              </a:rPr>
              <a:t>distances</a:t>
            </a:r>
            <a:r>
              <a:rPr dirty="0" sz="2000" spc="-14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are </a:t>
            </a:r>
            <a:r>
              <a:rPr dirty="0" sz="2000" spc="-10">
                <a:latin typeface="Tahoma"/>
                <a:cs typeface="Tahoma"/>
              </a:rPr>
              <a:t>minimized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29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</a:rPr>
              <a:t>Clustering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235" y="834327"/>
            <a:ext cx="3497579" cy="268732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 spc="-10" b="1">
                <a:latin typeface="Arial"/>
                <a:cs typeface="Arial"/>
              </a:rPr>
              <a:t>Understanding</a:t>
            </a:r>
            <a:endParaRPr sz="2000">
              <a:latin typeface="Arial"/>
              <a:cs typeface="Arial"/>
            </a:endParaRPr>
          </a:p>
          <a:p>
            <a:pPr marL="756285" marR="191770" indent="-287020">
              <a:lnSpc>
                <a:spcPct val="100000"/>
              </a:lnSpc>
              <a:spcBef>
                <a:spcPts val="615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1600">
                <a:latin typeface="Arial MT"/>
                <a:cs typeface="Arial MT"/>
              </a:rPr>
              <a:t>Custom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profiling</a:t>
            </a:r>
            <a:r>
              <a:rPr dirty="0" sz="1600" spc="-9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targeted marketing</a:t>
            </a:r>
            <a:endParaRPr sz="1600">
              <a:latin typeface="Arial MT"/>
              <a:cs typeface="Arial MT"/>
            </a:endParaRPr>
          </a:p>
          <a:p>
            <a:pPr marL="756285" marR="174625" indent="-287020">
              <a:lnSpc>
                <a:spcPct val="100000"/>
              </a:lnSpc>
              <a:spcBef>
                <a:spcPts val="600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1600">
                <a:latin typeface="Arial MT"/>
                <a:cs typeface="Arial MT"/>
              </a:rPr>
              <a:t>Group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related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documents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for </a:t>
            </a:r>
            <a:r>
              <a:rPr dirty="0" sz="1600" spc="-10">
                <a:latin typeface="Arial MT"/>
                <a:cs typeface="Arial MT"/>
              </a:rPr>
              <a:t>browsing</a:t>
            </a:r>
            <a:endParaRPr sz="16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605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1600">
                <a:latin typeface="Arial MT"/>
                <a:cs typeface="Arial MT"/>
              </a:rPr>
              <a:t>Group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genes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and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proteins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that</a:t>
            </a:r>
            <a:endParaRPr sz="16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dirty="0" sz="1600">
                <a:latin typeface="Arial MT"/>
                <a:cs typeface="Arial MT"/>
              </a:rPr>
              <a:t>have</a:t>
            </a:r>
            <a:r>
              <a:rPr dirty="0" sz="1600" spc="-7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similar</a:t>
            </a:r>
            <a:r>
              <a:rPr dirty="0" sz="1600" spc="-8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functionality</a:t>
            </a:r>
            <a:endParaRPr sz="1600">
              <a:latin typeface="Arial MT"/>
              <a:cs typeface="Arial MT"/>
            </a:endParaRPr>
          </a:p>
          <a:p>
            <a:pPr marL="756285" marR="5080" indent="-287020">
              <a:lnSpc>
                <a:spcPct val="100000"/>
              </a:lnSpc>
              <a:spcBef>
                <a:spcPts val="600"/>
              </a:spcBef>
              <a:buClr>
                <a:srgbClr val="0C799C"/>
              </a:buClr>
              <a:buChar char="–"/>
              <a:tabLst>
                <a:tab pos="756285" algn="l"/>
              </a:tabLst>
            </a:pPr>
            <a:r>
              <a:rPr dirty="0" sz="1600">
                <a:latin typeface="Arial MT"/>
                <a:cs typeface="Arial MT"/>
              </a:rPr>
              <a:t>Group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stocks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with</a:t>
            </a:r>
            <a:r>
              <a:rPr dirty="0" sz="1600" spc="-4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similar</a:t>
            </a:r>
            <a:r>
              <a:rPr dirty="0" sz="1600" spc="-10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price </a:t>
            </a:r>
            <a:r>
              <a:rPr dirty="0" sz="1600" spc="-10">
                <a:latin typeface="Arial MT"/>
                <a:cs typeface="Arial MT"/>
              </a:rPr>
              <a:t>fluctuations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235" y="3472782"/>
            <a:ext cx="3386454" cy="996315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354965" algn="l"/>
              </a:tabLst>
            </a:pPr>
            <a:r>
              <a:rPr dirty="0" sz="15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15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000" spc="-10" b="1">
                <a:latin typeface="Arial"/>
                <a:cs typeface="Arial"/>
              </a:rPr>
              <a:t>Summarization</a:t>
            </a:r>
            <a:endParaRPr sz="20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620"/>
              </a:spcBef>
              <a:tabLst>
                <a:tab pos="756285" algn="l"/>
              </a:tabLst>
            </a:pPr>
            <a:r>
              <a:rPr dirty="0" sz="1600">
                <a:solidFill>
                  <a:srgbClr val="0C799C"/>
                </a:solidFill>
                <a:latin typeface="Arial MT"/>
                <a:cs typeface="Arial MT"/>
              </a:rPr>
              <a:t>–	</a:t>
            </a:r>
            <a:r>
              <a:rPr dirty="0" sz="1600">
                <a:latin typeface="Arial MT"/>
                <a:cs typeface="Arial MT"/>
              </a:rPr>
              <a:t>Reduce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the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size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large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data </a:t>
            </a:r>
            <a:r>
              <a:rPr dirty="0" sz="1600" spc="-20">
                <a:latin typeface="Arial MT"/>
                <a:cs typeface="Arial MT"/>
              </a:rPr>
              <a:t>sets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8520" y="58927"/>
            <a:ext cx="640524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Applications</a:t>
            </a:r>
            <a:r>
              <a:rPr dirty="0" spc="-1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dirty="0" spc="-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Cluster</a:t>
            </a:r>
            <a:r>
              <a:rPr dirty="0" spc="-5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Analysis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04800" y="630937"/>
            <a:ext cx="8534400" cy="152400"/>
            <a:chOff x="304800" y="630937"/>
            <a:chExt cx="8534400" cy="1524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630937"/>
              <a:ext cx="8534400" cy="74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745235"/>
              <a:ext cx="8534400" cy="3810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08038" y="4878260"/>
            <a:ext cx="1969135" cy="1700530"/>
            <a:chOff x="308038" y="4878260"/>
            <a:chExt cx="1969135" cy="17005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625" y="4888750"/>
              <a:ext cx="1961007" cy="15727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625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17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9321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17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9112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063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880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063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4822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3639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451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639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6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97496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99020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09" h="0">
                  <a:moveTo>
                    <a:pt x="0" y="0"/>
                  </a:moveTo>
                  <a:lnTo>
                    <a:pt x="321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97191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99020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09" h="0">
                  <a:moveTo>
                    <a:pt x="0" y="0"/>
                  </a:moveTo>
                  <a:lnTo>
                    <a:pt x="321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60170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61682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59865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61682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122705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24229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09" h="0">
                  <a:moveTo>
                    <a:pt x="0" y="0"/>
                  </a:moveTo>
                  <a:lnTo>
                    <a:pt x="321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22400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04" y="0"/>
                  </a:moveTo>
                  <a:lnTo>
                    <a:pt x="88" y="126"/>
                  </a:lnTo>
                  <a:lnTo>
                    <a:pt x="0" y="380"/>
                  </a:lnTo>
                  <a:lnTo>
                    <a:pt x="304" y="634"/>
                  </a:lnTo>
                  <a:lnTo>
                    <a:pt x="520" y="507"/>
                  </a:lnTo>
                  <a:lnTo>
                    <a:pt x="520" y="12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124229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09" h="0">
                  <a:moveTo>
                    <a:pt x="0" y="0"/>
                  </a:moveTo>
                  <a:lnTo>
                    <a:pt x="321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288542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9006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28828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253" y="0"/>
                  </a:moveTo>
                  <a:lnTo>
                    <a:pt x="0" y="126"/>
                  </a:lnTo>
                  <a:lnTo>
                    <a:pt x="0" y="380"/>
                  </a:lnTo>
                  <a:lnTo>
                    <a:pt x="253" y="634"/>
                  </a:lnTo>
                  <a:lnTo>
                    <a:pt x="508" y="507"/>
                  </a:lnTo>
                  <a:lnTo>
                    <a:pt x="508" y="12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29006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451228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452753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45084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81" y="0"/>
                  </a:moveTo>
                  <a:lnTo>
                    <a:pt x="127" y="126"/>
                  </a:lnTo>
                  <a:lnTo>
                    <a:pt x="0" y="380"/>
                  </a:lnTo>
                  <a:lnTo>
                    <a:pt x="127" y="507"/>
                  </a:lnTo>
                  <a:lnTo>
                    <a:pt x="381" y="634"/>
                  </a:lnTo>
                  <a:lnTo>
                    <a:pt x="635" y="380"/>
                  </a:lnTo>
                  <a:lnTo>
                    <a:pt x="508" y="126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452753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613789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615312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613408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5">
                  <a:moveTo>
                    <a:pt x="380" y="0"/>
                  </a:moveTo>
                  <a:lnTo>
                    <a:pt x="126" y="126"/>
                  </a:lnTo>
                  <a:lnTo>
                    <a:pt x="0" y="380"/>
                  </a:lnTo>
                  <a:lnTo>
                    <a:pt x="380" y="634"/>
                  </a:lnTo>
                  <a:lnTo>
                    <a:pt x="634" y="380"/>
                  </a:lnTo>
                  <a:lnTo>
                    <a:pt x="507" y="126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615312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776348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778000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776095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4" y="0"/>
                  </a:moveTo>
                  <a:lnTo>
                    <a:pt x="0" y="380"/>
                  </a:lnTo>
                  <a:lnTo>
                    <a:pt x="254" y="634"/>
                  </a:lnTo>
                  <a:lnTo>
                    <a:pt x="507" y="507"/>
                  </a:lnTo>
                  <a:lnTo>
                    <a:pt x="635" y="380"/>
                  </a:lnTo>
                  <a:lnTo>
                    <a:pt x="507" y="126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778000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942083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943608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30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941830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380"/>
                  </a:lnTo>
                  <a:lnTo>
                    <a:pt x="253" y="634"/>
                  </a:lnTo>
                  <a:lnTo>
                    <a:pt x="507" y="507"/>
                  </a:lnTo>
                  <a:lnTo>
                    <a:pt x="507" y="12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943608" y="4881244"/>
              <a:ext cx="3810" cy="0"/>
            </a:xfrm>
            <a:custGeom>
              <a:avLst/>
              <a:gdLst/>
              <a:ahLst/>
              <a:cxnLst/>
              <a:rect l="l" t="t" r="r" b="b"/>
              <a:pathLst>
                <a:path w="3810" h="0">
                  <a:moveTo>
                    <a:pt x="0" y="0"/>
                  </a:moveTo>
                  <a:lnTo>
                    <a:pt x="330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104771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0629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10451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380"/>
                  </a:lnTo>
                  <a:lnTo>
                    <a:pt x="253" y="634"/>
                  </a:lnTo>
                  <a:lnTo>
                    <a:pt x="507" y="507"/>
                  </a:lnTo>
                  <a:lnTo>
                    <a:pt x="507" y="12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106295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267458" y="4879847"/>
              <a:ext cx="0" cy="1695450"/>
            </a:xfrm>
            <a:custGeom>
              <a:avLst/>
              <a:gdLst/>
              <a:ahLst/>
              <a:cxnLst/>
              <a:rect l="l" t="t" r="r" b="b"/>
              <a:pathLst>
                <a:path w="0" h="1695450">
                  <a:moveTo>
                    <a:pt x="0" y="16952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268981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267077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381" y="0"/>
                  </a:moveTo>
                  <a:lnTo>
                    <a:pt x="127" y="126"/>
                  </a:lnTo>
                  <a:lnTo>
                    <a:pt x="0" y="380"/>
                  </a:lnTo>
                  <a:lnTo>
                    <a:pt x="127" y="507"/>
                  </a:lnTo>
                  <a:lnTo>
                    <a:pt x="381" y="634"/>
                  </a:lnTo>
                  <a:lnTo>
                    <a:pt x="635" y="380"/>
                  </a:lnTo>
                  <a:lnTo>
                    <a:pt x="508" y="126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268981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309625" y="4879847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27215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270378" y="487946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126"/>
                  </a:lnTo>
                  <a:lnTo>
                    <a:pt x="0" y="380"/>
                  </a:lnTo>
                  <a:lnTo>
                    <a:pt x="253" y="634"/>
                  </a:lnTo>
                  <a:lnTo>
                    <a:pt x="507" y="507"/>
                  </a:lnTo>
                  <a:lnTo>
                    <a:pt x="507" y="12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272156" y="488124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09625" y="5157850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272156" y="515937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270378" y="515759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126"/>
                  </a:lnTo>
                  <a:lnTo>
                    <a:pt x="0" y="507"/>
                  </a:lnTo>
                  <a:lnTo>
                    <a:pt x="253" y="634"/>
                  </a:lnTo>
                  <a:lnTo>
                    <a:pt x="507" y="507"/>
                  </a:lnTo>
                  <a:lnTo>
                    <a:pt x="634" y="253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272156" y="515937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09625" y="5441949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272156" y="544334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270378" y="5441568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126"/>
                  </a:lnTo>
                  <a:lnTo>
                    <a:pt x="0" y="380"/>
                  </a:lnTo>
                  <a:lnTo>
                    <a:pt x="0" y="634"/>
                  </a:lnTo>
                  <a:lnTo>
                    <a:pt x="507" y="634"/>
                  </a:lnTo>
                  <a:lnTo>
                    <a:pt x="634" y="380"/>
                  </a:lnTo>
                  <a:lnTo>
                    <a:pt x="507" y="126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272156" y="5443346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09625" y="5723013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272156" y="57244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270378" y="5722708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88"/>
                  </a:lnTo>
                  <a:lnTo>
                    <a:pt x="0" y="304"/>
                  </a:lnTo>
                  <a:lnTo>
                    <a:pt x="0" y="520"/>
                  </a:lnTo>
                  <a:lnTo>
                    <a:pt x="253" y="609"/>
                  </a:lnTo>
                  <a:lnTo>
                    <a:pt x="507" y="520"/>
                  </a:lnTo>
                  <a:lnTo>
                    <a:pt x="634" y="304"/>
                  </a:lnTo>
                  <a:lnTo>
                    <a:pt x="507" y="8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272156" y="572444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309625" y="6007049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272156" y="60084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270378" y="60067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88"/>
                  </a:lnTo>
                  <a:lnTo>
                    <a:pt x="0" y="304"/>
                  </a:lnTo>
                  <a:lnTo>
                    <a:pt x="0" y="520"/>
                  </a:lnTo>
                  <a:lnTo>
                    <a:pt x="253" y="609"/>
                  </a:lnTo>
                  <a:lnTo>
                    <a:pt x="507" y="520"/>
                  </a:lnTo>
                  <a:lnTo>
                    <a:pt x="634" y="304"/>
                  </a:lnTo>
                  <a:lnTo>
                    <a:pt x="507" y="8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272156" y="600848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09625" y="6288125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2272156" y="62895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270378" y="6287820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253" y="0"/>
                  </a:moveTo>
                  <a:lnTo>
                    <a:pt x="0" y="88"/>
                  </a:lnTo>
                  <a:lnTo>
                    <a:pt x="0" y="304"/>
                  </a:lnTo>
                  <a:lnTo>
                    <a:pt x="0" y="520"/>
                  </a:lnTo>
                  <a:lnTo>
                    <a:pt x="253" y="609"/>
                  </a:lnTo>
                  <a:lnTo>
                    <a:pt x="507" y="520"/>
                  </a:lnTo>
                  <a:lnTo>
                    <a:pt x="634" y="304"/>
                  </a:lnTo>
                  <a:lnTo>
                    <a:pt x="507" y="8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272156" y="62895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09625" y="6572161"/>
              <a:ext cx="1961514" cy="0"/>
            </a:xfrm>
            <a:custGeom>
              <a:avLst/>
              <a:gdLst/>
              <a:ahLst/>
              <a:cxnLst/>
              <a:rect l="l" t="t" r="r" b="b"/>
              <a:pathLst>
                <a:path w="1961514" h="0">
                  <a:moveTo>
                    <a:pt x="0" y="0"/>
                  </a:moveTo>
                  <a:lnTo>
                    <a:pt x="1961007" y="0"/>
                  </a:lnTo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272156" y="657360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 h="0">
                  <a:moveTo>
                    <a:pt x="0" y="0"/>
                  </a:moveTo>
                  <a:lnTo>
                    <a:pt x="31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270378" y="657185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253" y="0"/>
                  </a:moveTo>
                  <a:lnTo>
                    <a:pt x="0" y="88"/>
                  </a:lnTo>
                  <a:lnTo>
                    <a:pt x="0" y="304"/>
                  </a:lnTo>
                  <a:lnTo>
                    <a:pt x="0" y="520"/>
                  </a:lnTo>
                  <a:lnTo>
                    <a:pt x="253" y="609"/>
                  </a:lnTo>
                  <a:lnTo>
                    <a:pt x="507" y="520"/>
                  </a:lnTo>
                  <a:lnTo>
                    <a:pt x="634" y="304"/>
                  </a:lnTo>
                  <a:lnTo>
                    <a:pt x="507" y="8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09625" y="4879847"/>
              <a:ext cx="1965960" cy="1697355"/>
            </a:xfrm>
            <a:custGeom>
              <a:avLst/>
              <a:gdLst/>
              <a:ahLst/>
              <a:cxnLst/>
              <a:rect l="l" t="t" r="r" b="b"/>
              <a:pathLst>
                <a:path w="1965960" h="1697354">
                  <a:moveTo>
                    <a:pt x="1962531" y="1693760"/>
                  </a:moveTo>
                  <a:lnTo>
                    <a:pt x="1965706" y="1693760"/>
                  </a:lnTo>
                </a:path>
                <a:path w="1965960" h="1697354">
                  <a:moveTo>
                    <a:pt x="0" y="1695297"/>
                  </a:moveTo>
                  <a:lnTo>
                    <a:pt x="1961007" y="1695297"/>
                  </a:lnTo>
                </a:path>
                <a:path w="1965960" h="1697354">
                  <a:moveTo>
                    <a:pt x="1962531" y="1696732"/>
                  </a:moveTo>
                  <a:lnTo>
                    <a:pt x="1965706" y="1696732"/>
                  </a:lnTo>
                </a:path>
                <a:path w="1965960" h="1697354">
                  <a:moveTo>
                    <a:pt x="0" y="0"/>
                  </a:moveTo>
                  <a:lnTo>
                    <a:pt x="1961007" y="0"/>
                  </a:lnTo>
                </a:path>
                <a:path w="1965960" h="1697354">
                  <a:moveTo>
                    <a:pt x="1962531" y="1396"/>
                  </a:moveTo>
                  <a:lnTo>
                    <a:pt x="1965706" y="1396"/>
                  </a:lnTo>
                </a:path>
                <a:path w="1965960" h="1697354">
                  <a:moveTo>
                    <a:pt x="1961007" y="0"/>
                  </a:moveTo>
                  <a:lnTo>
                    <a:pt x="1961007" y="1695297"/>
                  </a:lnTo>
                </a:path>
                <a:path w="1965960" h="1697354">
                  <a:moveTo>
                    <a:pt x="1962531" y="1696732"/>
                  </a:moveTo>
                  <a:lnTo>
                    <a:pt x="1965706" y="1696732"/>
                  </a:lnTo>
                </a:path>
                <a:path w="1965960" h="1697354">
                  <a:moveTo>
                    <a:pt x="0" y="0"/>
                  </a:moveTo>
                  <a:lnTo>
                    <a:pt x="0" y="1695297"/>
                  </a:lnTo>
                </a:path>
                <a:path w="1965960" h="1697354">
                  <a:moveTo>
                    <a:pt x="1549" y="1696732"/>
                  </a:moveTo>
                  <a:lnTo>
                    <a:pt x="4724" y="1696732"/>
                  </a:lnTo>
                </a:path>
                <a:path w="1965960" h="1697354">
                  <a:moveTo>
                    <a:pt x="0" y="1695297"/>
                  </a:moveTo>
                  <a:lnTo>
                    <a:pt x="1961007" y="1695297"/>
                  </a:lnTo>
                </a:path>
                <a:path w="1965960" h="1697354">
                  <a:moveTo>
                    <a:pt x="1962531" y="1696732"/>
                  </a:moveTo>
                  <a:lnTo>
                    <a:pt x="1965706" y="1696732"/>
                  </a:lnTo>
                </a:path>
                <a:path w="1965960" h="1697354">
                  <a:moveTo>
                    <a:pt x="0" y="0"/>
                  </a:moveTo>
                  <a:lnTo>
                    <a:pt x="0" y="1695297"/>
                  </a:lnTo>
                </a:path>
                <a:path w="1965960" h="1697354">
                  <a:moveTo>
                    <a:pt x="1549" y="1696732"/>
                  </a:moveTo>
                  <a:lnTo>
                    <a:pt x="4724" y="1696732"/>
                  </a:lnTo>
                </a:path>
                <a:path w="1965960" h="1697354">
                  <a:moveTo>
                    <a:pt x="0" y="1695297"/>
                  </a:moveTo>
                  <a:lnTo>
                    <a:pt x="0" y="1674393"/>
                  </a:lnTo>
                </a:path>
                <a:path w="1965960" h="1697354">
                  <a:moveTo>
                    <a:pt x="1549" y="1675841"/>
                  </a:moveTo>
                  <a:lnTo>
                    <a:pt x="4724" y="1675841"/>
                  </a:lnTo>
                </a:path>
                <a:path w="1965960" h="1697354">
                  <a:moveTo>
                    <a:pt x="0" y="0"/>
                  </a:moveTo>
                  <a:lnTo>
                    <a:pt x="0" y="17906"/>
                  </a:lnTo>
                </a:path>
                <a:path w="1965960" h="1697354">
                  <a:moveTo>
                    <a:pt x="1549" y="19303"/>
                  </a:moveTo>
                  <a:lnTo>
                    <a:pt x="4724" y="19303"/>
                  </a:lnTo>
                </a:path>
                <a:path w="1965960" h="1697354">
                  <a:moveTo>
                    <a:pt x="159486" y="1695297"/>
                  </a:moveTo>
                  <a:lnTo>
                    <a:pt x="159486" y="1674393"/>
                  </a:lnTo>
                </a:path>
                <a:path w="1965960" h="1697354">
                  <a:moveTo>
                    <a:pt x="161010" y="1675841"/>
                  </a:moveTo>
                  <a:lnTo>
                    <a:pt x="164185" y="1675841"/>
                  </a:lnTo>
                </a:path>
                <a:path w="1965960" h="1697354">
                  <a:moveTo>
                    <a:pt x="159486" y="0"/>
                  </a:moveTo>
                  <a:lnTo>
                    <a:pt x="159486" y="17906"/>
                  </a:lnTo>
                </a:path>
                <a:path w="1965960" h="1697354">
                  <a:moveTo>
                    <a:pt x="161010" y="19303"/>
                  </a:moveTo>
                  <a:lnTo>
                    <a:pt x="164185" y="19303"/>
                  </a:lnTo>
                </a:path>
                <a:path w="1965960" h="1697354">
                  <a:moveTo>
                    <a:pt x="325196" y="1695297"/>
                  </a:moveTo>
                  <a:lnTo>
                    <a:pt x="325196" y="1674393"/>
                  </a:lnTo>
                </a:path>
                <a:path w="1965960" h="1697354">
                  <a:moveTo>
                    <a:pt x="326771" y="1675841"/>
                  </a:moveTo>
                  <a:lnTo>
                    <a:pt x="329933" y="1675841"/>
                  </a:lnTo>
                </a:path>
                <a:path w="1965960" h="1697354">
                  <a:moveTo>
                    <a:pt x="325196" y="0"/>
                  </a:moveTo>
                  <a:lnTo>
                    <a:pt x="325196" y="17906"/>
                  </a:lnTo>
                </a:path>
                <a:path w="1965960" h="1697354">
                  <a:moveTo>
                    <a:pt x="326771" y="19303"/>
                  </a:moveTo>
                  <a:lnTo>
                    <a:pt x="329933" y="19303"/>
                  </a:lnTo>
                </a:path>
                <a:path w="1965960" h="1697354">
                  <a:moveTo>
                    <a:pt x="487870" y="1695297"/>
                  </a:moveTo>
                  <a:lnTo>
                    <a:pt x="487870" y="1674393"/>
                  </a:lnTo>
                </a:path>
                <a:path w="1965960" h="1697354">
                  <a:moveTo>
                    <a:pt x="489394" y="1675841"/>
                  </a:moveTo>
                  <a:lnTo>
                    <a:pt x="492607" y="1675841"/>
                  </a:lnTo>
                </a:path>
                <a:path w="1965960" h="1697354">
                  <a:moveTo>
                    <a:pt x="487870" y="0"/>
                  </a:moveTo>
                  <a:lnTo>
                    <a:pt x="487870" y="17906"/>
                  </a:lnTo>
                </a:path>
                <a:path w="1965960" h="1697354">
                  <a:moveTo>
                    <a:pt x="489394" y="19303"/>
                  </a:moveTo>
                  <a:lnTo>
                    <a:pt x="492607" y="19303"/>
                  </a:lnTo>
                </a:path>
                <a:path w="1965960" h="1697354">
                  <a:moveTo>
                    <a:pt x="650544" y="1695297"/>
                  </a:moveTo>
                  <a:lnTo>
                    <a:pt x="650544" y="1674393"/>
                  </a:lnTo>
                </a:path>
                <a:path w="1965960" h="1697354">
                  <a:moveTo>
                    <a:pt x="652056" y="1675841"/>
                  </a:moveTo>
                  <a:lnTo>
                    <a:pt x="655231" y="1675841"/>
                  </a:lnTo>
                </a:path>
                <a:path w="1965960" h="1697354">
                  <a:moveTo>
                    <a:pt x="650544" y="0"/>
                  </a:moveTo>
                  <a:lnTo>
                    <a:pt x="650544" y="17906"/>
                  </a:lnTo>
                </a:path>
                <a:path w="1965960" h="1697354">
                  <a:moveTo>
                    <a:pt x="652056" y="19303"/>
                  </a:moveTo>
                  <a:lnTo>
                    <a:pt x="655231" y="19303"/>
                  </a:lnTo>
                </a:path>
                <a:path w="1965960" h="1697354">
                  <a:moveTo>
                    <a:pt x="813079" y="1695297"/>
                  </a:moveTo>
                  <a:lnTo>
                    <a:pt x="813079" y="1674393"/>
                  </a:lnTo>
                </a:path>
                <a:path w="1965960" h="1697354">
                  <a:moveTo>
                    <a:pt x="814603" y="1675841"/>
                  </a:moveTo>
                  <a:lnTo>
                    <a:pt x="817816" y="1675841"/>
                  </a:lnTo>
                </a:path>
                <a:path w="1965960" h="1697354">
                  <a:moveTo>
                    <a:pt x="813079" y="0"/>
                  </a:moveTo>
                  <a:lnTo>
                    <a:pt x="813079" y="17906"/>
                  </a:lnTo>
                </a:path>
                <a:path w="1965960" h="1697354">
                  <a:moveTo>
                    <a:pt x="814603" y="19303"/>
                  </a:moveTo>
                  <a:lnTo>
                    <a:pt x="817816" y="19303"/>
                  </a:lnTo>
                </a:path>
                <a:path w="1965960" h="1697354">
                  <a:moveTo>
                    <a:pt x="978916" y="1695297"/>
                  </a:moveTo>
                  <a:lnTo>
                    <a:pt x="978916" y="1674393"/>
                  </a:lnTo>
                </a:path>
                <a:path w="1965960" h="1697354">
                  <a:moveTo>
                    <a:pt x="980440" y="1675841"/>
                  </a:moveTo>
                  <a:lnTo>
                    <a:pt x="983615" y="1675841"/>
                  </a:lnTo>
                </a:path>
                <a:path w="1965960" h="1697354">
                  <a:moveTo>
                    <a:pt x="978916" y="0"/>
                  </a:moveTo>
                  <a:lnTo>
                    <a:pt x="978916" y="17906"/>
                  </a:lnTo>
                </a:path>
                <a:path w="1965960" h="1697354">
                  <a:moveTo>
                    <a:pt x="980440" y="19303"/>
                  </a:moveTo>
                  <a:lnTo>
                    <a:pt x="983615" y="19303"/>
                  </a:lnTo>
                </a:path>
                <a:path w="1965960" h="1697354">
                  <a:moveTo>
                    <a:pt x="1141603" y="1695297"/>
                  </a:moveTo>
                  <a:lnTo>
                    <a:pt x="1141603" y="1674393"/>
                  </a:lnTo>
                </a:path>
                <a:path w="1965960" h="1697354">
                  <a:moveTo>
                    <a:pt x="1143127" y="1675841"/>
                  </a:moveTo>
                  <a:lnTo>
                    <a:pt x="1146302" y="1675841"/>
                  </a:lnTo>
                </a:path>
                <a:path w="1965960" h="1697354">
                  <a:moveTo>
                    <a:pt x="1141603" y="0"/>
                  </a:moveTo>
                  <a:lnTo>
                    <a:pt x="1141603" y="17906"/>
                  </a:lnTo>
                </a:path>
                <a:path w="1965960" h="1697354">
                  <a:moveTo>
                    <a:pt x="1143127" y="19303"/>
                  </a:moveTo>
                  <a:lnTo>
                    <a:pt x="1146302" y="19303"/>
                  </a:lnTo>
                </a:path>
                <a:path w="1965960" h="1697354">
                  <a:moveTo>
                    <a:pt x="1304163" y="1695297"/>
                  </a:moveTo>
                  <a:lnTo>
                    <a:pt x="1304163" y="1674393"/>
                  </a:lnTo>
                </a:path>
                <a:path w="1965960" h="1697354">
                  <a:moveTo>
                    <a:pt x="1305687" y="1675841"/>
                  </a:moveTo>
                  <a:lnTo>
                    <a:pt x="1308862" y="1675841"/>
                  </a:lnTo>
                </a:path>
                <a:path w="1965960" h="1697354">
                  <a:moveTo>
                    <a:pt x="1304163" y="0"/>
                  </a:moveTo>
                  <a:lnTo>
                    <a:pt x="1304163" y="17906"/>
                  </a:lnTo>
                </a:path>
                <a:path w="1965960" h="1697354">
                  <a:moveTo>
                    <a:pt x="1305687" y="19303"/>
                  </a:moveTo>
                  <a:lnTo>
                    <a:pt x="1308862" y="19303"/>
                  </a:lnTo>
                </a:path>
                <a:path w="1965960" h="1697354">
                  <a:moveTo>
                    <a:pt x="1466723" y="1695297"/>
                  </a:moveTo>
                  <a:lnTo>
                    <a:pt x="1466723" y="1674393"/>
                  </a:lnTo>
                </a:path>
                <a:path w="1965960" h="1697354">
                  <a:moveTo>
                    <a:pt x="1468374" y="1675841"/>
                  </a:moveTo>
                  <a:lnTo>
                    <a:pt x="1471549" y="1675841"/>
                  </a:lnTo>
                </a:path>
                <a:path w="1965960" h="1697354">
                  <a:moveTo>
                    <a:pt x="1466723" y="0"/>
                  </a:moveTo>
                  <a:lnTo>
                    <a:pt x="1466723" y="17906"/>
                  </a:lnTo>
                </a:path>
                <a:path w="1965960" h="1697354">
                  <a:moveTo>
                    <a:pt x="1468374" y="19303"/>
                  </a:moveTo>
                  <a:lnTo>
                    <a:pt x="1471549" y="19303"/>
                  </a:lnTo>
                </a:path>
                <a:path w="1965960" h="1697354">
                  <a:moveTo>
                    <a:pt x="1632458" y="1695297"/>
                  </a:moveTo>
                  <a:lnTo>
                    <a:pt x="1632458" y="1674393"/>
                  </a:lnTo>
                </a:path>
                <a:path w="1965960" h="1697354">
                  <a:moveTo>
                    <a:pt x="1633982" y="1675841"/>
                  </a:moveTo>
                  <a:lnTo>
                    <a:pt x="1637284" y="1675841"/>
                  </a:lnTo>
                </a:path>
                <a:path w="1965960" h="1697354">
                  <a:moveTo>
                    <a:pt x="1632458" y="0"/>
                  </a:moveTo>
                  <a:lnTo>
                    <a:pt x="1632458" y="17906"/>
                  </a:lnTo>
                </a:path>
                <a:path w="1965960" h="1697354">
                  <a:moveTo>
                    <a:pt x="1633982" y="19303"/>
                  </a:moveTo>
                  <a:lnTo>
                    <a:pt x="1637284" y="19303"/>
                  </a:lnTo>
                </a:path>
                <a:path w="1965960" h="1697354">
                  <a:moveTo>
                    <a:pt x="1795145" y="1695297"/>
                  </a:moveTo>
                  <a:lnTo>
                    <a:pt x="1795145" y="1674393"/>
                  </a:lnTo>
                </a:path>
                <a:path w="1965960" h="1697354">
                  <a:moveTo>
                    <a:pt x="1796669" y="1675841"/>
                  </a:moveTo>
                  <a:lnTo>
                    <a:pt x="1799844" y="1675841"/>
                  </a:lnTo>
                </a:path>
                <a:path w="1965960" h="1697354">
                  <a:moveTo>
                    <a:pt x="1795145" y="0"/>
                  </a:moveTo>
                  <a:lnTo>
                    <a:pt x="1795145" y="17906"/>
                  </a:lnTo>
                </a:path>
                <a:path w="1965960" h="1697354">
                  <a:moveTo>
                    <a:pt x="1796669" y="19303"/>
                  </a:moveTo>
                  <a:lnTo>
                    <a:pt x="1799844" y="1930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506983" y="4730622"/>
            <a:ext cx="154114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20">
                <a:latin typeface="Arial MT"/>
                <a:cs typeface="Arial MT"/>
              </a:rPr>
              <a:t>Clusters</a:t>
            </a:r>
            <a:r>
              <a:rPr dirty="0" sz="750" spc="-5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for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Raw SST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and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Raw </a:t>
            </a:r>
            <a:r>
              <a:rPr dirty="0" sz="750" spc="-25">
                <a:latin typeface="Arial MT"/>
                <a:cs typeface="Arial MT"/>
              </a:rPr>
              <a:t>NPP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45465" y="6560663"/>
            <a:ext cx="1894205" cy="18351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  <a:tabLst>
                <a:tab pos="1165860" algn="l"/>
              </a:tabLst>
            </a:pPr>
            <a:r>
              <a:rPr dirty="0" sz="350">
                <a:latin typeface="Arial MT"/>
                <a:cs typeface="Arial MT"/>
              </a:rPr>
              <a:t>-180</a:t>
            </a:r>
            <a:r>
              <a:rPr dirty="0" sz="350" spc="470">
                <a:latin typeface="Arial MT"/>
                <a:cs typeface="Arial MT"/>
              </a:rPr>
              <a:t> </a:t>
            </a:r>
            <a:r>
              <a:rPr dirty="0" sz="350">
                <a:latin typeface="Arial MT"/>
                <a:cs typeface="Arial MT"/>
              </a:rPr>
              <a:t>-150</a:t>
            </a:r>
            <a:r>
              <a:rPr dirty="0" sz="350" spc="204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-120</a:t>
            </a:r>
            <a:r>
              <a:rPr dirty="0" sz="350" spc="220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-90</a:t>
            </a:r>
            <a:r>
              <a:rPr dirty="0" sz="350" spc="280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-60</a:t>
            </a:r>
            <a:r>
              <a:rPr dirty="0" sz="350" spc="280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-30</a:t>
            </a:r>
            <a:r>
              <a:rPr dirty="0" sz="350" spc="345">
                <a:latin typeface="Arial MT"/>
                <a:cs typeface="Arial MT"/>
              </a:rPr>
              <a:t>  </a:t>
            </a:r>
            <a:r>
              <a:rPr dirty="0" sz="350" spc="-50">
                <a:latin typeface="Arial MT"/>
                <a:cs typeface="Arial MT"/>
              </a:rPr>
              <a:t>0</a:t>
            </a:r>
            <a:r>
              <a:rPr dirty="0" sz="350">
                <a:latin typeface="Arial MT"/>
                <a:cs typeface="Arial MT"/>
              </a:rPr>
              <a:t>	30</a:t>
            </a:r>
            <a:r>
              <a:rPr dirty="0" sz="350" spc="345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60</a:t>
            </a:r>
            <a:r>
              <a:rPr dirty="0" sz="350" spc="340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90</a:t>
            </a:r>
            <a:r>
              <a:rPr dirty="0" sz="350" spc="340">
                <a:latin typeface="Arial MT"/>
                <a:cs typeface="Arial MT"/>
              </a:rPr>
              <a:t>  </a:t>
            </a:r>
            <a:r>
              <a:rPr dirty="0" sz="350">
                <a:latin typeface="Arial MT"/>
                <a:cs typeface="Arial MT"/>
              </a:rPr>
              <a:t>120</a:t>
            </a:r>
            <a:r>
              <a:rPr dirty="0" sz="350" spc="265">
                <a:latin typeface="Arial MT"/>
                <a:cs typeface="Arial MT"/>
              </a:rPr>
              <a:t>  </a:t>
            </a:r>
            <a:r>
              <a:rPr dirty="0" sz="350" spc="-40">
                <a:latin typeface="Arial MT"/>
                <a:cs typeface="Arial MT"/>
              </a:rPr>
              <a:t>150</a:t>
            </a:r>
            <a:endParaRPr sz="350">
              <a:latin typeface="Arial MT"/>
              <a:cs typeface="Arial MT"/>
            </a:endParaRPr>
          </a:p>
          <a:p>
            <a:pPr algn="ctr" marL="177165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Arial MT"/>
                <a:cs typeface="Arial MT"/>
              </a:rPr>
              <a:t>longitude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8733" y="5606042"/>
            <a:ext cx="104139" cy="243204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50" spc="-10">
                <a:latin typeface="Arial MT"/>
                <a:cs typeface="Arial MT"/>
              </a:rPr>
              <a:t>latitude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09625" y="4879847"/>
            <a:ext cx="1962785" cy="1695450"/>
          </a:xfrm>
          <a:custGeom>
            <a:avLst/>
            <a:gdLst/>
            <a:ahLst/>
            <a:cxnLst/>
            <a:rect l="l" t="t" r="r" b="b"/>
            <a:pathLst>
              <a:path w="1962785" h="1695450">
                <a:moveTo>
                  <a:pt x="1957832" y="1695297"/>
                </a:moveTo>
                <a:lnTo>
                  <a:pt x="1957832" y="1674393"/>
                </a:lnTo>
              </a:path>
              <a:path w="1962785" h="1695450">
                <a:moveTo>
                  <a:pt x="1959356" y="1675841"/>
                </a:moveTo>
                <a:lnTo>
                  <a:pt x="1962531" y="1675841"/>
                </a:lnTo>
              </a:path>
              <a:path w="1962785" h="1695450">
                <a:moveTo>
                  <a:pt x="1957832" y="0"/>
                </a:moveTo>
                <a:lnTo>
                  <a:pt x="1957832" y="17906"/>
                </a:lnTo>
              </a:path>
              <a:path w="1962785" h="1695450">
                <a:moveTo>
                  <a:pt x="1959356" y="19303"/>
                </a:moveTo>
                <a:lnTo>
                  <a:pt x="1962531" y="19303"/>
                </a:lnTo>
              </a:path>
              <a:path w="1962785" h="1695450">
                <a:moveTo>
                  <a:pt x="0" y="0"/>
                </a:moveTo>
                <a:lnTo>
                  <a:pt x="19113" y="0"/>
                </a:lnTo>
              </a:path>
              <a:path w="1962785" h="1695450">
                <a:moveTo>
                  <a:pt x="20650" y="1396"/>
                </a:moveTo>
                <a:lnTo>
                  <a:pt x="23837" y="1396"/>
                </a:lnTo>
              </a:path>
              <a:path w="1962785" h="1695450">
                <a:moveTo>
                  <a:pt x="1961007" y="0"/>
                </a:moveTo>
                <a:lnTo>
                  <a:pt x="1938655" y="0"/>
                </a:lnTo>
              </a:path>
              <a:path w="1962785" h="1695450">
                <a:moveTo>
                  <a:pt x="1940306" y="1396"/>
                </a:moveTo>
                <a:lnTo>
                  <a:pt x="1943481" y="1396"/>
                </a:lnTo>
              </a:path>
              <a:path w="1962785" h="1695450">
                <a:moveTo>
                  <a:pt x="0" y="278002"/>
                </a:moveTo>
                <a:lnTo>
                  <a:pt x="19113" y="278002"/>
                </a:lnTo>
              </a:path>
              <a:path w="1962785" h="1695450">
                <a:moveTo>
                  <a:pt x="20650" y="279526"/>
                </a:moveTo>
                <a:lnTo>
                  <a:pt x="23837" y="279526"/>
                </a:lnTo>
              </a:path>
              <a:path w="1962785" h="1695450">
                <a:moveTo>
                  <a:pt x="1961007" y="278002"/>
                </a:moveTo>
                <a:lnTo>
                  <a:pt x="1938655" y="278002"/>
                </a:lnTo>
              </a:path>
              <a:path w="1962785" h="1695450">
                <a:moveTo>
                  <a:pt x="1940306" y="279526"/>
                </a:moveTo>
                <a:lnTo>
                  <a:pt x="1943481" y="279526"/>
                </a:lnTo>
              </a:path>
              <a:path w="1962785" h="1695450">
                <a:moveTo>
                  <a:pt x="0" y="562101"/>
                </a:moveTo>
                <a:lnTo>
                  <a:pt x="19113" y="562101"/>
                </a:lnTo>
              </a:path>
              <a:path w="1962785" h="1695450">
                <a:moveTo>
                  <a:pt x="20650" y="563498"/>
                </a:moveTo>
                <a:lnTo>
                  <a:pt x="23837" y="563498"/>
                </a:lnTo>
              </a:path>
              <a:path w="1962785" h="1695450">
                <a:moveTo>
                  <a:pt x="1961007" y="562101"/>
                </a:moveTo>
                <a:lnTo>
                  <a:pt x="1938655" y="562101"/>
                </a:lnTo>
              </a:path>
              <a:path w="1962785" h="1695450">
                <a:moveTo>
                  <a:pt x="1940306" y="563498"/>
                </a:moveTo>
                <a:lnTo>
                  <a:pt x="1943481" y="563498"/>
                </a:lnTo>
              </a:path>
              <a:path w="1962785" h="1695450">
                <a:moveTo>
                  <a:pt x="0" y="843165"/>
                </a:moveTo>
                <a:lnTo>
                  <a:pt x="19113" y="843165"/>
                </a:lnTo>
              </a:path>
              <a:path w="1962785" h="1695450">
                <a:moveTo>
                  <a:pt x="20650" y="844600"/>
                </a:moveTo>
                <a:lnTo>
                  <a:pt x="23837" y="844600"/>
                </a:lnTo>
              </a:path>
              <a:path w="1962785" h="1695450">
                <a:moveTo>
                  <a:pt x="1961007" y="843165"/>
                </a:moveTo>
                <a:lnTo>
                  <a:pt x="1938655" y="843165"/>
                </a:lnTo>
              </a:path>
              <a:path w="1962785" h="1695450">
                <a:moveTo>
                  <a:pt x="1940306" y="844600"/>
                </a:moveTo>
                <a:lnTo>
                  <a:pt x="1943481" y="844600"/>
                </a:lnTo>
              </a:path>
              <a:path w="1962785" h="1695450">
                <a:moveTo>
                  <a:pt x="0" y="1127201"/>
                </a:moveTo>
                <a:lnTo>
                  <a:pt x="19113" y="1127201"/>
                </a:lnTo>
              </a:path>
              <a:path w="1962785" h="1695450">
                <a:moveTo>
                  <a:pt x="20650" y="1128636"/>
                </a:moveTo>
                <a:lnTo>
                  <a:pt x="23837" y="1128636"/>
                </a:lnTo>
              </a:path>
              <a:path w="1962785" h="1695450">
                <a:moveTo>
                  <a:pt x="1961007" y="1127201"/>
                </a:moveTo>
                <a:lnTo>
                  <a:pt x="1938655" y="1127201"/>
                </a:lnTo>
              </a:path>
              <a:path w="1962785" h="1695450">
                <a:moveTo>
                  <a:pt x="1940306" y="1128636"/>
                </a:moveTo>
                <a:lnTo>
                  <a:pt x="1943481" y="1128636"/>
                </a:lnTo>
              </a:path>
              <a:path w="1962785" h="1695450">
                <a:moveTo>
                  <a:pt x="0" y="1408277"/>
                </a:moveTo>
                <a:lnTo>
                  <a:pt x="19113" y="1408277"/>
                </a:lnTo>
              </a:path>
              <a:path w="1962785" h="1695450">
                <a:moveTo>
                  <a:pt x="20650" y="1409712"/>
                </a:moveTo>
                <a:lnTo>
                  <a:pt x="23837" y="1409712"/>
                </a:lnTo>
              </a:path>
              <a:path w="1962785" h="1695450">
                <a:moveTo>
                  <a:pt x="1961007" y="1408277"/>
                </a:moveTo>
                <a:lnTo>
                  <a:pt x="1938655" y="1408277"/>
                </a:lnTo>
              </a:path>
              <a:path w="1962785" h="1695450">
                <a:moveTo>
                  <a:pt x="1940306" y="1409712"/>
                </a:moveTo>
                <a:lnTo>
                  <a:pt x="1943481" y="1409712"/>
                </a:lnTo>
              </a:path>
              <a:path w="1962785" h="1695450">
                <a:moveTo>
                  <a:pt x="0" y="1692313"/>
                </a:moveTo>
                <a:lnTo>
                  <a:pt x="19113" y="1692313"/>
                </a:lnTo>
              </a:path>
              <a:path w="1962785" h="1695450">
                <a:moveTo>
                  <a:pt x="20650" y="1693760"/>
                </a:moveTo>
                <a:lnTo>
                  <a:pt x="23837" y="1693760"/>
                </a:lnTo>
              </a:path>
              <a:path w="1962785" h="1695450">
                <a:moveTo>
                  <a:pt x="1961007" y="1692313"/>
                </a:moveTo>
                <a:lnTo>
                  <a:pt x="1938655" y="1692313"/>
                </a:lnTo>
              </a:path>
              <a:path w="1962785" h="1695450">
                <a:moveTo>
                  <a:pt x="1940306" y="1693760"/>
                </a:moveTo>
                <a:lnTo>
                  <a:pt x="1943481" y="169376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210561" y="6584695"/>
            <a:ext cx="37211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7619" sz="525">
                <a:latin typeface="Arial MT"/>
                <a:cs typeface="Arial MT"/>
              </a:rPr>
              <a:t>180</a:t>
            </a:r>
            <a:r>
              <a:rPr dirty="0" baseline="47619" sz="525" spc="517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Cluster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16814" y="4836667"/>
            <a:ext cx="6858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 spc="-25">
                <a:latin typeface="Arial MT"/>
                <a:cs typeface="Arial MT"/>
              </a:rPr>
              <a:t>90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16814" y="5114925"/>
            <a:ext cx="6858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 spc="-25">
                <a:latin typeface="Arial MT"/>
                <a:cs typeface="Arial MT"/>
              </a:rPr>
              <a:t>60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16814" y="5399023"/>
            <a:ext cx="6858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 spc="-25">
                <a:latin typeface="Arial MT"/>
                <a:cs typeface="Arial MT"/>
              </a:rPr>
              <a:t>30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29615" y="5680049"/>
            <a:ext cx="50165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 spc="-50">
                <a:latin typeface="Arial MT"/>
                <a:cs typeface="Arial MT"/>
              </a:rPr>
              <a:t>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13461" y="5964123"/>
            <a:ext cx="8382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>
                <a:latin typeface="Arial MT"/>
                <a:cs typeface="Arial MT"/>
              </a:rPr>
              <a:t>-</a:t>
            </a:r>
            <a:r>
              <a:rPr dirty="0" sz="350" spc="-25">
                <a:latin typeface="Arial MT"/>
                <a:cs typeface="Arial MT"/>
              </a:rPr>
              <a:t>30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13461" y="6245453"/>
            <a:ext cx="8382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>
                <a:latin typeface="Arial MT"/>
                <a:cs typeface="Arial MT"/>
              </a:rPr>
              <a:t>-</a:t>
            </a:r>
            <a:r>
              <a:rPr dirty="0" sz="350" spc="-25">
                <a:latin typeface="Arial MT"/>
                <a:cs typeface="Arial MT"/>
              </a:rPr>
              <a:t>60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13461" y="6529527"/>
            <a:ext cx="83820" cy="78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">
                <a:latin typeface="Arial MT"/>
                <a:cs typeface="Arial MT"/>
              </a:rPr>
              <a:t>-</a:t>
            </a:r>
            <a:r>
              <a:rPr dirty="0" sz="350" spc="-25">
                <a:latin typeface="Arial MT"/>
                <a:cs typeface="Arial MT"/>
              </a:rPr>
              <a:t>90</a:t>
            </a:r>
            <a:endParaRPr sz="350">
              <a:latin typeface="Arial MT"/>
              <a:cs typeface="Arial MT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309625" y="4879847"/>
            <a:ext cx="1965960" cy="1697355"/>
          </a:xfrm>
          <a:custGeom>
            <a:avLst/>
            <a:gdLst/>
            <a:ahLst/>
            <a:cxnLst/>
            <a:rect l="l" t="t" r="r" b="b"/>
            <a:pathLst>
              <a:path w="1965960" h="1697354">
                <a:moveTo>
                  <a:pt x="0" y="1695297"/>
                </a:moveTo>
                <a:lnTo>
                  <a:pt x="1961007" y="1695297"/>
                </a:lnTo>
              </a:path>
              <a:path w="1965960" h="1697354">
                <a:moveTo>
                  <a:pt x="1962531" y="1696732"/>
                </a:moveTo>
                <a:lnTo>
                  <a:pt x="1965706" y="1696732"/>
                </a:lnTo>
              </a:path>
              <a:path w="1965960" h="1697354">
                <a:moveTo>
                  <a:pt x="0" y="0"/>
                </a:moveTo>
                <a:lnTo>
                  <a:pt x="1961007" y="0"/>
                </a:lnTo>
              </a:path>
              <a:path w="1965960" h="1697354">
                <a:moveTo>
                  <a:pt x="1962531" y="1396"/>
                </a:moveTo>
                <a:lnTo>
                  <a:pt x="1965706" y="1396"/>
                </a:lnTo>
              </a:path>
              <a:path w="1965960" h="1697354">
                <a:moveTo>
                  <a:pt x="1961007" y="0"/>
                </a:moveTo>
                <a:lnTo>
                  <a:pt x="1961007" y="1695297"/>
                </a:lnTo>
              </a:path>
              <a:path w="1965960" h="1697354">
                <a:moveTo>
                  <a:pt x="1962531" y="1696732"/>
                </a:moveTo>
                <a:lnTo>
                  <a:pt x="1965706" y="1696732"/>
                </a:lnTo>
              </a:path>
              <a:path w="1965960" h="1697354">
                <a:moveTo>
                  <a:pt x="0" y="0"/>
                </a:moveTo>
                <a:lnTo>
                  <a:pt x="0" y="1695297"/>
                </a:lnTo>
              </a:path>
              <a:path w="1965960" h="1697354">
                <a:moveTo>
                  <a:pt x="1549" y="1696732"/>
                </a:moveTo>
                <a:lnTo>
                  <a:pt x="4724" y="169673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/>
          <p:cNvGrpSpPr/>
          <p:nvPr/>
        </p:nvGrpSpPr>
        <p:grpSpPr>
          <a:xfrm>
            <a:off x="2383853" y="4878260"/>
            <a:ext cx="177165" cy="1700530"/>
            <a:chOff x="2383853" y="4878260"/>
            <a:chExt cx="177165" cy="1700530"/>
          </a:xfrm>
        </p:grpSpPr>
        <p:pic>
          <p:nvPicPr>
            <p:cNvPr id="104" name="object 10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5441" y="4879822"/>
              <a:ext cx="169024" cy="1695323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2385441" y="4879847"/>
              <a:ext cx="173990" cy="1697355"/>
            </a:xfrm>
            <a:custGeom>
              <a:avLst/>
              <a:gdLst/>
              <a:ahLst/>
              <a:cxnLst/>
              <a:rect l="l" t="t" r="r" b="b"/>
              <a:pathLst>
                <a:path w="173989" h="1697354">
                  <a:moveTo>
                    <a:pt x="0" y="0"/>
                  </a:moveTo>
                  <a:lnTo>
                    <a:pt x="169036" y="0"/>
                  </a:lnTo>
                </a:path>
                <a:path w="173989" h="1697354">
                  <a:moveTo>
                    <a:pt x="170560" y="1396"/>
                  </a:moveTo>
                  <a:lnTo>
                    <a:pt x="173735" y="1396"/>
                  </a:lnTo>
                </a:path>
                <a:path w="173989" h="1697354">
                  <a:moveTo>
                    <a:pt x="0" y="1695297"/>
                  </a:moveTo>
                  <a:lnTo>
                    <a:pt x="169036" y="1695297"/>
                  </a:lnTo>
                </a:path>
                <a:path w="173989" h="1697354">
                  <a:moveTo>
                    <a:pt x="170560" y="1696732"/>
                  </a:moveTo>
                  <a:lnTo>
                    <a:pt x="173735" y="1696732"/>
                  </a:lnTo>
                </a:path>
                <a:path w="173989" h="1697354">
                  <a:moveTo>
                    <a:pt x="169036" y="1695297"/>
                  </a:moveTo>
                  <a:lnTo>
                    <a:pt x="169036" y="0"/>
                  </a:lnTo>
                </a:path>
                <a:path w="173989" h="1697354">
                  <a:moveTo>
                    <a:pt x="170560" y="1396"/>
                  </a:moveTo>
                  <a:lnTo>
                    <a:pt x="173735" y="1396"/>
                  </a:lnTo>
                </a:path>
                <a:path w="173989" h="1697354">
                  <a:moveTo>
                    <a:pt x="0" y="1695297"/>
                  </a:moveTo>
                  <a:lnTo>
                    <a:pt x="0" y="0"/>
                  </a:lnTo>
                </a:path>
                <a:path w="173989" h="1697354">
                  <a:moveTo>
                    <a:pt x="1523" y="1396"/>
                  </a:moveTo>
                  <a:lnTo>
                    <a:pt x="4698" y="1396"/>
                  </a:lnTo>
                </a:path>
                <a:path w="173989" h="1697354">
                  <a:moveTo>
                    <a:pt x="0" y="1695297"/>
                  </a:moveTo>
                  <a:lnTo>
                    <a:pt x="169036" y="1695297"/>
                  </a:lnTo>
                </a:path>
                <a:path w="173989" h="1697354">
                  <a:moveTo>
                    <a:pt x="170560" y="1696732"/>
                  </a:moveTo>
                  <a:lnTo>
                    <a:pt x="173735" y="1696732"/>
                  </a:lnTo>
                </a:path>
                <a:path w="173989" h="1697354">
                  <a:moveTo>
                    <a:pt x="169036" y="1695297"/>
                  </a:moveTo>
                  <a:lnTo>
                    <a:pt x="169036" y="0"/>
                  </a:lnTo>
                </a:path>
                <a:path w="173989" h="1697354">
                  <a:moveTo>
                    <a:pt x="170560" y="1396"/>
                  </a:moveTo>
                  <a:lnTo>
                    <a:pt x="173735" y="1396"/>
                  </a:lnTo>
                </a:path>
                <a:path w="173989" h="1697354">
                  <a:moveTo>
                    <a:pt x="169036" y="1551774"/>
                  </a:moveTo>
                  <a:lnTo>
                    <a:pt x="149859" y="1551774"/>
                  </a:lnTo>
                </a:path>
                <a:path w="173989" h="1697354">
                  <a:moveTo>
                    <a:pt x="151383" y="1553222"/>
                  </a:moveTo>
                  <a:lnTo>
                    <a:pt x="154558" y="1553222"/>
                  </a:lnTo>
                </a:path>
                <a:path w="173989" h="1697354">
                  <a:moveTo>
                    <a:pt x="0" y="1551774"/>
                  </a:moveTo>
                  <a:lnTo>
                    <a:pt x="15875" y="1551774"/>
                  </a:lnTo>
                </a:path>
                <a:path w="173989" h="1697354">
                  <a:moveTo>
                    <a:pt x="17398" y="1553222"/>
                  </a:moveTo>
                  <a:lnTo>
                    <a:pt x="20573" y="155322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/>
          <p:cNvSpPr txBox="1"/>
          <p:nvPr/>
        </p:nvSpPr>
        <p:spPr>
          <a:xfrm>
            <a:off x="2554351" y="6385661"/>
            <a:ext cx="238125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Arial MT"/>
                <a:cs typeface="Arial MT"/>
              </a:rPr>
              <a:t>Sea</a:t>
            </a:r>
            <a:r>
              <a:rPr dirty="0" sz="400" spc="-25">
                <a:latin typeface="Arial MT"/>
                <a:cs typeface="Arial MT"/>
              </a:rPr>
              <a:t> </a:t>
            </a:r>
            <a:r>
              <a:rPr dirty="0" sz="400" spc="-10">
                <a:latin typeface="Arial MT"/>
                <a:cs typeface="Arial MT"/>
              </a:rPr>
              <a:t>Clust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385441" y="6150546"/>
            <a:ext cx="169545" cy="1905"/>
          </a:xfrm>
          <a:custGeom>
            <a:avLst/>
            <a:gdLst/>
            <a:ahLst/>
            <a:cxnLst/>
            <a:rect l="l" t="t" r="r" b="b"/>
            <a:pathLst>
              <a:path w="169544" h="1904">
                <a:moveTo>
                  <a:pt x="169036" y="0"/>
                </a:moveTo>
                <a:lnTo>
                  <a:pt x="149859" y="0"/>
                </a:lnTo>
              </a:path>
              <a:path w="169544" h="1904">
                <a:moveTo>
                  <a:pt x="151383" y="1473"/>
                </a:moveTo>
                <a:lnTo>
                  <a:pt x="154558" y="1473"/>
                </a:lnTo>
              </a:path>
              <a:path w="169544" h="1904">
                <a:moveTo>
                  <a:pt x="0" y="0"/>
                </a:moveTo>
                <a:lnTo>
                  <a:pt x="15875" y="0"/>
                </a:lnTo>
              </a:path>
              <a:path w="169544" h="1904">
                <a:moveTo>
                  <a:pt x="17398" y="1473"/>
                </a:moveTo>
                <a:lnTo>
                  <a:pt x="20573" y="147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2554351" y="6104331"/>
            <a:ext cx="238125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Arial MT"/>
                <a:cs typeface="Arial MT"/>
              </a:rPr>
              <a:t>Sea</a:t>
            </a:r>
            <a:r>
              <a:rPr dirty="0" sz="400" spc="-25">
                <a:latin typeface="Arial MT"/>
                <a:cs typeface="Arial MT"/>
              </a:rPr>
              <a:t> </a:t>
            </a:r>
            <a:r>
              <a:rPr dirty="0" sz="400" spc="-10">
                <a:latin typeface="Arial MT"/>
                <a:cs typeface="Arial MT"/>
              </a:rPr>
              <a:t>Clust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2385441" y="5866510"/>
            <a:ext cx="169545" cy="1905"/>
          </a:xfrm>
          <a:custGeom>
            <a:avLst/>
            <a:gdLst/>
            <a:ahLst/>
            <a:cxnLst/>
            <a:rect l="l" t="t" r="r" b="b"/>
            <a:pathLst>
              <a:path w="169544" h="1904">
                <a:moveTo>
                  <a:pt x="169036" y="0"/>
                </a:moveTo>
                <a:lnTo>
                  <a:pt x="149859" y="0"/>
                </a:lnTo>
              </a:path>
              <a:path w="169544" h="1904">
                <a:moveTo>
                  <a:pt x="151383" y="1422"/>
                </a:moveTo>
                <a:lnTo>
                  <a:pt x="154558" y="1422"/>
                </a:lnTo>
              </a:path>
              <a:path w="169544" h="1904">
                <a:moveTo>
                  <a:pt x="0" y="0"/>
                </a:moveTo>
                <a:lnTo>
                  <a:pt x="15875" y="0"/>
                </a:lnTo>
              </a:path>
              <a:path w="169544" h="1904">
                <a:moveTo>
                  <a:pt x="17398" y="1422"/>
                </a:moveTo>
                <a:lnTo>
                  <a:pt x="20573" y="142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2554351" y="5820257"/>
            <a:ext cx="226060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>
                <a:latin typeface="Arial MT"/>
                <a:cs typeface="Arial MT"/>
              </a:rPr>
              <a:t>Ice</a:t>
            </a:r>
            <a:r>
              <a:rPr dirty="0" sz="400" spc="-15">
                <a:latin typeface="Arial MT"/>
                <a:cs typeface="Arial MT"/>
              </a:rPr>
              <a:t> </a:t>
            </a:r>
            <a:r>
              <a:rPr dirty="0" sz="400">
                <a:latin typeface="Arial MT"/>
                <a:cs typeface="Arial MT"/>
              </a:rPr>
              <a:t>or</a:t>
            </a:r>
            <a:r>
              <a:rPr dirty="0" sz="400" spc="20">
                <a:latin typeface="Arial MT"/>
                <a:cs typeface="Arial MT"/>
              </a:rPr>
              <a:t> </a:t>
            </a:r>
            <a:r>
              <a:rPr dirty="0" sz="400" spc="-25">
                <a:latin typeface="Arial MT"/>
                <a:cs typeface="Arial MT"/>
              </a:rPr>
              <a:t>No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385441" y="5585459"/>
            <a:ext cx="169545" cy="1905"/>
          </a:xfrm>
          <a:custGeom>
            <a:avLst/>
            <a:gdLst/>
            <a:ahLst/>
            <a:cxnLst/>
            <a:rect l="l" t="t" r="r" b="b"/>
            <a:pathLst>
              <a:path w="169544" h="1904">
                <a:moveTo>
                  <a:pt x="169036" y="0"/>
                </a:moveTo>
                <a:lnTo>
                  <a:pt x="149859" y="0"/>
                </a:lnTo>
              </a:path>
              <a:path w="169544" h="1904">
                <a:moveTo>
                  <a:pt x="151383" y="1396"/>
                </a:moveTo>
                <a:lnTo>
                  <a:pt x="154558" y="1396"/>
                </a:lnTo>
              </a:path>
              <a:path w="169544" h="1904">
                <a:moveTo>
                  <a:pt x="0" y="0"/>
                </a:moveTo>
                <a:lnTo>
                  <a:pt x="15875" y="0"/>
                </a:lnTo>
              </a:path>
              <a:path w="169544" h="1904">
                <a:moveTo>
                  <a:pt x="17398" y="1396"/>
                </a:moveTo>
                <a:lnTo>
                  <a:pt x="20573" y="13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2554351" y="5539232"/>
            <a:ext cx="243204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-10">
                <a:latin typeface="Arial MT"/>
                <a:cs typeface="Arial MT"/>
              </a:rPr>
              <a:t>Land</a:t>
            </a:r>
            <a:r>
              <a:rPr dirty="0" sz="400" spc="5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Clus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2385441" y="5301360"/>
            <a:ext cx="169545" cy="1905"/>
          </a:xfrm>
          <a:custGeom>
            <a:avLst/>
            <a:gdLst/>
            <a:ahLst/>
            <a:cxnLst/>
            <a:rect l="l" t="t" r="r" b="b"/>
            <a:pathLst>
              <a:path w="169544" h="1904">
                <a:moveTo>
                  <a:pt x="169036" y="0"/>
                </a:moveTo>
                <a:lnTo>
                  <a:pt x="149859" y="0"/>
                </a:lnTo>
              </a:path>
              <a:path w="169544" h="1904">
                <a:moveTo>
                  <a:pt x="151383" y="1396"/>
                </a:moveTo>
                <a:lnTo>
                  <a:pt x="154558" y="1396"/>
                </a:lnTo>
              </a:path>
              <a:path w="169544" h="1904">
                <a:moveTo>
                  <a:pt x="0" y="0"/>
                </a:moveTo>
                <a:lnTo>
                  <a:pt x="15875" y="0"/>
                </a:lnTo>
              </a:path>
              <a:path w="169544" h="1904">
                <a:moveTo>
                  <a:pt x="17398" y="1396"/>
                </a:moveTo>
                <a:lnTo>
                  <a:pt x="20573" y="13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2554351" y="5255133"/>
            <a:ext cx="243204" cy="86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" spc="-10">
                <a:latin typeface="Arial MT"/>
                <a:cs typeface="Arial MT"/>
              </a:rPr>
              <a:t>Land</a:t>
            </a:r>
            <a:r>
              <a:rPr dirty="0" sz="400" spc="5">
                <a:latin typeface="Arial MT"/>
                <a:cs typeface="Arial MT"/>
              </a:rPr>
              <a:t> </a:t>
            </a:r>
            <a:r>
              <a:rPr dirty="0" sz="400" spc="-20">
                <a:latin typeface="Arial MT"/>
                <a:cs typeface="Arial MT"/>
              </a:rPr>
              <a:t>Clus</a:t>
            </a:r>
            <a:endParaRPr sz="400">
              <a:latin typeface="Arial MT"/>
              <a:cs typeface="Arial MT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385441" y="4879847"/>
            <a:ext cx="173990" cy="1697355"/>
          </a:xfrm>
          <a:custGeom>
            <a:avLst/>
            <a:gdLst/>
            <a:ahLst/>
            <a:cxnLst/>
            <a:rect l="l" t="t" r="r" b="b"/>
            <a:pathLst>
              <a:path w="173989" h="1697354">
                <a:moveTo>
                  <a:pt x="0" y="0"/>
                </a:moveTo>
                <a:lnTo>
                  <a:pt x="169036" y="0"/>
                </a:lnTo>
              </a:path>
              <a:path w="173989" h="1697354">
                <a:moveTo>
                  <a:pt x="170560" y="1396"/>
                </a:moveTo>
                <a:lnTo>
                  <a:pt x="173735" y="1396"/>
                </a:lnTo>
              </a:path>
              <a:path w="173989" h="1697354">
                <a:moveTo>
                  <a:pt x="0" y="1695297"/>
                </a:moveTo>
                <a:lnTo>
                  <a:pt x="169036" y="1695297"/>
                </a:lnTo>
              </a:path>
              <a:path w="173989" h="1697354">
                <a:moveTo>
                  <a:pt x="170560" y="1696732"/>
                </a:moveTo>
                <a:lnTo>
                  <a:pt x="173735" y="1696732"/>
                </a:lnTo>
              </a:path>
              <a:path w="173989" h="1697354">
                <a:moveTo>
                  <a:pt x="169036" y="1695297"/>
                </a:moveTo>
                <a:lnTo>
                  <a:pt x="169036" y="0"/>
                </a:lnTo>
              </a:path>
              <a:path w="173989" h="1697354">
                <a:moveTo>
                  <a:pt x="170560" y="1396"/>
                </a:moveTo>
                <a:lnTo>
                  <a:pt x="173735" y="1396"/>
                </a:lnTo>
              </a:path>
              <a:path w="173989" h="1697354">
                <a:moveTo>
                  <a:pt x="0" y="1695297"/>
                </a:moveTo>
                <a:lnTo>
                  <a:pt x="0" y="0"/>
                </a:lnTo>
              </a:path>
              <a:path w="173989" h="1697354">
                <a:moveTo>
                  <a:pt x="1523" y="1396"/>
                </a:moveTo>
                <a:lnTo>
                  <a:pt x="4698" y="139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 txBox="1"/>
          <p:nvPr/>
        </p:nvSpPr>
        <p:spPr>
          <a:xfrm>
            <a:off x="3051175" y="4902454"/>
            <a:ext cx="170688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Use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of</a:t>
            </a:r>
            <a:r>
              <a:rPr dirty="0" sz="1200" spc="20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K-</a:t>
            </a:r>
            <a:r>
              <a:rPr dirty="0" sz="1200" b="1">
                <a:latin typeface="Arial"/>
                <a:cs typeface="Arial"/>
              </a:rPr>
              <a:t>means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spc="-25" b="1">
                <a:latin typeface="Arial"/>
                <a:cs typeface="Arial"/>
              </a:rPr>
              <a:t>to </a:t>
            </a:r>
            <a:r>
              <a:rPr dirty="0" sz="1200" b="1">
                <a:latin typeface="Arial"/>
                <a:cs typeface="Arial"/>
              </a:rPr>
              <a:t>partition</a:t>
            </a:r>
            <a:r>
              <a:rPr dirty="0" sz="1200" spc="-2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Sea</a:t>
            </a:r>
            <a:r>
              <a:rPr dirty="0" sz="1200" spc="-5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Surface </a:t>
            </a:r>
            <a:r>
              <a:rPr dirty="0" sz="1200" spc="-20" b="1">
                <a:latin typeface="Arial"/>
                <a:cs typeface="Arial"/>
              </a:rPr>
              <a:t>Temperature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(SST) </a:t>
            </a:r>
            <a:r>
              <a:rPr dirty="0" sz="1200" spc="-25" b="1">
                <a:latin typeface="Arial"/>
                <a:cs typeface="Arial"/>
              </a:rPr>
              <a:t>and </a:t>
            </a:r>
            <a:r>
              <a:rPr dirty="0" sz="1200" b="1">
                <a:latin typeface="Arial"/>
                <a:cs typeface="Arial"/>
              </a:rPr>
              <a:t>Net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Primary</a:t>
            </a:r>
            <a:r>
              <a:rPr dirty="0" sz="1200" spc="-80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Production </a:t>
            </a:r>
            <a:r>
              <a:rPr dirty="0" sz="1200" b="1">
                <a:latin typeface="Arial"/>
                <a:cs typeface="Arial"/>
              </a:rPr>
              <a:t>(NPP)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into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clusters</a:t>
            </a:r>
            <a:r>
              <a:rPr dirty="0" sz="1200" spc="-75" b="1">
                <a:latin typeface="Arial"/>
                <a:cs typeface="Arial"/>
              </a:rPr>
              <a:t> </a:t>
            </a:r>
            <a:r>
              <a:rPr dirty="0" sz="1200" spc="-20" b="1">
                <a:latin typeface="Arial"/>
                <a:cs typeface="Arial"/>
              </a:rPr>
              <a:t>that </a:t>
            </a:r>
            <a:r>
              <a:rPr dirty="0" sz="1200" b="1">
                <a:latin typeface="Arial"/>
                <a:cs typeface="Arial"/>
              </a:rPr>
              <a:t>reflect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the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Northern</a:t>
            </a:r>
            <a:r>
              <a:rPr dirty="0" sz="1200" spc="50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and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Southern Hemispheres.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7" name="object 1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67325" y="962025"/>
            <a:ext cx="3476625" cy="3350387"/>
          </a:xfrm>
          <a:prstGeom prst="rect">
            <a:avLst/>
          </a:prstGeom>
        </p:spPr>
      </p:pic>
      <p:sp>
        <p:nvSpPr>
          <p:cNvPr id="118" name="object 118"/>
          <p:cNvSpPr txBox="1"/>
          <p:nvPr/>
        </p:nvSpPr>
        <p:spPr>
          <a:xfrm>
            <a:off x="5566409" y="4355719"/>
            <a:ext cx="1468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Courtesy: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Michael</a:t>
            </a:r>
            <a:r>
              <a:rPr dirty="0" sz="1000" spc="-7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Eisen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9" name="object 1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4000" y="4721352"/>
            <a:ext cx="3429000" cy="1984248"/>
          </a:xfrm>
          <a:prstGeom prst="rect">
            <a:avLst/>
          </a:prstGeom>
        </p:spPr>
      </p:pic>
      <p:sp>
        <p:nvSpPr>
          <p:cNvPr id="120" name="object 120"/>
          <p:cNvSpPr txBox="1"/>
          <p:nvPr/>
        </p:nvSpPr>
        <p:spPr>
          <a:xfrm>
            <a:off x="8412606" y="6427723"/>
            <a:ext cx="190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8520" y="135127"/>
            <a:ext cx="775271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Association</a:t>
            </a:r>
            <a:r>
              <a:rPr dirty="0" spc="-1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Rule</a:t>
            </a:r>
            <a:r>
              <a:rPr dirty="0" spc="-8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Discovery:</a:t>
            </a:r>
            <a:r>
              <a:rPr dirty="0" spc="-9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Definition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8695" y="1156461"/>
            <a:ext cx="7895590" cy="2066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04800" marR="476250" indent="-292735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Given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records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each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contain </a:t>
            </a:r>
            <a:r>
              <a:rPr dirty="0" sz="2800">
                <a:latin typeface="Arial MT"/>
                <a:cs typeface="Arial MT"/>
              </a:rPr>
              <a:t>some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number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items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given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collection</a:t>
            </a:r>
            <a:endParaRPr sz="2800">
              <a:latin typeface="Arial MT"/>
              <a:cs typeface="Arial MT"/>
            </a:endParaRPr>
          </a:p>
          <a:p>
            <a:pPr marL="812800" marR="5080" indent="-342900">
              <a:lnSpc>
                <a:spcPct val="100000"/>
              </a:lnSpc>
              <a:spcBef>
                <a:spcPts val="715"/>
              </a:spcBef>
            </a:pPr>
            <a:r>
              <a:rPr dirty="0" sz="2400">
                <a:solidFill>
                  <a:srgbClr val="0C799C"/>
                </a:solidFill>
                <a:latin typeface="Arial MT"/>
                <a:cs typeface="Arial MT"/>
              </a:rPr>
              <a:t>–</a:t>
            </a:r>
            <a:r>
              <a:rPr dirty="0" sz="2400" spc="570">
                <a:solidFill>
                  <a:srgbClr val="0C799C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Produce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dependency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rules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predict occurrence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item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based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occurrences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other items.</a:t>
            </a:r>
            <a:endParaRPr sz="24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61924" y="3701224"/>
          <a:ext cx="4123690" cy="1970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3287395"/>
              </a:tblGrid>
              <a:tr h="334010">
                <a:tc>
                  <a:txBody>
                    <a:bodyPr/>
                    <a:lstStyle/>
                    <a:p>
                      <a:pPr marL="74295">
                        <a:lnSpc>
                          <a:spcPts val="1760"/>
                        </a:lnSpc>
                      </a:pPr>
                      <a:r>
                        <a:rPr dirty="0" sz="1500" spc="-25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760"/>
                        </a:lnSpc>
                      </a:pPr>
                      <a:r>
                        <a:rPr dirty="0" sz="1500" spc="-1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Items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Bread,</a:t>
                      </a:r>
                      <a:r>
                        <a:rPr dirty="0" sz="1700" spc="6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</a:t>
                      </a:r>
                      <a:r>
                        <a:rPr dirty="0" sz="1700" spc="9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</a:t>
                      </a:r>
                      <a:r>
                        <a:rPr dirty="0" sz="1700" spc="9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</a:t>
                      </a:r>
                      <a:r>
                        <a:rPr dirty="0" sz="1700" spc="9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</a:t>
                      </a:r>
                      <a:r>
                        <a:rPr dirty="0" sz="1700" spc="9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Diaper,</a:t>
                      </a:r>
                      <a:r>
                        <a:rPr dirty="0" sz="1700" spc="9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Beer,</a:t>
                      </a:r>
                      <a:r>
                        <a:rPr dirty="0" sz="1700" spc="10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Bread,</a:t>
                      </a:r>
                      <a:r>
                        <a:rPr dirty="0" sz="1700" spc="11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Diaper,</a:t>
                      </a:r>
                      <a:r>
                        <a:rPr dirty="0" sz="1700" spc="10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  <a:tr h="330835"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spc="-5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1955"/>
                        </a:lnSpc>
                      </a:pP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Coke,</a:t>
                      </a:r>
                      <a:r>
                        <a:rPr dirty="0" sz="1700" spc="8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Diaper,</a:t>
                      </a:r>
                      <a:r>
                        <a:rPr dirty="0" sz="1700" spc="85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000080"/>
                          </a:solidFill>
                          <a:latin typeface="Times New Roman"/>
                          <a:cs typeface="Times New Roman"/>
                        </a:rPr>
                        <a:t>Milk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4890515" y="4139184"/>
            <a:ext cx="3548379" cy="1096010"/>
            <a:chOff x="4890515" y="4139184"/>
            <a:chExt cx="3548379" cy="10960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1475" y="4171188"/>
              <a:ext cx="3445764" cy="9784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15" y="4139184"/>
              <a:ext cx="3547872" cy="109575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876800" y="4096511"/>
            <a:ext cx="3442970" cy="975360"/>
          </a:xfrm>
          <a:prstGeom prst="rect">
            <a:avLst/>
          </a:prstGeom>
          <a:solidFill>
            <a:srgbClr val="CCCCFF"/>
          </a:solidFill>
        </p:spPr>
        <p:txBody>
          <a:bodyPr wrap="square" lIns="0" tIns="29209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29"/>
              </a:spcBef>
            </a:pPr>
            <a:r>
              <a:rPr dirty="0" sz="2000">
                <a:latin typeface="Times New Roman"/>
                <a:cs typeface="Times New Roman"/>
              </a:rPr>
              <a:t>Rules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Discovered:</a:t>
            </a:r>
            <a:endParaRPr sz="20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260"/>
              </a:spcBef>
            </a:pPr>
            <a:r>
              <a:rPr dirty="0" sz="1800" b="1">
                <a:solidFill>
                  <a:srgbClr val="CC0000"/>
                </a:solidFill>
                <a:latin typeface="Tahoma"/>
                <a:cs typeface="Tahoma"/>
              </a:rPr>
              <a:t>{Milk}</a:t>
            </a:r>
            <a:r>
              <a:rPr dirty="0" sz="1800" spc="-75" b="1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C0000"/>
                </a:solidFill>
                <a:latin typeface="Tahoma"/>
                <a:cs typeface="Tahoma"/>
              </a:rPr>
              <a:t>--&gt;</a:t>
            </a:r>
            <a:r>
              <a:rPr dirty="0" sz="1800" spc="-80" b="1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CC0000"/>
                </a:solidFill>
                <a:latin typeface="Tahoma"/>
                <a:cs typeface="Tahoma"/>
              </a:rPr>
              <a:t>{Coke}</a:t>
            </a:r>
            <a:endParaRPr sz="1800">
              <a:latin typeface="Tahoma"/>
              <a:cs typeface="Tahoma"/>
            </a:endParaRPr>
          </a:p>
          <a:p>
            <a:pPr marL="358775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CC0000"/>
                </a:solidFill>
                <a:latin typeface="Tahoma"/>
                <a:cs typeface="Tahoma"/>
              </a:rPr>
              <a:t>{Diaper,</a:t>
            </a:r>
            <a:r>
              <a:rPr dirty="0" sz="1800" spc="-55" b="1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C0000"/>
                </a:solidFill>
                <a:latin typeface="Tahoma"/>
                <a:cs typeface="Tahoma"/>
              </a:rPr>
              <a:t>Milk}</a:t>
            </a:r>
            <a:r>
              <a:rPr dirty="0" sz="1800" spc="-50" b="1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CC0000"/>
                </a:solidFill>
                <a:latin typeface="Tahoma"/>
                <a:cs typeface="Tahoma"/>
              </a:rPr>
              <a:t>--&gt;</a:t>
            </a:r>
            <a:r>
              <a:rPr dirty="0" sz="1800" spc="-70" b="1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CC0000"/>
                </a:solidFill>
                <a:latin typeface="Tahoma"/>
                <a:cs typeface="Tahoma"/>
              </a:rPr>
              <a:t>{Beer}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36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8520" y="135127"/>
            <a:ext cx="689546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Association</a:t>
            </a:r>
            <a:r>
              <a:rPr dirty="0" spc="-1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Analysis:</a:t>
            </a:r>
            <a:r>
              <a:rPr dirty="0" spc="-1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Applications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36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695" y="1050910"/>
            <a:ext cx="7479665" cy="532701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 spc="-40">
                <a:latin typeface="Arial MT"/>
                <a:cs typeface="Arial MT"/>
              </a:rPr>
              <a:t>Market-</a:t>
            </a:r>
            <a:r>
              <a:rPr dirty="0" sz="2800">
                <a:latin typeface="Arial MT"/>
                <a:cs typeface="Arial MT"/>
              </a:rPr>
              <a:t>basket </a:t>
            </a:r>
            <a:r>
              <a:rPr dirty="0" sz="2800" spc="-1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</a:pPr>
            <a:r>
              <a:rPr dirty="0" sz="2400">
                <a:solidFill>
                  <a:srgbClr val="0C799C"/>
                </a:solidFill>
                <a:latin typeface="Arial MT"/>
                <a:cs typeface="Arial MT"/>
              </a:rPr>
              <a:t>–</a:t>
            </a:r>
            <a:r>
              <a:rPr dirty="0" sz="2400" spc="-30">
                <a:solidFill>
                  <a:srgbClr val="0C799C"/>
                </a:solidFill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Rules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sales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promotion,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shelf</a:t>
            </a:r>
            <a:endParaRPr sz="2400">
              <a:latin typeface="Arial MT"/>
              <a:cs typeface="Arial MT"/>
            </a:endParaRPr>
          </a:p>
          <a:p>
            <a:pPr marL="812800">
              <a:lnSpc>
                <a:spcPct val="100000"/>
              </a:lnSpc>
            </a:pPr>
            <a:r>
              <a:rPr dirty="0" sz="2400" spc="-10">
                <a:latin typeface="Arial MT"/>
                <a:cs typeface="Arial MT"/>
              </a:rPr>
              <a:t>management,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inventory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 spc="-20">
                <a:latin typeface="Arial MT"/>
                <a:cs typeface="Arial MT"/>
              </a:rPr>
              <a:t>Telecommunication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alarm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diagnosis</a:t>
            </a:r>
            <a:endParaRPr sz="2800">
              <a:latin typeface="Arial MT"/>
              <a:cs typeface="Arial MT"/>
            </a:endParaRPr>
          </a:p>
          <a:p>
            <a:pPr marL="812800" marR="97790" indent="-342900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solidFill>
                  <a:srgbClr val="0C799C"/>
                </a:solidFill>
                <a:latin typeface="Arial MT"/>
                <a:cs typeface="Arial MT"/>
              </a:rPr>
              <a:t>–</a:t>
            </a:r>
            <a:r>
              <a:rPr dirty="0" sz="2400" spc="-35">
                <a:solidFill>
                  <a:srgbClr val="0C799C"/>
                </a:solidFill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Rules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combination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alarms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 </a:t>
            </a:r>
            <a:r>
              <a:rPr dirty="0" sz="2400">
                <a:latin typeface="Arial MT"/>
                <a:cs typeface="Arial MT"/>
              </a:rPr>
              <a:t>occur</a:t>
            </a:r>
            <a:r>
              <a:rPr dirty="0" sz="2400" spc="-1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together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frequently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same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time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period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Medical</a:t>
            </a:r>
            <a:r>
              <a:rPr dirty="0" sz="2800" spc="-1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Informatics</a:t>
            </a:r>
            <a:endParaRPr sz="2800">
              <a:latin typeface="Arial MT"/>
              <a:cs typeface="Arial MT"/>
            </a:endParaRPr>
          </a:p>
          <a:p>
            <a:pPr marL="812800" marR="5080" indent="-342900">
              <a:lnSpc>
                <a:spcPct val="100000"/>
              </a:lnSpc>
              <a:spcBef>
                <a:spcPts val="715"/>
              </a:spcBef>
            </a:pPr>
            <a:r>
              <a:rPr dirty="0" sz="2400">
                <a:solidFill>
                  <a:srgbClr val="0C799C"/>
                </a:solidFill>
                <a:latin typeface="Arial MT"/>
                <a:cs typeface="Arial MT"/>
              </a:rPr>
              <a:t>–</a:t>
            </a:r>
            <a:r>
              <a:rPr dirty="0" sz="2400" spc="-30">
                <a:solidFill>
                  <a:srgbClr val="0C799C"/>
                </a:solidFill>
                <a:latin typeface="Arial MT"/>
                <a:cs typeface="Arial MT"/>
              </a:rPr>
              <a:t>  </a:t>
            </a:r>
            <a:r>
              <a:rPr dirty="0" sz="2400">
                <a:latin typeface="Arial MT"/>
                <a:cs typeface="Arial MT"/>
              </a:rPr>
              <a:t>Rules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combination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patient </a:t>
            </a:r>
            <a:r>
              <a:rPr dirty="0" sz="2400">
                <a:latin typeface="Arial MT"/>
                <a:cs typeface="Arial MT"/>
              </a:rPr>
              <a:t>symptoms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test</a:t>
            </a:r>
            <a:r>
              <a:rPr dirty="0" sz="2400" spc="-1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results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associated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certain diseases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838201"/>
            <a:ext cx="8534400" cy="152400"/>
            <a:chOff x="304800" y="838201"/>
            <a:chExt cx="8534400" cy="152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201"/>
              <a:ext cx="8534400" cy="74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952499"/>
              <a:ext cx="8534400" cy="381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8520" y="61340"/>
            <a:ext cx="454723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Motivating</a:t>
            </a:r>
            <a:r>
              <a:rPr dirty="0" spc="-1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Challenges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7460" y="6439417"/>
            <a:ext cx="25400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 sz="1200" spc="-25" b="1">
                <a:solidFill>
                  <a:srgbClr val="878787"/>
                </a:solidFill>
                <a:latin typeface="Arial"/>
                <a:cs typeface="Arial"/>
              </a:rPr>
              <a:t>36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695" y="1156461"/>
            <a:ext cx="5753735" cy="4678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Scalability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High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Dimensionality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 spc="-10">
                <a:latin typeface="Arial MT"/>
                <a:cs typeface="Arial MT"/>
              </a:rPr>
              <a:t>Heterogeneous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1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Complex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Ownership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Distribution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dirty="0" sz="2100" spc="-50">
                <a:solidFill>
                  <a:srgbClr val="0C799C"/>
                </a:solidFill>
                <a:latin typeface="Arial MT"/>
                <a:cs typeface="Arial MT"/>
              </a:rPr>
              <a:t>l</a:t>
            </a:r>
            <a:r>
              <a:rPr dirty="0" sz="2100">
                <a:solidFill>
                  <a:srgbClr val="0C799C"/>
                </a:solidFill>
                <a:latin typeface="Arial MT"/>
                <a:cs typeface="Arial MT"/>
              </a:rPr>
              <a:t>	</a:t>
            </a:r>
            <a:r>
              <a:rPr dirty="0" sz="2800" spc="-45">
                <a:latin typeface="Arial MT"/>
                <a:cs typeface="Arial MT"/>
              </a:rPr>
              <a:t>Non-</a:t>
            </a:r>
            <a:r>
              <a:rPr dirty="0" sz="2800">
                <a:latin typeface="Arial MT"/>
                <a:cs typeface="Arial MT"/>
              </a:rPr>
              <a:t>traditional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Analysis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7669" rIns="0" bIns="0" rtlCol="0" vert="horz">
            <a:spAutoFit/>
          </a:bodyPr>
          <a:lstStyle/>
          <a:p>
            <a:pPr marL="148717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Chapter</a:t>
            </a:r>
            <a:r>
              <a:rPr dirty="0" sz="3600" spc="-60"/>
              <a:t> </a:t>
            </a:r>
            <a:r>
              <a:rPr dirty="0" sz="3600"/>
              <a:t>1.</a:t>
            </a:r>
            <a:r>
              <a:rPr dirty="0" sz="3600" spc="15"/>
              <a:t>  </a:t>
            </a:r>
            <a:r>
              <a:rPr dirty="0" sz="3600" spc="-10"/>
              <a:t>Introduction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Why</a:t>
            </a:r>
            <a:r>
              <a:rPr dirty="0" spc="-85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 spc="-10"/>
              <a:t>Mining?</a:t>
            </a: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What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 spc="-10"/>
              <a:t>Mining?</a:t>
            </a:r>
          </a:p>
          <a:p>
            <a:pPr marL="354965" indent="-342265">
              <a:lnSpc>
                <a:spcPct val="100000"/>
              </a:lnSpc>
              <a:spcBef>
                <a:spcPts val="17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Data</a:t>
            </a:r>
            <a:r>
              <a:rPr dirty="0" spc="-35"/>
              <a:t> </a:t>
            </a:r>
            <a:r>
              <a:rPr dirty="0"/>
              <a:t>Mining</a:t>
            </a:r>
            <a:r>
              <a:rPr dirty="0" spc="-70"/>
              <a:t> </a:t>
            </a:r>
            <a:r>
              <a:rPr dirty="0" spc="-20"/>
              <a:t>Tasks</a:t>
            </a:r>
          </a:p>
          <a:p>
            <a:pPr marL="354965" indent="-342265">
              <a:lnSpc>
                <a:spcPct val="100000"/>
              </a:lnSpc>
              <a:spcBef>
                <a:spcPts val="17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/>
              <a:t>What</a:t>
            </a:r>
            <a:r>
              <a:rPr dirty="0" spc="-65"/>
              <a:t> </a:t>
            </a:r>
            <a:r>
              <a:rPr dirty="0"/>
              <a:t>Kind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Applications</a:t>
            </a:r>
            <a:r>
              <a:rPr dirty="0" spc="-40"/>
              <a:t> </a:t>
            </a:r>
            <a:r>
              <a:rPr dirty="0"/>
              <a:t>Are</a:t>
            </a:r>
            <a:r>
              <a:rPr dirty="0" spc="-30"/>
              <a:t> </a:t>
            </a:r>
            <a:r>
              <a:rPr dirty="0" spc="-10"/>
              <a:t>Targeted?</a:t>
            </a: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pc="-10"/>
              <a:t>Summary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52808" y="2962782"/>
            <a:ext cx="395605" cy="315595"/>
            <a:chOff x="5452808" y="2962782"/>
            <a:chExt cx="395605" cy="315595"/>
          </a:xfrm>
        </p:grpSpPr>
        <p:sp>
          <p:nvSpPr>
            <p:cNvPr id="5" name="object 5"/>
            <p:cNvSpPr/>
            <p:nvPr/>
          </p:nvSpPr>
          <p:spPr>
            <a:xfrm>
              <a:off x="5457571" y="29831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5">
                  <a:moveTo>
                    <a:pt x="43687" y="0"/>
                  </a:moveTo>
                  <a:lnTo>
                    <a:pt x="0" y="174371"/>
                  </a:lnTo>
                  <a:lnTo>
                    <a:pt x="137540" y="290068"/>
                  </a:lnTo>
                  <a:lnTo>
                    <a:pt x="114045" y="217550"/>
                  </a:lnTo>
                  <a:lnTo>
                    <a:pt x="329311" y="147827"/>
                  </a:lnTo>
                  <a:lnTo>
                    <a:pt x="282320" y="2921"/>
                  </a:lnTo>
                  <a:lnTo>
                    <a:pt x="67182" y="72517"/>
                  </a:lnTo>
                  <a:lnTo>
                    <a:pt x="436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1322" y="2967608"/>
              <a:ext cx="92200" cy="1597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57571" y="29831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5">
                  <a:moveTo>
                    <a:pt x="137540" y="290068"/>
                  </a:moveTo>
                  <a:lnTo>
                    <a:pt x="114045" y="217550"/>
                  </a:lnTo>
                  <a:lnTo>
                    <a:pt x="329311" y="147827"/>
                  </a:lnTo>
                  <a:lnTo>
                    <a:pt x="282320" y="2921"/>
                  </a:lnTo>
                  <a:lnTo>
                    <a:pt x="67182" y="72517"/>
                  </a:lnTo>
                  <a:lnTo>
                    <a:pt x="43687" y="0"/>
                  </a:lnTo>
                  <a:lnTo>
                    <a:pt x="0" y="174371"/>
                  </a:lnTo>
                  <a:lnTo>
                    <a:pt x="137540" y="2900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6496" y="2962782"/>
              <a:ext cx="101725" cy="16929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1469" rIns="0" bIns="0" rtlCol="0" vert="horz">
            <a:spAutoFit/>
          </a:bodyPr>
          <a:lstStyle/>
          <a:p>
            <a:pPr marL="115760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Applications</a:t>
            </a:r>
            <a:r>
              <a:rPr dirty="0" sz="3600" spc="-155"/>
              <a:t> </a:t>
            </a:r>
            <a:r>
              <a:rPr dirty="0" sz="3600"/>
              <a:t>of</a:t>
            </a:r>
            <a:r>
              <a:rPr dirty="0" sz="3600" spc="-90"/>
              <a:t> </a:t>
            </a:r>
            <a:r>
              <a:rPr dirty="0" sz="3600"/>
              <a:t>Data</a:t>
            </a:r>
            <a:r>
              <a:rPr dirty="0" sz="3600" spc="-120"/>
              <a:t> </a:t>
            </a:r>
            <a:r>
              <a:rPr dirty="0" sz="3600" spc="-10"/>
              <a:t>Mining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59435" y="1361922"/>
            <a:ext cx="8101965" cy="4702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810260" indent="-342900">
              <a:lnSpc>
                <a:spcPct val="120500"/>
              </a:lnSpc>
              <a:spcBef>
                <a:spcPts val="10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Web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page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analysis: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web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page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clustering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to </a:t>
            </a:r>
            <a:r>
              <a:rPr dirty="0" sz="2000">
                <a:latin typeface="Tahoma"/>
                <a:cs typeface="Tahoma"/>
              </a:rPr>
              <a:t>PageRank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&amp;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HITS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algorithms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Collaborative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&amp;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recommender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systems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Basket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targeted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marketing</a:t>
            </a:r>
            <a:endParaRPr sz="2000">
              <a:latin typeface="Tahoma"/>
              <a:cs typeface="Tahoma"/>
            </a:endParaRPr>
          </a:p>
          <a:p>
            <a:pPr algn="just" marL="355600" marR="242570" indent="-342900">
              <a:lnSpc>
                <a:spcPct val="120000"/>
              </a:lnSpc>
              <a:spcBef>
                <a:spcPts val="19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Biological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medical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analysis: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cluster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analysis </a:t>
            </a:r>
            <a:r>
              <a:rPr dirty="0" sz="2000">
                <a:latin typeface="Tahoma"/>
                <a:cs typeface="Tahoma"/>
              </a:rPr>
              <a:t>(microarray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analysis),</a:t>
            </a:r>
            <a:r>
              <a:rPr dirty="0" sz="2000" spc="-25">
                <a:latin typeface="Tahoma"/>
                <a:cs typeface="Tahoma"/>
              </a:rPr>
              <a:t>  </a:t>
            </a:r>
            <a:r>
              <a:rPr dirty="0" sz="2000">
                <a:latin typeface="Tahoma"/>
                <a:cs typeface="Tahoma"/>
              </a:rPr>
              <a:t>biological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sequence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analysis,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biological </a:t>
            </a:r>
            <a:r>
              <a:rPr dirty="0" sz="2000">
                <a:latin typeface="Tahoma"/>
                <a:cs typeface="Tahoma"/>
              </a:rPr>
              <a:t>network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algn="just" marL="355600" marR="314325" indent="-342900">
              <a:lnSpc>
                <a:spcPct val="120000"/>
              </a:lnSpc>
              <a:spcBef>
                <a:spcPts val="5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software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engineering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(e.g.,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IEEE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Computer, </a:t>
            </a:r>
            <a:r>
              <a:rPr dirty="0" sz="2000" spc="-20">
                <a:latin typeface="Tahoma"/>
                <a:cs typeface="Tahoma"/>
              </a:rPr>
              <a:t>Aug. </a:t>
            </a:r>
            <a:r>
              <a:rPr dirty="0" sz="2000">
                <a:latin typeface="Tahoma"/>
                <a:cs typeface="Tahoma"/>
              </a:rPr>
              <a:t>2009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issue)</a:t>
            </a:r>
            <a:endParaRPr sz="2000">
              <a:latin typeface="Tahoma"/>
              <a:cs typeface="Tahoma"/>
            </a:endParaRPr>
          </a:p>
          <a:p>
            <a:pPr marL="355600" marR="5080" indent="-342900">
              <a:lnSpc>
                <a:spcPct val="120100"/>
              </a:lnSpc>
              <a:spcBef>
                <a:spcPts val="49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major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dedicated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systems/tools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(e.g.,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SAS,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SQL-</a:t>
            </a:r>
            <a:r>
              <a:rPr dirty="0" sz="2000">
                <a:latin typeface="Tahoma"/>
                <a:cs typeface="Tahoma"/>
              </a:rPr>
              <a:t>Server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Manager,</a:t>
            </a:r>
            <a:r>
              <a:rPr dirty="0" sz="2000" spc="-1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Oracle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Tools)</a:t>
            </a:r>
            <a:r>
              <a:rPr dirty="0" sz="2000" spc="-10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invisible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 </a:t>
            </a:r>
            <a:r>
              <a:rPr dirty="0" sz="2000" spc="-10">
                <a:latin typeface="Tahoma"/>
                <a:cs typeface="Tahoma"/>
              </a:rPr>
              <a:t>mining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7669" rIns="0" bIns="0" rtlCol="0" vert="horz">
            <a:spAutoFit/>
          </a:bodyPr>
          <a:lstStyle/>
          <a:p>
            <a:pPr marL="148717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Chapter</a:t>
            </a:r>
            <a:r>
              <a:rPr dirty="0" sz="3600" spc="-60"/>
              <a:t> </a:t>
            </a:r>
            <a:r>
              <a:rPr dirty="0" sz="3600"/>
              <a:t>1.</a:t>
            </a:r>
            <a:r>
              <a:rPr dirty="0" sz="3600" spc="15"/>
              <a:t>  </a:t>
            </a:r>
            <a:r>
              <a:rPr dirty="0" sz="3600" spc="-10"/>
              <a:t>Introduction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435" y="1416557"/>
            <a:ext cx="4878070" cy="1893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Why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Mining?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689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What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Mining?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7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What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Kind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Applications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Are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Targeted?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7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 spc="-10">
                <a:latin typeface="Tahoma"/>
                <a:cs typeface="Tahoma"/>
              </a:rPr>
              <a:t>Summary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76208" y="2886582"/>
            <a:ext cx="395605" cy="315595"/>
            <a:chOff x="2176208" y="2886582"/>
            <a:chExt cx="395605" cy="315595"/>
          </a:xfrm>
        </p:grpSpPr>
        <p:sp>
          <p:nvSpPr>
            <p:cNvPr id="5" name="object 5"/>
            <p:cNvSpPr/>
            <p:nvPr/>
          </p:nvSpPr>
          <p:spPr>
            <a:xfrm>
              <a:off x="2180970" y="29069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4">
                  <a:moveTo>
                    <a:pt x="43687" y="0"/>
                  </a:moveTo>
                  <a:lnTo>
                    <a:pt x="0" y="174371"/>
                  </a:lnTo>
                  <a:lnTo>
                    <a:pt x="137541" y="290068"/>
                  </a:lnTo>
                  <a:lnTo>
                    <a:pt x="114046" y="217550"/>
                  </a:lnTo>
                  <a:lnTo>
                    <a:pt x="329311" y="147827"/>
                  </a:lnTo>
                  <a:lnTo>
                    <a:pt x="282321" y="2921"/>
                  </a:lnTo>
                  <a:lnTo>
                    <a:pt x="67183" y="72517"/>
                  </a:lnTo>
                  <a:lnTo>
                    <a:pt x="436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4721" y="2891408"/>
              <a:ext cx="92200" cy="1597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80970" y="2906902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4">
                  <a:moveTo>
                    <a:pt x="137541" y="290068"/>
                  </a:moveTo>
                  <a:lnTo>
                    <a:pt x="114046" y="217550"/>
                  </a:lnTo>
                  <a:lnTo>
                    <a:pt x="329311" y="147827"/>
                  </a:lnTo>
                  <a:lnTo>
                    <a:pt x="282321" y="2921"/>
                  </a:lnTo>
                  <a:lnTo>
                    <a:pt x="67183" y="72517"/>
                  </a:lnTo>
                  <a:lnTo>
                    <a:pt x="43687" y="0"/>
                  </a:lnTo>
                  <a:lnTo>
                    <a:pt x="0" y="174371"/>
                  </a:lnTo>
                  <a:lnTo>
                    <a:pt x="137541" y="29006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895" y="2886582"/>
              <a:ext cx="101725" cy="16929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1695" rIns="0" bIns="0" rtlCol="0" vert="horz">
            <a:spAutoFit/>
          </a:bodyPr>
          <a:lstStyle/>
          <a:p>
            <a:pPr marL="329311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60044" y="1285849"/>
            <a:ext cx="7785734" cy="4813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20600"/>
              </a:lnSpc>
              <a:spcBef>
                <a:spcPts val="9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mining: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Discovering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interesting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patterns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knowledge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from </a:t>
            </a:r>
            <a:r>
              <a:rPr dirty="0" sz="2000">
                <a:latin typeface="Tahoma"/>
                <a:cs typeface="Tahoma"/>
              </a:rPr>
              <a:t>massive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amount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  <a:p>
            <a:pPr marL="355600" marR="36830" indent="-342900">
              <a:lnSpc>
                <a:spcPct val="120000"/>
              </a:lnSpc>
              <a:spcBef>
                <a:spcPts val="19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natural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evolution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database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technology,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great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demand,</a:t>
            </a:r>
            <a:r>
              <a:rPr dirty="0" sz="2000" spc="-114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with </a:t>
            </a:r>
            <a:r>
              <a:rPr dirty="0" sz="2000">
                <a:latin typeface="Tahoma"/>
                <a:cs typeface="Tahoma"/>
              </a:rPr>
              <a:t>wide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applications</a:t>
            </a:r>
            <a:endParaRPr sz="2000">
              <a:latin typeface="Tahoma"/>
              <a:cs typeface="Tahoma"/>
            </a:endParaRPr>
          </a:p>
          <a:p>
            <a:pPr marL="355600" marR="415925" indent="-342900">
              <a:lnSpc>
                <a:spcPct val="120000"/>
              </a:lnSpc>
              <a:spcBef>
                <a:spcPts val="5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5600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KDD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process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includes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cleaning,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integration,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 </a:t>
            </a:r>
            <a:r>
              <a:rPr dirty="0" sz="2000">
                <a:latin typeface="Tahoma"/>
                <a:cs typeface="Tahoma"/>
              </a:rPr>
              <a:t>selection,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transformation,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mining,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evaluation,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and </a:t>
            </a:r>
            <a:r>
              <a:rPr dirty="0" sz="2000">
                <a:latin typeface="Tahoma"/>
                <a:cs typeface="Tahoma"/>
              </a:rPr>
              <a:t>knowledge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presentation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305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performed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variety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data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functionalities: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association,</a:t>
            </a:r>
            <a:r>
              <a:rPr dirty="0" sz="2000" spc="-1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classification,</a:t>
            </a:r>
            <a:r>
              <a:rPr dirty="0" sz="2000" spc="-1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clustering,</a:t>
            </a:r>
            <a:endParaRPr sz="20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09"/>
              </a:spcBef>
            </a:pPr>
            <a:r>
              <a:rPr dirty="0" sz="2000">
                <a:latin typeface="Tahoma"/>
                <a:cs typeface="Tahoma"/>
              </a:rPr>
              <a:t>outlier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trend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analysis,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 spc="-20">
                <a:latin typeface="Tahoma"/>
                <a:cs typeface="Tahoma"/>
              </a:rPr>
              <a:t>etc.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mining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technologies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1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applications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dirty="0" sz="2000">
                <a:latin typeface="Tahoma"/>
                <a:cs typeface="Tahoma"/>
              </a:rPr>
              <a:t>Major</a:t>
            </a:r>
            <a:r>
              <a:rPr dirty="0" sz="2000" spc="-9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issues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mining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Jiawei Han</dc:creator>
  <dc:title>cs412slides</dc:title>
  <dcterms:created xsi:type="dcterms:W3CDTF">2026-07-10T21:27:42Z</dcterms:created>
  <dcterms:modified xsi:type="dcterms:W3CDTF">2026-07-10T21:27:42Z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2025-09-28T00:00:00Z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2010</vt:lpwstr>
  </property>
</Properties>
</file>