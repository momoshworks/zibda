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8" r:id="rId5"/>
    <p:sldId id="269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4066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B405C-F443-220C-9A25-EE3BCAF9E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DC6077-1845-CB21-5F66-C9449786B1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534CD2-DD43-415C-9147-8ADDB7CE7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01536-0543-3D65-9C7C-C45B35D529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21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F285D-25AA-B6EC-A295-F81B9BD10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4D5D8F-6165-C32E-C864-2EE679F329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B93D4D-F947-617A-5525-700242E833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17F9A-77D9-915B-551F-5EA03712DC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48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235440" y="4480560"/>
            <a:ext cx="1097280" cy="640080"/>
          </a:xfrm>
          <a:prstGeom prst="line">
            <a:avLst/>
          </a:prstGeom>
          <a:noFill/>
          <a:ln w="19050">
            <a:solidFill>
              <a:srgbClr val="3C6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32720" y="4480560"/>
            <a:ext cx="1005840" cy="914400"/>
          </a:xfrm>
          <a:prstGeom prst="line">
            <a:avLst/>
          </a:prstGeom>
          <a:noFill/>
          <a:ln w="19050">
            <a:solidFill>
              <a:srgbClr val="3C6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235440" y="5120640"/>
            <a:ext cx="457200" cy="1005840"/>
          </a:xfrm>
          <a:prstGeom prst="line">
            <a:avLst/>
          </a:prstGeom>
          <a:noFill/>
          <a:ln w="19050">
            <a:solidFill>
              <a:srgbClr val="3C6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332720" y="4480560"/>
            <a:ext cx="640080" cy="1828800"/>
          </a:xfrm>
          <a:prstGeom prst="line">
            <a:avLst/>
          </a:prstGeom>
          <a:noFill/>
          <a:ln w="19050">
            <a:solidFill>
              <a:srgbClr val="3C6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92640" y="6126480"/>
            <a:ext cx="1280160" cy="182880"/>
          </a:xfrm>
          <a:prstGeom prst="line">
            <a:avLst/>
          </a:prstGeom>
          <a:noFill/>
          <a:ln w="19050">
            <a:solidFill>
              <a:srgbClr val="3C6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H="1">
            <a:off x="8778240" y="4480560"/>
            <a:ext cx="1554480" cy="9144"/>
          </a:xfrm>
          <a:prstGeom prst="line">
            <a:avLst/>
          </a:prstGeom>
          <a:noFill/>
          <a:ln w="19050">
            <a:solidFill>
              <a:srgbClr val="3C6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H="1" flipV="1">
            <a:off x="8778240" y="4480560"/>
            <a:ext cx="457200" cy="640080"/>
          </a:xfrm>
          <a:prstGeom prst="line">
            <a:avLst/>
          </a:prstGeom>
          <a:noFill/>
          <a:ln w="19050">
            <a:solidFill>
              <a:srgbClr val="3C6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53144" y="5038344"/>
            <a:ext cx="164592" cy="164592"/>
          </a:xfrm>
          <a:prstGeom prst="ellipse">
            <a:avLst/>
          </a:prstGeom>
          <a:solidFill>
            <a:srgbClr val="6FA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250424" y="4398264"/>
            <a:ext cx="164592" cy="164592"/>
          </a:xfrm>
          <a:prstGeom prst="ellipse">
            <a:avLst/>
          </a:prstGeom>
          <a:solidFill>
            <a:srgbClr val="6FA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256264" y="5312664"/>
            <a:ext cx="164592" cy="164592"/>
          </a:xfrm>
          <a:prstGeom prst="ellipse">
            <a:avLst/>
          </a:prstGeom>
          <a:solidFill>
            <a:srgbClr val="6FA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10344" y="6044184"/>
            <a:ext cx="164592" cy="164592"/>
          </a:xfrm>
          <a:prstGeom prst="ellipse">
            <a:avLst/>
          </a:prstGeom>
          <a:solidFill>
            <a:srgbClr val="6FA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890504" y="6227064"/>
            <a:ext cx="164592" cy="164592"/>
          </a:xfrm>
          <a:prstGeom prst="ellipse">
            <a:avLst/>
          </a:prstGeom>
          <a:solidFill>
            <a:srgbClr val="6FA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695944" y="4398264"/>
            <a:ext cx="164592" cy="164592"/>
          </a:xfrm>
          <a:prstGeom prst="ellipse">
            <a:avLst/>
          </a:prstGeom>
          <a:solidFill>
            <a:srgbClr val="6FA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2249424"/>
            <a:ext cx="1113853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Lecture 1  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: 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Introduction TO Operations 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2960" y="34747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7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Foundations, Methodology &amp; Applications of a Science for Better Decisions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10512"/>
            <a:ext cx="402336" cy="402336"/>
          </a:xfrm>
          <a:prstGeom prst="ellipse">
            <a:avLst/>
          </a:prstGeom>
          <a:solidFill>
            <a:srgbClr val="EAF3F7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810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783080"/>
            <a:ext cx="4645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Operations Research?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96312"/>
            <a:ext cx="5074920" cy="0"/>
          </a:xfrm>
          <a:prstGeom prst="line">
            <a:avLst/>
          </a:prstGeom>
          <a:noFill/>
          <a:ln w="12700">
            <a:solidFill>
              <a:srgbClr val="E3E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402336" cy="402336"/>
          </a:xfrm>
          <a:prstGeom prst="ellipse">
            <a:avLst/>
          </a:prstGeom>
          <a:solidFill>
            <a:srgbClr val="EAF3F7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715768"/>
            <a:ext cx="4645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History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5074920" cy="0"/>
          </a:xfrm>
          <a:prstGeom prst="line">
            <a:avLst/>
          </a:prstGeom>
          <a:noFill/>
          <a:ln w="12700">
            <a:solidFill>
              <a:srgbClr val="E3E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3675888"/>
            <a:ext cx="402336" cy="402336"/>
          </a:xfrm>
          <a:prstGeom prst="ellipse">
            <a:avLst/>
          </a:prstGeom>
          <a:solidFill>
            <a:srgbClr val="EAF3F7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6758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648456"/>
            <a:ext cx="4645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Characteristics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361688"/>
            <a:ext cx="5074920" cy="0"/>
          </a:xfrm>
          <a:prstGeom prst="line">
            <a:avLst/>
          </a:prstGeom>
          <a:noFill/>
          <a:ln w="12700">
            <a:solidFill>
              <a:srgbClr val="E3E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4608576"/>
            <a:ext cx="402336" cy="402336"/>
          </a:xfrm>
          <a:prstGeom prst="ellipse">
            <a:avLst/>
          </a:prstGeom>
          <a:solidFill>
            <a:srgbClr val="EAF3F7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6085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581144"/>
            <a:ext cx="4645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 Methodology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09360" y="1810512"/>
            <a:ext cx="402336" cy="402336"/>
          </a:xfrm>
          <a:prstGeom prst="ellipse">
            <a:avLst/>
          </a:prstGeom>
          <a:solidFill>
            <a:srgbClr val="EAF3F7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0" y="1810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0" y="1783080"/>
            <a:ext cx="4645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Model Types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09360" y="2496312"/>
            <a:ext cx="5074920" cy="0"/>
          </a:xfrm>
          <a:prstGeom prst="line">
            <a:avLst/>
          </a:prstGeom>
          <a:noFill/>
          <a:ln w="12700">
            <a:solidFill>
              <a:srgbClr val="E3E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09360" y="2743200"/>
            <a:ext cx="402336" cy="402336"/>
          </a:xfrm>
          <a:prstGeom prst="ellipse">
            <a:avLst/>
          </a:prstGeom>
          <a:solidFill>
            <a:srgbClr val="EAF3F7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09360" y="27432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8000" y="2715768"/>
            <a:ext cx="4645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Spotlight: Linear Programming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09360" y="3429000"/>
            <a:ext cx="5074920" cy="0"/>
          </a:xfrm>
          <a:prstGeom prst="line">
            <a:avLst/>
          </a:prstGeom>
          <a:noFill/>
          <a:ln w="12700">
            <a:solidFill>
              <a:srgbClr val="E3E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309360" y="3675888"/>
            <a:ext cx="402336" cy="402336"/>
          </a:xfrm>
          <a:prstGeom prst="ellipse">
            <a:avLst/>
          </a:prstGeom>
          <a:solidFill>
            <a:srgbClr val="EAF3F7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09360" y="36758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58000" y="3648456"/>
            <a:ext cx="4645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09360" y="4361688"/>
            <a:ext cx="5074920" cy="0"/>
          </a:xfrm>
          <a:prstGeom prst="line">
            <a:avLst/>
          </a:prstGeom>
          <a:noFill/>
          <a:ln w="12700">
            <a:solidFill>
              <a:srgbClr val="E3E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09360" y="4608576"/>
            <a:ext cx="402336" cy="402336"/>
          </a:xfrm>
          <a:prstGeom prst="ellipse">
            <a:avLst/>
          </a:prstGeom>
          <a:solidFill>
            <a:srgbClr val="EAF3F7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09360" y="46085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58000" y="4581144"/>
            <a:ext cx="4645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Limitations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" y="5989320"/>
            <a:ext cx="10881360" cy="0"/>
          </a:xfrm>
          <a:prstGeom prst="line">
            <a:avLst/>
          </a:prstGeom>
          <a:noFill/>
          <a:ln w="12700">
            <a:solidFill>
              <a:srgbClr val="E3E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" y="61447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45 minutes, with time for questions throughout.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Operations Research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Operations Research?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21080"/>
            <a:ext cx="680313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Research (OR) </a:t>
            </a: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discipline of applying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analytical and mathematical methods to help organizations make better decisions</a:t>
            </a: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uses techniques such as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modeling</a:t>
            </a: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optimization to arrive at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or near-optimal solutions </a:t>
            </a: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complex decision-making problems.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787765" y="1389888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787765" y="1389888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761601" y="2350008"/>
            <a:ext cx="18288" cy="777240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787765" y="3127248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787765" y="3127248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761601" y="4087368"/>
            <a:ext cx="18288" cy="777240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787765" y="4864608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87765" y="4864608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Operations Research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09F194D-2063-4101-5742-031C11CD4E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019425"/>
            <a:ext cx="8020685" cy="30636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050F92-0EB0-EBE1-F8C4-D85CBA8DD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CF0DBE4-BEBD-C819-71B8-770EAF4F97E0}"/>
              </a:ext>
            </a:extLst>
          </p:cNvPr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E025FBA-EE6B-5A95-AA1B-47241253D5D9}"/>
              </a:ext>
            </a:extLst>
          </p:cNvPr>
          <p:cNvSpPr/>
          <p:nvPr/>
        </p:nvSpPr>
        <p:spPr>
          <a:xfrm>
            <a:off x="548640" y="28575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Operations Research?</a:t>
            </a:r>
            <a:endParaRPr lang="en-US" sz="3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CE5BB65-309D-6032-4009-51C131930433}"/>
              </a:ext>
            </a:extLst>
          </p:cNvPr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Operations Research</a:t>
            </a:r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323AB8-B847-B1C5-687A-80C4A2894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13" y="842010"/>
            <a:ext cx="11483912" cy="517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348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96846C-203B-568E-F03C-57B277A94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3B9704F-01FD-F1DA-0FB3-578C30BB9E83}"/>
              </a:ext>
            </a:extLst>
          </p:cNvPr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E9C526E-E08B-EC13-1689-9C5888628F19}"/>
              </a:ext>
            </a:extLst>
          </p:cNvPr>
          <p:cNvSpPr/>
          <p:nvPr/>
        </p:nvSpPr>
        <p:spPr>
          <a:xfrm>
            <a:off x="548640" y="28575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Operations Research?</a:t>
            </a:r>
            <a:endParaRPr lang="en-US" sz="3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AD4A462-ACB0-E445-3542-14916952F3B3}"/>
              </a:ext>
            </a:extLst>
          </p:cNvPr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Operations Research</a:t>
            </a:r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0CA9E6-1073-8BF9-575C-7840B2BFE8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017270"/>
            <a:ext cx="6033135" cy="28536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3BF42F-61CF-D362-3650-DF97FC63A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37" y="3870960"/>
            <a:ext cx="6867525" cy="22955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15C1D3-43E8-F4A2-7029-8C501F52CA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1191577"/>
            <a:ext cx="5610225" cy="390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232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Brief History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3246120"/>
            <a:ext cx="10332720" cy="0"/>
          </a:xfrm>
          <a:prstGeom prst="line">
            <a:avLst/>
          </a:prstGeom>
          <a:noFill/>
          <a:ln w="38100">
            <a:solidFill>
              <a:srgbClr val="C9D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3816" y="3145536"/>
            <a:ext cx="201168" cy="20116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9828" y="2926080"/>
            <a:ext cx="9144" cy="320040"/>
          </a:xfrm>
          <a:prstGeom prst="line">
            <a:avLst/>
          </a:prstGeom>
          <a:noFill/>
          <a:ln w="19050">
            <a:solidFill>
              <a:srgbClr val="C9D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" y="1508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Bawdsey Research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" y="21031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scientists study radar-directed air defense at Bawdsey Research Station.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96996" y="3145536"/>
            <a:ext cx="201168" cy="20116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93008" y="3346704"/>
            <a:ext cx="9144" cy="219456"/>
          </a:xfrm>
          <a:prstGeom prst="line">
            <a:avLst/>
          </a:prstGeom>
          <a:noFill/>
          <a:ln w="19050">
            <a:solidFill>
              <a:srgbClr val="C9D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20340" y="3566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1939-45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28900" y="3840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Wartime Teams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28900" y="41605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Allied “operational research” teams optimize convoy routing, radar use, and bombing strategy.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80176" y="3145536"/>
            <a:ext cx="201168" cy="20116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76188" y="2926080"/>
            <a:ext cx="9144" cy="320040"/>
          </a:xfrm>
          <a:prstGeom prst="line">
            <a:avLst/>
          </a:prstGeom>
          <a:noFill/>
          <a:ln w="19050">
            <a:solidFill>
              <a:srgbClr val="C9D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0" y="1508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Simplex Method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21031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 Dantzig develops the simplex algorithm, making linear programming practical.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63356" y="3145536"/>
            <a:ext cx="201168" cy="20116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659368" y="3346704"/>
            <a:ext cx="9144" cy="219456"/>
          </a:xfrm>
          <a:prstGeom prst="line">
            <a:avLst/>
          </a:prstGeom>
          <a:noFill/>
          <a:ln w="19050">
            <a:solidFill>
              <a:srgbClr val="C9D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886700" y="3566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1950s-60s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95260" y="3840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95260" y="41605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spreads to manufacturing, logistics, and business planning worldwide.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1146536" y="3145536"/>
            <a:ext cx="201168" cy="20116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1242548" y="2926080"/>
            <a:ext cx="9144" cy="320040"/>
          </a:xfrm>
          <a:prstGeom prst="line">
            <a:avLst/>
          </a:prstGeom>
          <a:noFill/>
          <a:ln w="19050">
            <a:solidFill>
              <a:srgbClr val="C9D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469880" y="1508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378440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AI Era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378440" y="21031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merges with big data, machine learning, and computing power for large-scale optimization.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Operations Research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OR IS APPLIED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1762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2468880"/>
            <a:ext cx="1472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36576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objectives, decision variables, and constraints.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40280" y="2779776"/>
            <a:ext cx="188366" cy="18288"/>
          </a:xfrm>
          <a:prstGeom prst="line">
            <a:avLst/>
          </a:prstGeom>
          <a:noFill/>
          <a:ln w="25400">
            <a:solidFill>
              <a:srgbClr val="9FB4C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28646" y="210312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20086" y="21762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38374" y="2468880"/>
            <a:ext cx="1472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382926" y="36576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the problem into a mathematical model.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20286" y="2779776"/>
            <a:ext cx="188366" cy="18288"/>
          </a:xfrm>
          <a:prstGeom prst="line">
            <a:avLst/>
          </a:prstGeom>
          <a:noFill/>
          <a:ln w="25400">
            <a:solidFill>
              <a:srgbClr val="9FB4C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08653" y="210312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00093" y="21762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18381" y="2468880"/>
            <a:ext cx="1472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262933" y="36576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accurate, relevant input data.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00293" y="2779776"/>
            <a:ext cx="188366" cy="18288"/>
          </a:xfrm>
          <a:prstGeom prst="line">
            <a:avLst/>
          </a:prstGeom>
          <a:noFill/>
          <a:ln w="25400">
            <a:solidFill>
              <a:srgbClr val="9FB4C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88659" y="210312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80099" y="21762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98387" y="2468880"/>
            <a:ext cx="1472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Solving the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142939" y="36576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algorithms to compute a solution.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880299" y="2779776"/>
            <a:ext cx="188366" cy="18288"/>
          </a:xfrm>
          <a:prstGeom prst="line">
            <a:avLst/>
          </a:prstGeom>
          <a:noFill/>
          <a:ln w="25400">
            <a:solidFill>
              <a:srgbClr val="9FB4C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068666" y="210312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160106" y="21762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78394" y="2468880"/>
            <a:ext cx="1472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022946" y="36576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solution against reality before acting on it.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760306" y="2779776"/>
            <a:ext cx="188366" cy="18288"/>
          </a:xfrm>
          <a:prstGeom prst="line">
            <a:avLst/>
          </a:prstGeom>
          <a:noFill/>
          <a:ln w="25400">
            <a:solidFill>
              <a:srgbClr val="9FB4C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948672" y="210312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040112" y="21762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0" y="2468880"/>
            <a:ext cx="1472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Control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902952" y="36576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solution and monitor performance over time.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Operations Research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TOOLBOX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OR Model Types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FB4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" y="1837944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716" y="1975836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19656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Programming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77824" y="2514600"/>
            <a:ext cx="3044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a linear objective subject to linear constraints.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6552" y="160020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FB4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54296" y="1837944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2188" y="1975836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30952" y="1819656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Integer Programming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54296" y="2514600"/>
            <a:ext cx="3044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LP, but some or all variables must be whole numbers.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93024" y="160020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FB4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30768" y="1837944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8660" y="1975836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07424" y="1819656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Models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30768" y="2514600"/>
            <a:ext cx="3044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Transportation, assignment, and shortest-path problems.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913632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FB4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77824" y="4151376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716" y="4289268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1330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Queuing Theory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77824" y="4828032"/>
            <a:ext cx="3044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waiting lines to balance service level and cost.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16552" y="3913632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FB4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654296" y="4151376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2188" y="4289268"/>
            <a:ext cx="254569" cy="25456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30952" y="41330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Models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54296" y="4828032"/>
            <a:ext cx="3044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how much stock to order, and when, to minimize cost.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93024" y="3913632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FB4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430768" y="4151376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8660" y="4289268"/>
            <a:ext cx="254569" cy="25456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07424" y="41330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&amp; Game Theory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30768" y="4828032"/>
            <a:ext cx="3044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uncertainty and strategic, multi-party decisions.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Operations Research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Spotlight: Linear Programming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Formulation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Maximize   Z = c₁x₁ + c₂x₂ + … + cₙxₙ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 to: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aᵢ₁x₁ + aᵢ₂x₂ + … + aᵢₙxₙ  ≤  bᵢ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x₁, x₂, …, xₙ  ≥  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decision must choose quantities that maximize profit or minimize cost while respecting limits on resources such as time, budget, or materials, linear programming finds the best feasible combination.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V="1">
            <a:off x="6720840" y="1828800"/>
            <a:ext cx="0" cy="393192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20840" y="5760720"/>
            <a:ext cx="4846320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783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75720" y="5806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20840" y="2468880"/>
            <a:ext cx="3566160" cy="3291840"/>
          </a:xfrm>
          <a:custGeom>
            <a:avLst/>
            <a:gdLst/>
            <a:ahLst/>
            <a:cxnLst/>
            <a:rect l="l" t="t" r="r" b="b"/>
            <a:pathLst>
              <a:path w="3566160" h="3291840">
                <a:moveTo>
                  <a:pt x="0" y="3291840"/>
                </a:moveTo>
                <a:lnTo>
                  <a:pt x="0" y="914400"/>
                </a:lnTo>
                <a:lnTo>
                  <a:pt x="1645920" y="0"/>
                </a:lnTo>
                <a:lnTo>
                  <a:pt x="3566160" y="822960"/>
                </a:lnTo>
                <a:lnTo>
                  <a:pt x="2743200" y="3291840"/>
                </a:lnTo>
              </a:path>
            </a:pathLst>
          </a:custGeom>
          <a:solidFill>
            <a:srgbClr val="1C7293">
              <a:alpha val="75000"/>
            </a:srgbClr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60920" y="4526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2752" y="2404872"/>
            <a:ext cx="128016" cy="128016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03920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solution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(corner point)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Operations Research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FB4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18562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13" y="200363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56032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2898648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scheduling, line balancing, quality control.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6552" y="160020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FB4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72584" y="185623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985" y="200363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2584" y="256032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Transportation &amp; Logistics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72584" y="2898648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routing, supply chain, warehouse location.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93024" y="160020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FB4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49056" y="18562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6457" y="200363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56032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49056" y="2898648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scheduling, bed allocation, ambulance dispatch.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913632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FB4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96112" y="416966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513" y="4317065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" y="4873752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&amp; Banking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96112" y="5212080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optimization, risk analysis, credit scoring.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16552" y="3913632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FB4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672584" y="416966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9985" y="4317065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72584" y="4873752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Military &amp; Defense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72584" y="5212080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planning, resource deployment, strategy.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93024" y="3913632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FB4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449056" y="416966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6457" y="4317065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49056" y="4873752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Telecommunications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49056" y="5212080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design, capacity planning, routing.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Operations Research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BALANCED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&amp;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EA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304288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2212848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more objective, data-driven decisions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2962656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4440" y="2871216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the true cost and trade-offs of each option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3621024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34440" y="3529584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efficiency and resource utilization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4279392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4440" y="4187952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framework for handling complex, large-scale problems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" y="4937760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34440" y="4846320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“what-if” analysis before committing resources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15544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4652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46520" y="2304288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66560" y="2212848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are simplifications — real systems may not fit assumptions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46520" y="2962656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66560" y="2871216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accurate, often hard-to-obtain data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46520" y="3621024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66560" y="3529584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computationally expensive for very large problems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46520" y="427939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66560" y="4187952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still depend on sound managerial judgment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46520" y="493776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66560" y="4846320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Non-quantifiable factors (politics, morale) are hard to model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Operations Research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83717" y="840867"/>
            <a:ext cx="1093851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1 : Investigating a Real-World Application of Operations Research</a:t>
            </a:r>
            <a:endParaRPr lang="en-US" sz="28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Operations Research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7573ED-8AB6-9F72-5CE0-EF16789C5B73}"/>
              </a:ext>
            </a:extLst>
          </p:cNvPr>
          <p:cNvSpPr txBox="1"/>
          <p:nvPr/>
        </p:nvSpPr>
        <p:spPr>
          <a:xfrm>
            <a:off x="52387" y="2478786"/>
            <a:ext cx="12015788" cy="2195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one real-world application of Operations Research and prepare a report explaining the problem, the OR techniques used to solve it, and the benefits of applying OR in that field.</a:t>
            </a:r>
          </a:p>
          <a:p>
            <a:pPr algn="just">
              <a:lnSpc>
                <a:spcPct val="20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(Word File)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2011680" y="822960"/>
            <a:ext cx="1097280" cy="365760"/>
          </a:xfrm>
          <a:prstGeom prst="line">
            <a:avLst/>
          </a:prstGeom>
          <a:noFill/>
          <a:ln w="19050">
            <a:solidFill>
              <a:srgbClr val="3C6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flipH="1" flipV="1">
            <a:off x="1280160" y="548640"/>
            <a:ext cx="731520" cy="640080"/>
          </a:xfrm>
          <a:prstGeom prst="line">
            <a:avLst/>
          </a:prstGeom>
          <a:noFill/>
          <a:ln w="19050">
            <a:solidFill>
              <a:srgbClr val="3C6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011680" y="1188720"/>
            <a:ext cx="731520" cy="548640"/>
          </a:xfrm>
          <a:prstGeom prst="line">
            <a:avLst/>
          </a:prstGeom>
          <a:noFill/>
          <a:ln w="19050">
            <a:solidFill>
              <a:srgbClr val="3C6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flipH="1">
            <a:off x="1463040" y="1188720"/>
            <a:ext cx="548640" cy="548640"/>
          </a:xfrm>
          <a:prstGeom prst="line">
            <a:avLst/>
          </a:prstGeom>
          <a:noFill/>
          <a:ln w="19050">
            <a:solidFill>
              <a:srgbClr val="3C6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80160" y="548640"/>
            <a:ext cx="182880" cy="1188720"/>
          </a:xfrm>
          <a:prstGeom prst="line">
            <a:avLst/>
          </a:prstGeom>
          <a:noFill/>
          <a:ln w="19050">
            <a:solidFill>
              <a:srgbClr val="3C6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929384" y="1106424"/>
            <a:ext cx="164592" cy="164592"/>
          </a:xfrm>
          <a:prstGeom prst="ellipse">
            <a:avLst/>
          </a:prstGeom>
          <a:solidFill>
            <a:srgbClr val="6FA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026664" y="740664"/>
            <a:ext cx="164592" cy="164592"/>
          </a:xfrm>
          <a:prstGeom prst="ellipse">
            <a:avLst/>
          </a:prstGeom>
          <a:solidFill>
            <a:srgbClr val="6FA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97864" y="466344"/>
            <a:ext cx="164592" cy="164592"/>
          </a:xfrm>
          <a:prstGeom prst="ellipse">
            <a:avLst/>
          </a:prstGeom>
          <a:solidFill>
            <a:srgbClr val="6FA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60904" y="1655064"/>
            <a:ext cx="164592" cy="164592"/>
          </a:xfrm>
          <a:prstGeom prst="ellipse">
            <a:avLst/>
          </a:prstGeom>
          <a:solidFill>
            <a:srgbClr val="6FA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80744" y="1655064"/>
            <a:ext cx="164592" cy="164592"/>
          </a:xfrm>
          <a:prstGeom prst="ellipse">
            <a:avLst/>
          </a:prstGeom>
          <a:solidFill>
            <a:srgbClr val="6FA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26517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822960" y="3520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7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lecture: Formulating Linear Programming Models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778</Words>
  <Application>Microsoft Office PowerPoint</Application>
  <PresentationFormat>Widescreen</PresentationFormat>
  <Paragraphs>174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wesam ahmed</cp:lastModifiedBy>
  <cp:revision>17</cp:revision>
  <dcterms:created xsi:type="dcterms:W3CDTF">2026-09-18T08:48:50Z</dcterms:created>
  <dcterms:modified xsi:type="dcterms:W3CDTF">2026-09-21T07:27:12Z</dcterms:modified>
</cp:coreProperties>
</file>